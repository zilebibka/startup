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08688-6DF7-4B99-9F62-6C8B100F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39F8BCC-A44A-461E-94A3-0258FE09F1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16163B-5062-47EB-B8F4-BD28FB45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8C4797-DDF1-4F78-9C73-629D6F2C8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CB2E0E-EFD1-4348-A990-AAC250B9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06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69732E-575A-444C-B2EE-8B8D1E63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4B370-857C-4342-8944-F2B72EFF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E49593-2ACC-49D4-A0FD-B0D2DF5B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F29434-615B-4182-AC61-1CCD142B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B5F763-29CC-4CE8-B17D-45376DC02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499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7A535-9D57-433A-B474-35E5E954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4EF47-EFB8-414A-8EEE-85C2A72D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DF3F48-ADC3-43A9-9C48-7693D608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63831D-69EE-4243-B324-EFB13780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623350-25D4-4297-84C9-6136F476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91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CF115-ECC6-4D02-B082-6F50B0F3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6935A5-90CE-497F-81B9-F257C1525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570E73-C4F6-481B-B553-2ACE491CA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D8EEED-47F7-4D5B-90DE-FE4C5AA9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9F7C14-CD99-4B82-AF91-33D7608B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6029E-2EFC-4BD4-934A-0820D700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1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8139B-22AB-43B5-BCA6-D7D3EC1C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BB714D-DCDC-40B9-86EC-B2EF5C80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DD53D1-14DE-4325-B5B5-6F5C99ED1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AFE1E4-EF0F-42ED-9BC1-6CB5124E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1E0C60-C69B-45DA-BEE9-C03D9F861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356A0A-724E-4165-8E9A-073CCBA4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996C17-F105-45A6-BC60-A37F3DFD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E3AF09-724C-44E6-AA37-967CC346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399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AE929-6EB8-4E04-BF0F-7D1EA702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3AD575-A389-49C1-8077-91B25D9E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D25C94-B350-49DD-84AD-D4D82229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F26575D-7E40-484B-B406-6E28369D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05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CC19317-94B0-461A-AD79-1909475D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3699DEA-20AA-4248-B3F0-94E6E098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153E75-C9CC-4AC5-A07F-05807FCD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26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E62AF-E685-4692-AE4F-AA7D206BE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63D23C-E4E2-446A-B2D8-575A5D42A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C1E1F7-B2A8-4F18-92B5-0B21D9A18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6A8337-2457-4AA9-B41B-D5AE48B1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0241E1-0941-4681-B1B9-6301504B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97D24F-ED06-46F1-9AC5-254B7485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32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3BDBB-F8F9-45F9-B894-95EAF9817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A58E1C-25C8-4597-AA63-9052BB685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238290-DD47-4004-AD3F-2360749D9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BD09AA-D4F6-44B3-AEDA-F4E00F0D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7C4FEE-B6A6-4AA7-8A7A-67D68FADD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86C7FE-DC5C-4CD8-A1F5-95572ACE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02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ACB99-4794-43E7-B009-40AF485A5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135947-70AA-4631-A9DC-A60ABE02B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5F5A7C-6C0D-4B4E-A9FE-E2C954BF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62BB60-32B9-429A-810F-FCCC2EC72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278B7D-2472-4FD5-BEC0-0439E5EF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406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4C0723E-3C68-435D-BE7F-E8B0F995F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68AE20-BE82-4485-B3AA-D3A45C43A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B891CC-E407-48D3-A82A-BD922A40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34B082-FCFC-4AB8-B752-6C85C139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48C245-D898-4E0F-BC4A-8AB5EE45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84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BDEDF-5714-44C0-9786-05527203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3820F-A747-4E73-96D4-1C272A24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00DC7E-1837-47A8-A793-2BFD697CF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1AD8E-3228-4EC9-B5BE-E8CDB528A922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B822E-D04C-4B3C-872D-260C1B099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5508A5-18D4-4517-9B8C-E1FF47B2E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5B0B1-73EE-4CA4-8430-FC2CFCA801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83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47C96-DE1E-4960-B78F-539FE1810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Мертвый код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AF4D59-A2E5-40B2-982C-F54DA13186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Неделя - 2.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Практическая работа: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Конструирование продукта. Анализ ситуации рынка. Формирование гипотезы бизнес-модели для проработки на протяжении программы.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681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842642-4342-42D8-AB20-FC791BB1F1C1}"/>
              </a:ext>
            </a:extLst>
          </p:cNvPr>
          <p:cNvSpPr txBox="1"/>
          <p:nvPr/>
        </p:nvSpPr>
        <p:spPr>
          <a:xfrm>
            <a:off x="690282" y="430306"/>
            <a:ext cx="10811436" cy="622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Идея продукта: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Веб-платформа для купли-продажи недоделанных или заброшенных IT-проектов с автоматизированным AI-аудитом кода и оценкой потенциала.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Проблема: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Разработчики тратят ресурсы на проекты, которые забрасывают, теряя время и деньги, в то время как другие ищут базы для старта, но боятся покупать «кота в мешке».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Сценарий: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разработчика пропадает интерес или финансирование на середине разработки (MVP готов на 60%), код ложится «в стол», не принося никакой ценности.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52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D8BAF0-131D-415B-9BD2-11C5DD282D28}"/>
              </a:ext>
            </a:extLst>
          </p:cNvPr>
          <p:cNvSpPr txBox="1"/>
          <p:nvPr/>
        </p:nvSpPr>
        <p:spPr>
          <a:xfrm>
            <a:off x="286871" y="242047"/>
            <a:ext cx="11465858" cy="6358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Оси сегментации: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Уровень готовности проекта (MVP / Прототип / Почти релиз).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Тип продавца (Инди-разработчик / Студия / Стартап).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Сегменты: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«Разочарованные инди-хакеры» (Продавцы)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Кто: Одиночки, пишущие пет-проекты по вечерам.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Проблема: Выгорание, переключение интереса. Часто (каждые 3-6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Решение: Забрасывают репозиторий.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Ограничени</a:t>
            </a:r>
            <a:r>
              <a:rPr lang="ru-RU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Хотят «хоть что-то» вернуть, но не готовы тратить время на предпродажную подготовку.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Каналы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Twitter, Reddit,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IndieHackers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Product Hunt.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«Охотники за быстрым стартом» (Покупатели)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Кто: Предприниматели, желающие сэкономить на разработке MVP.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Проблема: Разработка с нуля долго и дорого.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Решение: Ищут шаблоны на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Canyon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ThemeForest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или нанимают фрилансеров.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Ограничения: Боятся плохого кода (спагетти-код), который невозможно поддерживать.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Каналы: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Telegram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-чаты стартапов, биржи фриланса.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46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0F5D0-B5D1-4BDF-9561-7DEC34415C3D}"/>
              </a:ext>
            </a:extLst>
          </p:cNvPr>
          <p:cNvSpPr txBox="1"/>
          <p:nvPr/>
        </p:nvSpPr>
        <p:spPr>
          <a:xfrm>
            <a:off x="376518" y="430306"/>
            <a:ext cx="11465858" cy="5555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«Студии-утилизаторы» (Продавцы)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Кто: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Аутсорс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-студии.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Проблема: Клиент не выкупил проект или проект остановлен.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Решение: Списание в убытки.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Ограничения: Юридические вопросы прав на код.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Каналы: Профессиональные сообщества,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LinkedIn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«Коллекционеры </a:t>
            </a:r>
            <a:r>
              <a:rPr lang="ru-RU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ассетов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 Реселлеры» (Покупатели)</a:t>
            </a:r>
            <a:endParaRPr lang="ru-RU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Кто: Разработчики, скупающие дешевые проекты для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рескина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 перепродажи.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Проблема: Поиск качественной основы.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Решение: Мониторинг форумов.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Ограничения: Бюджет на покупку низкий, ищут недооцененные активы.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Каналы: Форумы веб-мастеров.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7385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AE557E2-A141-4306-994D-441A9A963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998801"/>
              </p:ext>
            </p:extLst>
          </p:nvPr>
        </p:nvGraphicFramePr>
        <p:xfrm>
          <a:off x="1577788" y="1810872"/>
          <a:ext cx="9027459" cy="43927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3243">
                  <a:extLst>
                    <a:ext uri="{9D8B030D-6E8A-4147-A177-3AD203B41FA5}">
                      <a16:colId xmlns:a16="http://schemas.microsoft.com/office/drawing/2014/main" val="2637729789"/>
                    </a:ext>
                  </a:extLst>
                </a:gridCol>
                <a:gridCol w="4514216">
                  <a:extLst>
                    <a:ext uri="{9D8B030D-6E8A-4147-A177-3AD203B41FA5}">
                      <a16:colId xmlns:a16="http://schemas.microsoft.com/office/drawing/2014/main" val="3502728717"/>
                    </a:ext>
                  </a:extLst>
                </a:gridCol>
              </a:tblGrid>
              <a:tr h="657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Сегменты (Слева)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Решения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Игроки (Справа)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6226562"/>
                  </a:ext>
                </a:extLst>
              </a:tr>
              <a:tr h="6824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Продажа готового бизнеса (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SaaS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Flippa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Empire Flippers,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MicroAcquire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Дорого и требуют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ревью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2257376"/>
                  </a:ext>
                </a:extLst>
              </a:tr>
              <a:tr h="6824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Продажа шабланов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скриптов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CodeCanyon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ThemeForest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(Нет уникальности, массовый продукт)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3805377"/>
                  </a:ext>
                </a:extLst>
              </a:tr>
              <a:tr h="6824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Найм разработчиков (с нуля)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Upwork, Freelancer,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Toptal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Дорого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долго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48907618"/>
                  </a:ext>
                </a:extLst>
              </a:tr>
              <a:tr h="10313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Source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(бесплатно)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GitLab </a:t>
                      </a: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(Нужно дорабатывать, нет бизнес логики под ключ, лицензии)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0894067"/>
                  </a:ext>
                </a:extLst>
              </a:tr>
              <a:tr h="657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Покупка мертвого кода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Единичные сделки на форумах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88438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6F6631-DAB7-4AA1-A473-9C2A48E4E9BE}"/>
              </a:ext>
            </a:extLst>
          </p:cNvPr>
          <p:cNvSpPr txBox="1"/>
          <p:nvPr/>
        </p:nvSpPr>
        <p:spPr>
          <a:xfrm>
            <a:off x="2949389" y="842683"/>
            <a:ext cx="9242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Карта рынка (Market </a:t>
            </a:r>
            <a:r>
              <a:rPr lang="ru-RU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Map</a:t>
            </a:r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03818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93FB5B5-92D4-42B7-9BBF-2082D94C5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350262"/>
              </p:ext>
            </p:extLst>
          </p:nvPr>
        </p:nvGraphicFramePr>
        <p:xfrm>
          <a:off x="923365" y="1909483"/>
          <a:ext cx="10632140" cy="46967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9985">
                  <a:extLst>
                    <a:ext uri="{9D8B030D-6E8A-4147-A177-3AD203B41FA5}">
                      <a16:colId xmlns:a16="http://schemas.microsoft.com/office/drawing/2014/main" val="3093878477"/>
                    </a:ext>
                  </a:extLst>
                </a:gridCol>
                <a:gridCol w="1559110">
                  <a:extLst>
                    <a:ext uri="{9D8B030D-6E8A-4147-A177-3AD203B41FA5}">
                      <a16:colId xmlns:a16="http://schemas.microsoft.com/office/drawing/2014/main" val="859748765"/>
                    </a:ext>
                  </a:extLst>
                </a:gridCol>
                <a:gridCol w="1635806">
                  <a:extLst>
                    <a:ext uri="{9D8B030D-6E8A-4147-A177-3AD203B41FA5}">
                      <a16:colId xmlns:a16="http://schemas.microsoft.com/office/drawing/2014/main" val="508053722"/>
                    </a:ext>
                  </a:extLst>
                </a:gridCol>
                <a:gridCol w="1731677">
                  <a:extLst>
                    <a:ext uri="{9D8B030D-6E8A-4147-A177-3AD203B41FA5}">
                      <a16:colId xmlns:a16="http://schemas.microsoft.com/office/drawing/2014/main" val="2981057510"/>
                    </a:ext>
                  </a:extLst>
                </a:gridCol>
                <a:gridCol w="1845525">
                  <a:extLst>
                    <a:ext uri="{9D8B030D-6E8A-4147-A177-3AD203B41FA5}">
                      <a16:colId xmlns:a16="http://schemas.microsoft.com/office/drawing/2014/main" val="2799550109"/>
                    </a:ext>
                  </a:extLst>
                </a:gridCol>
                <a:gridCol w="2060037">
                  <a:extLst>
                    <a:ext uri="{9D8B030D-6E8A-4147-A177-3AD203B41FA5}">
                      <a16:colId xmlns:a16="http://schemas.microsoft.com/office/drawing/2014/main" val="1995574926"/>
                    </a:ext>
                  </a:extLst>
                </a:gridCol>
              </a:tblGrid>
              <a:tr h="2123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кого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Ценность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Сильные стороны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Слабые стороны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2233654127"/>
                  </a:ext>
                </a:extLst>
              </a:tr>
              <a:tr h="10585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Flippa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Косвенный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Инвесторы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Купи работающий бизнес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Огромная база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траст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Продают только работающие сайты/бизнесы, много мошенников, нет аудита кода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4061394972"/>
                  </a:ext>
                </a:extLst>
              </a:tr>
              <a:tr h="8224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MicroAcquire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Косвенный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Стартаперы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Купи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SaaS 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 бюрократии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Качественная аудитория, фокус на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SaaS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 чек,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Входной порог (часто нужен 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MRR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2006822788"/>
                  </a:ext>
                </a:extLst>
              </a:tr>
              <a:tr h="7395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CodeCanyon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Замена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Веб-мастера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Купи скрипт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Дешево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проверено модераторами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Массовый код, не уникален, сложно масштабировать в продукт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497485990"/>
                  </a:ext>
                </a:extLst>
              </a:tr>
              <a:tr h="7395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Замена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Найди код бесплатно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Бесплатно</a:t>
                      </a:r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все технологии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Нужно разбираться самому, нет бизнес логики, лицензионные риски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2265120983"/>
                  </a:ext>
                </a:extLst>
              </a:tr>
              <a:tr h="7395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Биржи фриланса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Замена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Заказчики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Сделай под себя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Уникально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долго и очень дорого, риск некомпетентности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7018" marR="37018" marT="0" marB="0"/>
                </a:tc>
                <a:extLst>
                  <a:ext uri="{0D108BD9-81ED-4DB2-BD59-A6C34878D82A}">
                    <a16:rowId xmlns:a16="http://schemas.microsoft.com/office/drawing/2014/main" val="160397594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4C08697-F865-4F67-9872-CEF2A813CA17}"/>
              </a:ext>
            </a:extLst>
          </p:cNvPr>
          <p:cNvSpPr txBox="1"/>
          <p:nvPr/>
        </p:nvSpPr>
        <p:spPr>
          <a:xfrm>
            <a:off x="2882152" y="753036"/>
            <a:ext cx="6714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конкурентов и замен</a:t>
            </a:r>
            <a:endParaRPr lang="ru-RU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070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6C7CC4-0497-4489-8C38-CCC28411CFB5}"/>
              </a:ext>
            </a:extLst>
          </p:cNvPr>
          <p:cNvSpPr txBox="1"/>
          <p:nvPr/>
        </p:nvSpPr>
        <p:spPr>
          <a:xfrm>
            <a:off x="421341" y="437154"/>
            <a:ext cx="6096000" cy="2756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Драйверы: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Рост рынка No-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Low-code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Люди ищут готовые блоки, чтобы собрать продукт быстрее.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AI-бум: Возможность дешево и быстро анализировать код (раньше аудит стоил тысячи долларов, теперь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копейки через LLM).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Кризис стартапов: Много проектов закрывается, нужно возвращать инвестиции.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5DA56-2B3C-4440-B2F1-FC4D6C96AD21}"/>
              </a:ext>
            </a:extLst>
          </p:cNvPr>
          <p:cNvSpPr txBox="1"/>
          <p:nvPr/>
        </p:nvSpPr>
        <p:spPr>
          <a:xfrm>
            <a:off x="5423647" y="3588513"/>
            <a:ext cx="6096000" cy="2460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Барьеры: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Intellectual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Property (IP): Сложно проверить, не украден ли код продавцом из основной работы.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Актуальность стека: «Мёртвый» код быстро устаревает (зависимости, версии библиотек).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Скрытые баги: AI может не найти логические ошибки бизнес-логики.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114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6F58F-1BDA-41F0-BAA5-182007A50B7C}"/>
              </a:ext>
            </a:extLst>
          </p:cNvPr>
          <p:cNvSpPr txBox="1"/>
          <p:nvPr/>
        </p:nvSpPr>
        <p:spPr>
          <a:xfrm>
            <a:off x="439271" y="564777"/>
            <a:ext cx="8704729" cy="5507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предпринимателей и разработчиков</a:t>
            </a:r>
            <a:endParaRPr lang="ru-RU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ситуации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когда нужно запустить MVP сложного сервиса с ограниченным бюджетом,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мы обеспечиваем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доступ к базе проверенных недоделанных проектов с чистой юридической историей,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улучшая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скорость запуска на 3-4 месяца и снижая стоимость разработки в 5-10 раз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сравнению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 наймом команды с нуля или покупкой дорогого готового бизнеса на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Flippa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Основания :</a:t>
            </a:r>
            <a:endParaRPr lang="ru-RU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AI-аудит показывает реальное состояние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техдолга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до покупки.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Escrow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-счет (деньги замораживаются до проверки репозитория покупателем).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2763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52A1B8-8AE7-4349-8771-02CA6DF3B797}"/>
              </a:ext>
            </a:extLst>
          </p:cNvPr>
          <p:cNvSpPr txBox="1"/>
          <p:nvPr/>
        </p:nvSpPr>
        <p:spPr>
          <a:xfrm>
            <a:off x="170329" y="149138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Model Canvas (BMC)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BA613-B9B2-4263-84A3-50F79A50CD92}"/>
              </a:ext>
            </a:extLst>
          </p:cNvPr>
          <p:cNvSpPr txBox="1"/>
          <p:nvPr/>
        </p:nvSpPr>
        <p:spPr>
          <a:xfrm>
            <a:off x="170329" y="658231"/>
            <a:ext cx="6096000" cy="5458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Сегменты клиентов: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Продавцы: Инди-хакеры, студенты, закрывающиеся стартапы.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Покупатели: Веб-студии, серийные предприниматели.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Ценностное предложение: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Продавец: Монетизация неудачи («Верни хоть $50 за потраченное время»).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Покупатель: Быстрый старт, прозрачность качества кода (AI-отчет).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Каналы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Product Hunt, Hacker News.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SEO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 запросам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«sell side project», «buy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saas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codebase».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Partnership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GitHub/GitLab (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идеале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Отношения с клиентами: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Автоматизированная платформа (Self-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Арбитраж споров (поддержка).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65EAC-84FD-4F02-8EAB-56518799854A}"/>
              </a:ext>
            </a:extLst>
          </p:cNvPr>
          <p:cNvSpPr txBox="1"/>
          <p:nvPr/>
        </p:nvSpPr>
        <p:spPr>
          <a:xfrm>
            <a:off x="6096000" y="523215"/>
            <a:ext cx="6096000" cy="6463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 Потоки выручки: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Комиссия со сделки (10-15%).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Платная разблокировка полного AI-отчета для покупателя.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Платное продвижение листинга для продавца.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 Ключевые ресурсы: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Платформа (маркетплейс).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Алгоритм AI-оценки (интеграция с GPT/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Claude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API + статический анализ).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База пользователей.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 Ключевые активности: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Привлечение трафика (продавцов кода).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Доработка алгоритмов оценки.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Юридическая поддержка сделок.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 Ключевые партнёры: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Платежные системы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Stripe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Connect для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эскроу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AI-провайдеры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OpenAI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Anthropic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 Структура издержек:</a:t>
            </a:r>
            <a:endParaRPr lang="ru-RU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Разработка и хостинг.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53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C0CA64-CD05-4FFF-87E0-8DE770C75D96}"/>
              </a:ext>
            </a:extLst>
          </p:cNvPr>
          <p:cNvSpPr txBox="1"/>
          <p:nvPr/>
        </p:nvSpPr>
        <p:spPr>
          <a:xfrm>
            <a:off x="3971365" y="0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Формализация гипотез бизнес-модели</a:t>
            </a:r>
            <a:endParaRPr lang="ru-RU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AFE9C-61C6-48E1-BE09-B90C437EC1CC}"/>
              </a:ext>
            </a:extLst>
          </p:cNvPr>
          <p:cNvSpPr txBox="1"/>
          <p:nvPr/>
        </p:nvSpPr>
        <p:spPr>
          <a:xfrm>
            <a:off x="1021976" y="705754"/>
            <a:ext cx="10148047" cy="5446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 Сегмент: Разработчики готовы продавать свои заброшенные проекты за небольшие суммы ($10-$1000), а не удалять их.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 Ценность: Покупатели доверяют автоматическому AI-аудиту кода больше, чем словам продавца.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 Ценность: Покупателям важно купить именно код с документацией, а не работающий бизнес с клиентами (им нужна технология).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Выручка: Средний чек </a:t>
            </a:r>
            <a:r>
              <a:rPr lang="ru-RU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делки составит $500, комиссия $75 покроет расходы на привлечение.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 Барьеры: Главное возражение покупателя — «код устарел и не запустится»; снимается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docker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-контейнеризацией при продаже.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 Каналы: Пост на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Hacker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News принесет первые лоты.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 Ресурсы: AI сможет адекватно оценить стоимость проекта (Price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estimation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без участия человека.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 Риски: Продавцы не будут выкладывать код из-за страха кражи до оплаты (решается закрытым репозиторием и демо-видео).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 Юридические: Типового договора передачи прав на IP будет достаточно для 90% сделок.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Рынок: Существует достаточное количество проектов уровня "Middle", а не только "Junior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World".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23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128E30-8191-4DAA-9D37-300FF7EC8C26}"/>
              </a:ext>
            </a:extLst>
          </p:cNvPr>
          <p:cNvSpPr txBox="1"/>
          <p:nvPr/>
        </p:nvSpPr>
        <p:spPr>
          <a:xfrm>
            <a:off x="62753" y="345255"/>
            <a:ext cx="6096000" cy="315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Гипотеза 1: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Покупатели готовы платить за неработающий или недоделанный код (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без выручки).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Риск: Если покупают только готовый бизнес, модель рушится (мы становимся клоном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Flippa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Проверка: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Лендинг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с фейковыми лотами ("Купи код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Uber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-X, готовность 80%, цена $300"). Кнопка "Связаться с продавцом".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Данные: Конверсия в нажатие кнопки.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Критерий: &gt;3% конверсии в интерес.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94FFE-8AD6-4AE9-B10C-B6F19D3A484E}"/>
              </a:ext>
            </a:extLst>
          </p:cNvPr>
          <p:cNvSpPr txBox="1"/>
          <p:nvPr/>
        </p:nvSpPr>
        <p:spPr>
          <a:xfrm>
            <a:off x="6096000" y="345254"/>
            <a:ext cx="6096000" cy="315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Гипотеза 2: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AI-оценка качества кода и стоимости будет релевантной для покупателя.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Риск: Если AI скажет "код хороший", а там архитектурный ад, платформа потеряет доверие.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Проверка: Ручной прогон 10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опен-сорс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проектов через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промпты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GPT-4 и сравнение с мнением сеньор-разработчика.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Данные: Совпадение оценок AI и человека.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Критерий: Совпадение &gt;80%.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661B-6EE9-40AB-A03E-6CAE91D4F488}"/>
              </a:ext>
            </a:extLst>
          </p:cNvPr>
          <p:cNvSpPr txBox="1"/>
          <p:nvPr/>
        </p:nvSpPr>
        <p:spPr>
          <a:xfrm>
            <a:off x="2561663" y="3927708"/>
            <a:ext cx="8913159" cy="256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Гипотеза 3: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Продавцы обладают правами на код (он не украден у работодателя).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Риск: Иски от компаний, чей код продали на площадке.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Проверка: Интервью с юристами/консультация. Изучение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Terms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Service конкурентов.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Данные: Наличие юридического механизма защиты платформы (Safe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Harbor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Критерий: Юрист подтверждает, что платформу нельзя засудить за действия пользователя при наличии правильной оферты.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618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1400</Words>
  <Application>Microsoft Office PowerPoint</Application>
  <PresentationFormat>Широкоэкранный</PresentationFormat>
  <Paragraphs>163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Tahoma</vt:lpstr>
      <vt:lpstr>Times New Roman</vt:lpstr>
      <vt:lpstr>Тема Office</vt:lpstr>
      <vt:lpstr>Мертвый код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Мертвый код</dc:title>
  <dc:creator>Денис Ярошинский</dc:creator>
  <cp:lastModifiedBy>Денис Ярошинский</cp:lastModifiedBy>
  <cp:revision>3</cp:revision>
  <dcterms:created xsi:type="dcterms:W3CDTF">2026-02-24T07:51:53Z</dcterms:created>
  <dcterms:modified xsi:type="dcterms:W3CDTF">2026-02-24T08:07:44Z</dcterms:modified>
</cp:coreProperties>
</file>