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542F6-7CDA-A3B8-9079-D3CE450DA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FB1931-4CC6-B25A-9BCB-A21AF6F7D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C8C39C-B6A0-59C2-5377-32A72788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D7A3AE-2E0E-0016-FCD4-9A89FE62C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E0D673-48C5-1C56-8DD1-60B5ABFF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778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C8C95-B57C-24E7-DDE4-CA84C422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4D2E74-47E8-4699-47BC-1FB87A620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70D766-394B-BC7E-A849-AFF301B4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48002A-3644-D929-D7C0-0C77D842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5D24BE-A273-DC75-6D36-F5875E76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611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15F11-8319-024B-DDE8-385D9DF4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D37534-AD73-84B0-A350-21F969710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F0A8CD-728C-8B6A-9D53-76B47296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16FBAE-1E8F-2E86-BE15-0FD73E0B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76BA88-6446-28F0-E4A9-0735FC22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639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DEAC5-A134-754E-8FC2-AEE8E6D8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71A88C-2B37-8907-A704-CB178A892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596DEC-F41C-80A7-155C-09169E550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D146C4-D85B-A343-BD28-43CA92E5F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03E8D8-02CB-E690-423D-D6B32FBF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83543C-9EC3-E9B0-23DE-A4609E32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744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E1DF0-EFD9-08E9-A37B-8B8488430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0E1675-83B1-FCC3-648A-44E84990A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939487-372A-060B-5E50-5B696903F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28BBC0-3BAF-4A3D-5061-A1A67D2B7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3FA78C-373D-983C-3CB8-11D811FCC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ADAB522-9EC1-4DE8-7D6C-F2A374DE3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0F5FA5-439A-C65A-FFC0-25BF514D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CEDCE4A-39BF-3D86-6301-9380AE51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786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8AAB5-E62E-D5EA-A1F3-2983D95D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A52EF6-D658-0CBD-15F1-5B5FD45F4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BAD8405-52BF-11C5-D76D-A0695278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412299-EDD9-5D5F-6F2B-A67CB58C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429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BA1ED6B-0BC2-424C-31E3-800EF7E3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2551CB-E0FE-094B-31A0-6146BA7B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FF5537-7514-8611-1164-EB0BD611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418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BF8B0-26D2-720B-F91B-2BCF6916F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96188-9D54-43E0-B1D2-D659FBD13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4D7DEB-B0C9-DBFF-D4CB-D4B2B3924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6DED5E-15AD-2314-40AD-AFF48FB81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A84B52-4E29-51F4-24A0-9DDF6AEE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E73D82-75CA-4C43-C229-E9147D7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04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DAE91-3F75-D468-D739-8D63B86D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A891825-C21A-E75F-7B87-1535C05DC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68D9E9-0104-BF5F-638E-E7AF018C9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79204D-CB47-403C-B230-3FE6C434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427C0D-B57C-CFFC-D81F-FAA6C29D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1D7EDE-0E21-E39F-E2CC-5983D8C8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591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2C7BC-DB62-F495-5F58-3A0CAAD9F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96E6C0-D551-9509-9013-28D0EA6A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49F34F-90DC-32F2-098B-A34274D7D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79F1E9-02CC-8A51-D74F-8F0B32BB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11FD11-D6D1-6DA2-73FF-B1BC6BF4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681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44B2878-0165-9B63-6B05-E983DF514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E907F84-A8FF-4E7B-C562-F519932C5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B5C5F5-720F-5149-51A7-2F154774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A1F4FF-1776-1E30-8FE3-03CD509C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D37AE-B907-83D9-474A-CF342CD8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057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088BD-BD7A-2821-B1B9-D262829EE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335B16-C94B-7F7E-2C1E-C445A06F6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9565BD-2099-676B-6673-6BBCFF732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C596F-8C9D-4A91-8BBE-CDA5EB17A38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65379F-4089-AFDD-56E5-35256A30E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294DBA-BEE9-2EDC-72A1-DAC211214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9D15C-2843-4ED9-BFF3-AB2C5E79E2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7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9C33F-85F3-A12B-4B20-3B56CE3C9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1664" y="350120"/>
            <a:ext cx="4148667" cy="842963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2</a:t>
            </a:r>
            <a:r>
              <a:rPr lang="en-US" b="1" i="1" baseline="30000" dirty="0"/>
              <a:t>nd</a:t>
            </a:r>
            <a:r>
              <a:rPr lang="en-US" b="1" i="1" dirty="0"/>
              <a:t> Chance</a:t>
            </a:r>
            <a:endParaRPr lang="ru-RU" b="1" i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965744-9616-13D8-00DD-43B68FE51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465" y="3894667"/>
            <a:ext cx="10651067" cy="2861733"/>
          </a:xfrm>
        </p:spPr>
        <p:txBody>
          <a:bodyPr>
            <a:normAutofit/>
          </a:bodyPr>
          <a:lstStyle/>
          <a:p>
            <a:pPr algn="l"/>
            <a:r>
              <a:rPr lang="ru-RU" sz="2800" b="1" dirty="0"/>
              <a:t>Предмет: </a:t>
            </a:r>
            <a:r>
              <a:rPr lang="ru-RU" sz="2800" dirty="0"/>
              <a:t>Стартап в информационных технологиях. </a:t>
            </a:r>
          </a:p>
          <a:p>
            <a:pPr algn="l"/>
            <a:r>
              <a:rPr lang="ru-RU" sz="2800" b="1" dirty="0"/>
              <a:t>Неделя</a:t>
            </a:r>
            <a:r>
              <a:rPr lang="ru-RU" sz="2800" dirty="0"/>
              <a:t> – 5.</a:t>
            </a:r>
            <a:endParaRPr lang="en-US" sz="2800" dirty="0"/>
          </a:p>
          <a:p>
            <a:pPr algn="l"/>
            <a:r>
              <a:rPr lang="ru-RU" sz="2800" b="1" dirty="0"/>
              <a:t>Практическая</a:t>
            </a:r>
            <a:r>
              <a:rPr lang="ru-RU" sz="2800" dirty="0"/>
              <a:t> - 11</a:t>
            </a:r>
          </a:p>
          <a:p>
            <a:pPr algn="l"/>
            <a:r>
              <a:rPr lang="ru-RU" sz="2800" b="1" dirty="0"/>
              <a:t>Выполняли: </a:t>
            </a:r>
            <a:r>
              <a:rPr lang="ru-RU" sz="2800" dirty="0"/>
              <a:t>Артём Кан, Денис </a:t>
            </a:r>
            <a:r>
              <a:rPr lang="ru-RU" sz="2800" dirty="0" err="1"/>
              <a:t>Ярошинский</a:t>
            </a:r>
            <a:r>
              <a:rPr lang="ru-RU" sz="2800" dirty="0"/>
              <a:t>, Максим Боголепов, Егор Афонин. </a:t>
            </a:r>
          </a:p>
          <a:p>
            <a:endParaRPr lang="ru-RU" sz="2800" dirty="0"/>
          </a:p>
        </p:txBody>
      </p:sp>
      <p:pic>
        <p:nvPicPr>
          <p:cNvPr id="4" name="Picture 2" descr="Marketplace – Бесплатные иконки: коммерция">
            <a:extLst>
              <a:ext uri="{FF2B5EF4-FFF2-40B4-BE49-F238E27FC236}">
                <a16:creationId xmlns:a16="http://schemas.microsoft.com/office/drawing/2014/main" id="{ED7E29E8-B933-95D8-0B08-CCC002B37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331" y="101600"/>
            <a:ext cx="3456229" cy="345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6CA27C-B8CC-932B-6D91-D6304B2AC67A}"/>
              </a:ext>
            </a:extLst>
          </p:cNvPr>
          <p:cNvSpPr txBox="1"/>
          <p:nvPr/>
        </p:nvSpPr>
        <p:spPr>
          <a:xfrm>
            <a:off x="380670" y="2606020"/>
            <a:ext cx="8043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Тема: </a:t>
            </a:r>
            <a:r>
              <a:rPr kumimoji="0" lang="ru-RU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Маркетплейс мертвого кода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    с </a:t>
            </a:r>
            <a:r>
              <a:rPr kumimoji="0" lang="en-US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</a:t>
            </a:r>
            <a:r>
              <a:rPr kumimoji="0" lang="ru-RU" sz="3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-аудитом.</a:t>
            </a:r>
          </a:p>
        </p:txBody>
      </p:sp>
    </p:spTree>
    <p:extLst>
      <p:ext uri="{BB962C8B-B14F-4D97-AF65-F5344CB8AC3E}">
        <p14:creationId xmlns:p14="http://schemas.microsoft.com/office/powerpoint/2010/main" val="4133895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C16A7-E873-9839-0412-E4BFCACE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866" y="18255"/>
            <a:ext cx="3742267" cy="1325563"/>
          </a:xfrm>
        </p:spPr>
        <p:txBody>
          <a:bodyPr>
            <a:normAutofit/>
          </a:bodyPr>
          <a:lstStyle/>
          <a:p>
            <a:r>
              <a:rPr lang="ru-RU" sz="6000" b="1" dirty="0"/>
              <a:t>Проблема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98C867-39FC-331B-A1BC-980E7A0A8E48}"/>
              </a:ext>
            </a:extLst>
          </p:cNvPr>
          <p:cNvSpPr txBox="1"/>
          <p:nvPr/>
        </p:nvSpPr>
        <p:spPr>
          <a:xfrm>
            <a:off x="1375832" y="1750218"/>
            <a:ext cx="9884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Более 90% IT-проектов не доходят до коммерциализации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FB842C-0B42-F012-FE5A-413FE734B8B6}"/>
              </a:ext>
            </a:extLst>
          </p:cNvPr>
          <p:cNvSpPr txBox="1"/>
          <p:nvPr/>
        </p:nvSpPr>
        <p:spPr>
          <a:xfrm>
            <a:off x="1375832" y="2813641"/>
            <a:ext cx="8466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Разработчики теряют код и вложенные ресурсы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9627BB-C37C-080B-5E20-26B4830D40F8}"/>
              </a:ext>
            </a:extLst>
          </p:cNvPr>
          <p:cNvSpPr txBox="1"/>
          <p:nvPr/>
        </p:nvSpPr>
        <p:spPr>
          <a:xfrm>
            <a:off x="1375832" y="3882611"/>
            <a:ext cx="9440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Компании вынуждены разрабатывать решения с нуля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73513841-E6A0-F07F-0C3F-450D3B8C34DE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26" name="Picture 2" descr="Проект – Бесплатные иконки: бизнес и финансы">
            <a:extLst>
              <a:ext uri="{FF2B5EF4-FFF2-40B4-BE49-F238E27FC236}">
                <a16:creationId xmlns:a16="http://schemas.microsoft.com/office/drawing/2014/main" id="{E0827CFB-9AF9-59BE-124E-B80E20885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066" y="4758267"/>
            <a:ext cx="1710267" cy="171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Код – Бесплатные иконки: интерфейс">
            <a:extLst>
              <a:ext uri="{FF2B5EF4-FFF2-40B4-BE49-F238E27FC236}">
                <a16:creationId xmlns:a16="http://schemas.microsoft.com/office/drawing/2014/main" id="{6EA3CC1A-9C08-570A-C211-8D1E7DCF8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866" y="4758267"/>
            <a:ext cx="1710267" cy="171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Начать сначала – Бесплатные иконки: ui">
            <a:extLst>
              <a:ext uri="{FF2B5EF4-FFF2-40B4-BE49-F238E27FC236}">
                <a16:creationId xmlns:a16="http://schemas.microsoft.com/office/drawing/2014/main" id="{819FB0C7-ABC4-6322-77C4-5B8AE1DEA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667" y="4758266"/>
            <a:ext cx="1710267" cy="171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0F546B2-5A3E-6288-D2EA-EC9927B9D669}"/>
              </a:ext>
            </a:extLst>
          </p:cNvPr>
          <p:cNvSpPr txBox="1"/>
          <p:nvPr/>
        </p:nvSpPr>
        <p:spPr>
          <a:xfrm>
            <a:off x="1375832" y="1750217"/>
            <a:ext cx="9884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Более 90% IT-проектов не доходят до коммерциализации</a:t>
            </a:r>
          </a:p>
        </p:txBody>
      </p:sp>
      <p:pic>
        <p:nvPicPr>
          <p:cNvPr id="26" name="Picture 2" descr="Проект – Бесплатные иконки: бизнес и финансы">
            <a:extLst>
              <a:ext uri="{FF2B5EF4-FFF2-40B4-BE49-F238E27FC236}">
                <a16:creationId xmlns:a16="http://schemas.microsoft.com/office/drawing/2014/main" id="{0A515C72-2AFC-0AC6-81A2-BA91017C3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066" y="4758266"/>
            <a:ext cx="1710267" cy="171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286E61C-1607-0EC7-7954-1BE585D58657}"/>
              </a:ext>
            </a:extLst>
          </p:cNvPr>
          <p:cNvSpPr txBox="1"/>
          <p:nvPr/>
        </p:nvSpPr>
        <p:spPr>
          <a:xfrm>
            <a:off x="1375832" y="3877064"/>
            <a:ext cx="9440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Компании вынуждены разрабатывать решения с нуля</a:t>
            </a:r>
          </a:p>
        </p:txBody>
      </p:sp>
      <p:pic>
        <p:nvPicPr>
          <p:cNvPr id="28" name="Picture 6" descr="Начать сначала – Бесплатные иконки: ui">
            <a:extLst>
              <a:ext uri="{FF2B5EF4-FFF2-40B4-BE49-F238E27FC236}">
                <a16:creationId xmlns:a16="http://schemas.microsoft.com/office/drawing/2014/main" id="{0D56ABA5-44AD-ED8D-CF26-0240AAE48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667" y="4752719"/>
            <a:ext cx="1710267" cy="171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86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613BED-53DB-40F9-4C31-260A1DAA8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3900" y="18255"/>
            <a:ext cx="31242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i="0" dirty="0">
                <a:solidFill>
                  <a:srgbClr val="1F2328"/>
                </a:solidFill>
                <a:effectLst/>
              </a:rPr>
              <a:t>Решение</a:t>
            </a:r>
            <a:endParaRPr lang="ru-RU" sz="6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D95BF-F0AE-BF4B-FFCB-58D70AB718E1}"/>
              </a:ext>
            </a:extLst>
          </p:cNvPr>
          <p:cNvSpPr txBox="1"/>
          <p:nvPr/>
        </p:nvSpPr>
        <p:spPr>
          <a:xfrm>
            <a:off x="634997" y="2267811"/>
            <a:ext cx="54610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ru-RU" sz="2800" b="0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1F2328"/>
                </a:solidFill>
                <a:effectLst/>
              </a:rPr>
              <a:t>AI-аудит качества кода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2800" b="0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1F2328"/>
                </a:solidFill>
                <a:effectLst/>
              </a:rPr>
              <a:t>Безопасная сделка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2800" b="0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1F2328"/>
                </a:solidFill>
                <a:effectLst/>
              </a:rPr>
              <a:t>Передача прав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34F0DF2-0A1A-A2DF-215A-72D777C6039D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BB447A-6213-3308-9792-A8170D490A23}"/>
              </a:ext>
            </a:extLst>
          </p:cNvPr>
          <p:cNvSpPr txBox="1"/>
          <p:nvPr/>
        </p:nvSpPr>
        <p:spPr>
          <a:xfrm>
            <a:off x="169329" y="1543201"/>
            <a:ext cx="63923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1F232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Платформа для покупки и продажи незавершённых IT-проектов: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780563A-BBDF-547D-8600-3C2E699F3804}"/>
              </a:ext>
            </a:extLst>
          </p:cNvPr>
          <p:cNvSpPr/>
          <p:nvPr/>
        </p:nvSpPr>
        <p:spPr>
          <a:xfrm>
            <a:off x="7658100" y="1707881"/>
            <a:ext cx="3149600" cy="1016111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Продавец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500C466-5A05-8E9A-DF80-85CE3BC80476}"/>
              </a:ext>
            </a:extLst>
          </p:cNvPr>
          <p:cNvSpPr/>
          <p:nvPr/>
        </p:nvSpPr>
        <p:spPr>
          <a:xfrm>
            <a:off x="7658100" y="3511340"/>
            <a:ext cx="3149600" cy="1016111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Платформа</a:t>
            </a:r>
            <a:endParaRPr lang="ru-RU" sz="3200" b="1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9FBBB00-DD21-7BA9-F9B5-3FC43CADCF10}"/>
              </a:ext>
            </a:extLst>
          </p:cNvPr>
          <p:cNvSpPr/>
          <p:nvPr/>
        </p:nvSpPr>
        <p:spPr>
          <a:xfrm>
            <a:off x="7658100" y="5314799"/>
            <a:ext cx="3149600" cy="1016111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Покупатель</a:t>
            </a:r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7C0094E8-DC5E-221B-5E62-503234178D2F}"/>
              </a:ext>
            </a:extLst>
          </p:cNvPr>
          <p:cNvSpPr/>
          <p:nvPr/>
        </p:nvSpPr>
        <p:spPr>
          <a:xfrm>
            <a:off x="9059333" y="2863605"/>
            <a:ext cx="347133" cy="516411"/>
          </a:xfrm>
          <a:prstGeom prst="downArrow">
            <a:avLst>
              <a:gd name="adj1" fmla="val 30488"/>
              <a:gd name="adj2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8A799483-8B33-4695-5AC4-02D2430284CC}"/>
              </a:ext>
            </a:extLst>
          </p:cNvPr>
          <p:cNvSpPr/>
          <p:nvPr/>
        </p:nvSpPr>
        <p:spPr>
          <a:xfrm>
            <a:off x="9059333" y="4658775"/>
            <a:ext cx="347133" cy="516411"/>
          </a:xfrm>
          <a:prstGeom prst="downArrow">
            <a:avLst>
              <a:gd name="adj1" fmla="val 30488"/>
              <a:gd name="adj2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164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Блок-схема: подготовка 15">
            <a:extLst>
              <a:ext uri="{FF2B5EF4-FFF2-40B4-BE49-F238E27FC236}">
                <a16:creationId xmlns:a16="http://schemas.microsoft.com/office/drawing/2014/main" id="{92333083-AF97-7536-2F80-E379C214562B}"/>
              </a:ext>
            </a:extLst>
          </p:cNvPr>
          <p:cNvSpPr/>
          <p:nvPr/>
        </p:nvSpPr>
        <p:spPr>
          <a:xfrm>
            <a:off x="3217329" y="3726890"/>
            <a:ext cx="5757333" cy="2446864"/>
          </a:xfrm>
          <a:prstGeom prst="flowChartPreparat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ABCC1-3820-6651-8C68-E83948AA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33" y="18255"/>
            <a:ext cx="3725333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i="0" dirty="0">
                <a:solidFill>
                  <a:srgbClr val="1F2328"/>
                </a:solidFill>
                <a:effectLst/>
                <a:latin typeface="+mn-lt"/>
              </a:rPr>
              <a:t>Ценность</a:t>
            </a:r>
            <a:endParaRPr lang="ru-RU" sz="6000" b="1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7AF66A1-8B19-49C4-A180-CC61F5D8EA8A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CC46CB1-6018-49E3-3E6F-98B5C535A11C}"/>
              </a:ext>
            </a:extLst>
          </p:cNvPr>
          <p:cNvSpPr/>
          <p:nvPr/>
        </p:nvSpPr>
        <p:spPr>
          <a:xfrm>
            <a:off x="304801" y="1879449"/>
            <a:ext cx="3776135" cy="1251662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Сокращение времени: </a:t>
            </a:r>
          </a:p>
          <a:p>
            <a:pPr algn="ctr"/>
            <a:r>
              <a:rPr lang="ru-RU" sz="2400" b="1" dirty="0"/>
              <a:t>4 месяца → 2 недели</a:t>
            </a:r>
          </a:p>
          <a:p>
            <a:pPr algn="ctr"/>
            <a:endParaRPr lang="ru-RU" sz="2400" b="1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1A69D06-1138-7040-961E-FF5C9F26BD03}"/>
              </a:ext>
            </a:extLst>
          </p:cNvPr>
          <p:cNvSpPr/>
          <p:nvPr/>
        </p:nvSpPr>
        <p:spPr>
          <a:xfrm>
            <a:off x="4191008" y="1879449"/>
            <a:ext cx="3776135" cy="1251662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Снижение затрат: до 70%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1547A32-CCDA-1818-E39C-C2B1EE046CEB}"/>
              </a:ext>
            </a:extLst>
          </p:cNvPr>
          <p:cNvSpPr/>
          <p:nvPr/>
        </p:nvSpPr>
        <p:spPr>
          <a:xfrm>
            <a:off x="8077215" y="1879449"/>
            <a:ext cx="3776135" cy="1251662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Снижение рисков за счёт AI-аудита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C5F959-40CA-1CCF-13C4-CFC284CF2E5F}"/>
              </a:ext>
            </a:extLst>
          </p:cNvPr>
          <p:cNvSpPr txBox="1"/>
          <p:nvPr/>
        </p:nvSpPr>
        <p:spPr>
          <a:xfrm>
            <a:off x="5002740" y="4068677"/>
            <a:ext cx="2186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Альтернатива</a:t>
            </a:r>
            <a:endParaRPr lang="ru-RU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0D2561-FEAB-F52C-50C6-E68CE2A19FE3}"/>
              </a:ext>
            </a:extLst>
          </p:cNvPr>
          <p:cNvSpPr txBox="1"/>
          <p:nvPr/>
        </p:nvSpPr>
        <p:spPr>
          <a:xfrm>
            <a:off x="4630738" y="4786343"/>
            <a:ext cx="29305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разработка с нуля или непроверенный код</a:t>
            </a:r>
            <a:endParaRPr lang="ru-RU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011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 animBg="1"/>
      <p:bldP spid="10" grpId="0" animBg="1"/>
      <p:bldP spid="11" grpId="0" animBg="1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1BD85-9D31-A498-8BB5-1C544917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033" y="18255"/>
            <a:ext cx="6493933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i="0" dirty="0">
                <a:solidFill>
                  <a:srgbClr val="1F2328"/>
                </a:solidFill>
                <a:effectLst/>
                <a:latin typeface="+mn-lt"/>
              </a:rPr>
              <a:t>Целевой сегмент</a:t>
            </a:r>
            <a:endParaRPr lang="ru-RU" sz="6000" b="1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4156608-124B-9823-9420-43B90C2F7D8E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8833B6-403F-87CC-0417-EF4085583BBB}"/>
              </a:ext>
            </a:extLst>
          </p:cNvPr>
          <p:cNvSpPr txBox="1"/>
          <p:nvPr/>
        </p:nvSpPr>
        <p:spPr>
          <a:xfrm>
            <a:off x="555624" y="1905506"/>
            <a:ext cx="385868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i="0" dirty="0">
                <a:solidFill>
                  <a:srgbClr val="1F2328"/>
                </a:solidFill>
                <a:effectLst/>
              </a:rPr>
              <a:t>Покупатели:</a:t>
            </a:r>
          </a:p>
          <a:p>
            <a:pPr algn="l"/>
            <a:endParaRPr lang="ru-RU" sz="3200" b="1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1F2328"/>
                </a:solidFill>
                <a:effectLst/>
              </a:rPr>
              <a:t>Стартапы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3200" b="0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1F2328"/>
                </a:solidFill>
                <a:effectLst/>
              </a:rPr>
              <a:t>Малые IT-команды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3200" b="0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1F2328"/>
                </a:solidFill>
                <a:effectLst/>
              </a:rPr>
              <a:t>Веб-студии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D3A2B8-1F6C-F1CE-432C-EF8D75211132}"/>
              </a:ext>
            </a:extLst>
          </p:cNvPr>
          <p:cNvSpPr txBox="1"/>
          <p:nvPr/>
        </p:nvSpPr>
        <p:spPr>
          <a:xfrm>
            <a:off x="6095999" y="1905506"/>
            <a:ext cx="541125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i="0" dirty="0">
                <a:solidFill>
                  <a:srgbClr val="1F2328"/>
                </a:solidFill>
                <a:effectLst/>
              </a:rPr>
              <a:t>Продавцы:</a:t>
            </a:r>
          </a:p>
          <a:p>
            <a:pPr algn="l"/>
            <a:endParaRPr lang="ru-RU" sz="3200" b="0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1F2328"/>
                </a:solidFill>
                <a:effectLst/>
              </a:rPr>
              <a:t>Разработчики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3200" b="0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1F2328"/>
                </a:solidFill>
                <a:effectLst/>
              </a:rPr>
              <a:t>Закрытые стартапы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3200" b="0" i="0" dirty="0">
              <a:solidFill>
                <a:srgbClr val="1F2328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1F2328"/>
                </a:solidFill>
                <a:effectLst/>
              </a:rPr>
              <a:t>Владельцы пет-проектов</a:t>
            </a:r>
          </a:p>
        </p:txBody>
      </p:sp>
      <p:pic>
        <p:nvPicPr>
          <p:cNvPr id="2064" name="Picture 16" descr="Покупатель – Бесплатные иконки: люди">
            <a:extLst>
              <a:ext uri="{FF2B5EF4-FFF2-40B4-BE49-F238E27FC236}">
                <a16:creationId xmlns:a16="http://schemas.microsoft.com/office/drawing/2014/main" id="{A9546EC3-E08F-2AFE-5925-C7E5A47AE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997" y="1618700"/>
            <a:ext cx="852244" cy="85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Продавец – Бесплатные иконки: Социальное">
            <a:extLst>
              <a:ext uri="{FF2B5EF4-FFF2-40B4-BE49-F238E27FC236}">
                <a16:creationId xmlns:a16="http://schemas.microsoft.com/office/drawing/2014/main" id="{0062D244-8FB6-4102-661F-2D62A1C16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505" y="1479384"/>
            <a:ext cx="852244" cy="85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Стартап creativy – Бесплатные иконки: технологии">
            <a:extLst>
              <a:ext uri="{FF2B5EF4-FFF2-40B4-BE49-F238E27FC236}">
                <a16:creationId xmlns:a16="http://schemas.microsoft.com/office/drawing/2014/main" id="{67FB8D99-0D16-D2C7-305C-0B9EB6D50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881" y="2757750"/>
            <a:ext cx="852245" cy="85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Малый бизнес – Бесплатные иконки: бизнес">
            <a:extLst>
              <a:ext uri="{FF2B5EF4-FFF2-40B4-BE49-F238E27FC236}">
                <a16:creationId xmlns:a16="http://schemas.microsoft.com/office/drawing/2014/main" id="{EBABA5D9-BEE7-2701-878B-08EE130B6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909" y="3770820"/>
            <a:ext cx="852244" cy="85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Веб-дизайн – Бесплатные иконки: компьютер">
            <a:extLst>
              <a:ext uri="{FF2B5EF4-FFF2-40B4-BE49-F238E27FC236}">
                <a16:creationId xmlns:a16="http://schemas.microsoft.com/office/drawing/2014/main" id="{7A2F47CF-B8B0-6E11-17CA-7100D442D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004" y="4736626"/>
            <a:ext cx="852244" cy="85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Разработчик – Бесплатные иконки: пользователь">
            <a:extLst>
              <a:ext uri="{FF2B5EF4-FFF2-40B4-BE49-F238E27FC236}">
                <a16:creationId xmlns:a16="http://schemas.microsoft.com/office/drawing/2014/main" id="{7336BAC6-5CE8-FA02-1EE7-71CA756D7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996" y="2757749"/>
            <a:ext cx="852245" cy="85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Замок – Бесплатные иконки: безопасность">
            <a:extLst>
              <a:ext uri="{FF2B5EF4-FFF2-40B4-BE49-F238E27FC236}">
                <a16:creationId xmlns:a16="http://schemas.microsoft.com/office/drawing/2014/main" id="{DBD17719-E393-54FB-BB03-FA654B5DE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221" y="3667624"/>
            <a:ext cx="852245" cy="852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Владелец – Бесплатные иконки: люди">
            <a:extLst>
              <a:ext uri="{FF2B5EF4-FFF2-40B4-BE49-F238E27FC236}">
                <a16:creationId xmlns:a16="http://schemas.microsoft.com/office/drawing/2014/main" id="{1B597A3B-8647-C94E-6A98-6A0A66C3F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622" y="4736626"/>
            <a:ext cx="852244" cy="85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382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18FB2-EAA7-FE9B-B26D-47DF9C02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400" y="18255"/>
            <a:ext cx="6646333" cy="1325563"/>
          </a:xfrm>
        </p:spPr>
        <p:txBody>
          <a:bodyPr>
            <a:normAutofit/>
          </a:bodyPr>
          <a:lstStyle/>
          <a:p>
            <a:r>
              <a:rPr lang="ru-RU" sz="6000" b="1" i="0" dirty="0">
                <a:solidFill>
                  <a:srgbClr val="1F2328"/>
                </a:solidFill>
                <a:effectLst/>
              </a:rPr>
              <a:t>Сценарий покупки</a:t>
            </a:r>
            <a:endParaRPr lang="ru-RU" sz="6000" b="1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C3A79835-D43A-E2F6-72BB-C103E11DC34C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D5A5120-5726-1F58-B95E-610764581E70}"/>
              </a:ext>
            </a:extLst>
          </p:cNvPr>
          <p:cNvSpPr/>
          <p:nvPr/>
        </p:nvSpPr>
        <p:spPr>
          <a:xfrm>
            <a:off x="1905005" y="1554052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поиск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61D6A3B-8165-C78D-321D-EB0209003EFD}"/>
              </a:ext>
            </a:extLst>
          </p:cNvPr>
          <p:cNvSpPr/>
          <p:nvPr/>
        </p:nvSpPr>
        <p:spPr>
          <a:xfrm>
            <a:off x="1905005" y="2607888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анализ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CC0BBC2-CFDB-9636-68D6-D615A1740E4D}"/>
              </a:ext>
            </a:extLst>
          </p:cNvPr>
          <p:cNvSpPr/>
          <p:nvPr/>
        </p:nvSpPr>
        <p:spPr>
          <a:xfrm>
            <a:off x="1905005" y="3661724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покупка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851EA43-57C6-26E6-343C-65E251CA572B}"/>
              </a:ext>
            </a:extLst>
          </p:cNvPr>
          <p:cNvSpPr/>
          <p:nvPr/>
        </p:nvSpPr>
        <p:spPr>
          <a:xfrm>
            <a:off x="1905005" y="4715560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получение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9B75FC4-4F93-95B6-BC97-66DEAC1C11AB}"/>
              </a:ext>
            </a:extLst>
          </p:cNvPr>
          <p:cNvSpPr/>
          <p:nvPr/>
        </p:nvSpPr>
        <p:spPr>
          <a:xfrm>
            <a:off x="1905005" y="5769396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запуск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D32386A-F99F-9C22-D9E1-D848E6F0644A}"/>
              </a:ext>
            </a:extLst>
          </p:cNvPr>
          <p:cNvCxnSpPr>
            <a:cxnSpLocks/>
          </p:cNvCxnSpPr>
          <p:nvPr/>
        </p:nvCxnSpPr>
        <p:spPr>
          <a:xfrm>
            <a:off x="4978406" y="1926244"/>
            <a:ext cx="1574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C7E79CE-DF81-8DE3-09B2-AD87A5C70DC5}"/>
              </a:ext>
            </a:extLst>
          </p:cNvPr>
          <p:cNvCxnSpPr>
            <a:cxnSpLocks/>
          </p:cNvCxnSpPr>
          <p:nvPr/>
        </p:nvCxnSpPr>
        <p:spPr>
          <a:xfrm>
            <a:off x="4978406" y="2967457"/>
            <a:ext cx="1574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3242EF6-18D6-F07E-E1BE-10C51B75B955}"/>
              </a:ext>
            </a:extLst>
          </p:cNvPr>
          <p:cNvCxnSpPr>
            <a:cxnSpLocks/>
          </p:cNvCxnSpPr>
          <p:nvPr/>
        </p:nvCxnSpPr>
        <p:spPr>
          <a:xfrm>
            <a:off x="4978406" y="3995893"/>
            <a:ext cx="1574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E093840-4018-6C7D-5FD5-4138D4BFBA30}"/>
              </a:ext>
            </a:extLst>
          </p:cNvPr>
          <p:cNvCxnSpPr>
            <a:cxnSpLocks/>
          </p:cNvCxnSpPr>
          <p:nvPr/>
        </p:nvCxnSpPr>
        <p:spPr>
          <a:xfrm>
            <a:off x="4978406" y="5049729"/>
            <a:ext cx="1574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8F96FE7-D420-AB1D-D42B-F87D5524350C}"/>
              </a:ext>
            </a:extLst>
          </p:cNvPr>
          <p:cNvCxnSpPr>
            <a:cxnSpLocks/>
          </p:cNvCxnSpPr>
          <p:nvPr/>
        </p:nvCxnSpPr>
        <p:spPr>
          <a:xfrm>
            <a:off x="4978406" y="6103565"/>
            <a:ext cx="1574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235C9D-1925-8A5E-B1C7-4F0B27DDA4AA}"/>
              </a:ext>
            </a:extLst>
          </p:cNvPr>
          <p:cNvSpPr txBox="1"/>
          <p:nvPr/>
        </p:nvSpPr>
        <p:spPr>
          <a:xfrm>
            <a:off x="6866473" y="1664635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выбор проекта</a:t>
            </a:r>
            <a:endParaRPr lang="ru-RU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2E2658-5FC2-1290-0A41-08BFD80AE84C}"/>
              </a:ext>
            </a:extLst>
          </p:cNvPr>
          <p:cNvSpPr txBox="1"/>
          <p:nvPr/>
        </p:nvSpPr>
        <p:spPr>
          <a:xfrm>
            <a:off x="6866473" y="2697351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AI-</a:t>
            </a:r>
            <a:r>
              <a:rPr lang="ru-RU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аудит</a:t>
            </a:r>
            <a:endParaRPr lang="ru-RU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981E3-9C34-9316-DA11-77872E57783B}"/>
              </a:ext>
            </a:extLst>
          </p:cNvPr>
          <p:cNvSpPr txBox="1"/>
          <p:nvPr/>
        </p:nvSpPr>
        <p:spPr>
          <a:xfrm>
            <a:off x="6866473" y="3738136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оплата</a:t>
            </a:r>
            <a:endParaRPr lang="ru-RU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1AA87C-B444-3253-1944-887958ABFBB4}"/>
              </a:ext>
            </a:extLst>
          </p:cNvPr>
          <p:cNvSpPr txBox="1"/>
          <p:nvPr/>
        </p:nvSpPr>
        <p:spPr>
          <a:xfrm>
            <a:off x="6866473" y="4788119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доступ к коду</a:t>
            </a:r>
            <a:endParaRPr lang="ru-RU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7F1D8D-F464-52A7-26FD-88CA479E9B19}"/>
              </a:ext>
            </a:extLst>
          </p:cNvPr>
          <p:cNvSpPr txBox="1"/>
          <p:nvPr/>
        </p:nvSpPr>
        <p:spPr>
          <a:xfrm>
            <a:off x="6866473" y="5841955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интеграция</a:t>
            </a:r>
            <a:endParaRPr lang="ru-RU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344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7F314-DD64-41CC-DF66-A92446108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633" y="18255"/>
            <a:ext cx="10100733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i="0" dirty="0">
                <a:solidFill>
                  <a:srgbClr val="1F2328"/>
                </a:solidFill>
                <a:effectLst/>
                <a:latin typeface="+mn-lt"/>
              </a:rPr>
              <a:t>Альтернативный сценарий</a:t>
            </a:r>
            <a:endParaRPr lang="ru-RU" sz="5400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0903E8A-C99D-6A03-8C8F-FF87D1FC314A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197BD34-807D-FE9B-8AAB-CEB55116F6D3}"/>
              </a:ext>
            </a:extLst>
          </p:cNvPr>
          <p:cNvSpPr/>
          <p:nvPr/>
        </p:nvSpPr>
        <p:spPr>
          <a:xfrm>
            <a:off x="1905005" y="1554052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загрузка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B070C81-42AA-B86F-F8E4-0309DD378B25}"/>
              </a:ext>
            </a:extLst>
          </p:cNvPr>
          <p:cNvSpPr/>
          <p:nvPr/>
        </p:nvSpPr>
        <p:spPr>
          <a:xfrm>
            <a:off x="1905005" y="2607888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анализ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2160BC3-ED0E-A293-B564-273F9874A5A9}"/>
              </a:ext>
            </a:extLst>
          </p:cNvPr>
          <p:cNvSpPr/>
          <p:nvPr/>
        </p:nvSpPr>
        <p:spPr>
          <a:xfrm>
            <a:off x="1905005" y="3661724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публикация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9B25160-74D6-42FF-8425-B77F1193D336}"/>
              </a:ext>
            </a:extLst>
          </p:cNvPr>
          <p:cNvSpPr/>
          <p:nvPr/>
        </p:nvSpPr>
        <p:spPr>
          <a:xfrm>
            <a:off x="1905005" y="4715560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продажа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0E6D171-E6B9-732C-AB7A-0AFC3DD99EFD}"/>
              </a:ext>
            </a:extLst>
          </p:cNvPr>
          <p:cNvSpPr/>
          <p:nvPr/>
        </p:nvSpPr>
        <p:spPr>
          <a:xfrm>
            <a:off x="1905005" y="5769396"/>
            <a:ext cx="2912534" cy="744384"/>
          </a:xfrm>
          <a:prstGeom prst="roundRect">
            <a:avLst>
              <a:gd name="adj" fmla="val 3249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выплата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8ACD89C-3613-872E-D70C-67A702576816}"/>
              </a:ext>
            </a:extLst>
          </p:cNvPr>
          <p:cNvCxnSpPr>
            <a:cxnSpLocks/>
          </p:cNvCxnSpPr>
          <p:nvPr/>
        </p:nvCxnSpPr>
        <p:spPr>
          <a:xfrm>
            <a:off x="4978406" y="1926244"/>
            <a:ext cx="1574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1E9D4AB-AC16-E4FF-B90C-9023AA50BD67}"/>
              </a:ext>
            </a:extLst>
          </p:cNvPr>
          <p:cNvCxnSpPr>
            <a:cxnSpLocks/>
          </p:cNvCxnSpPr>
          <p:nvPr/>
        </p:nvCxnSpPr>
        <p:spPr>
          <a:xfrm>
            <a:off x="4978406" y="2967457"/>
            <a:ext cx="1574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7A7F55F-385E-E08A-7D98-D152ADC8F865}"/>
              </a:ext>
            </a:extLst>
          </p:cNvPr>
          <p:cNvCxnSpPr>
            <a:cxnSpLocks/>
          </p:cNvCxnSpPr>
          <p:nvPr/>
        </p:nvCxnSpPr>
        <p:spPr>
          <a:xfrm>
            <a:off x="4978406" y="3995893"/>
            <a:ext cx="1574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04144947-5823-FAC1-F753-4579B8F6C771}"/>
              </a:ext>
            </a:extLst>
          </p:cNvPr>
          <p:cNvCxnSpPr>
            <a:cxnSpLocks/>
          </p:cNvCxnSpPr>
          <p:nvPr/>
        </p:nvCxnSpPr>
        <p:spPr>
          <a:xfrm>
            <a:off x="4978406" y="5049729"/>
            <a:ext cx="1574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86B55EE-6EAC-6109-9A77-F2846925D307}"/>
              </a:ext>
            </a:extLst>
          </p:cNvPr>
          <p:cNvCxnSpPr>
            <a:cxnSpLocks/>
          </p:cNvCxnSpPr>
          <p:nvPr/>
        </p:nvCxnSpPr>
        <p:spPr>
          <a:xfrm>
            <a:off x="4978406" y="6103565"/>
            <a:ext cx="1574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F0EDDCA-39EE-6E73-8B63-F172A9D3178A}"/>
              </a:ext>
            </a:extLst>
          </p:cNvPr>
          <p:cNvSpPr txBox="1"/>
          <p:nvPr/>
        </p:nvSpPr>
        <p:spPr>
          <a:xfrm>
            <a:off x="6866473" y="1664635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проект</a:t>
            </a:r>
            <a:endParaRPr lang="ru-RU" sz="28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5CC35-12BB-4213-33CB-B9B025FCF15A}"/>
              </a:ext>
            </a:extLst>
          </p:cNvPr>
          <p:cNvSpPr txBox="1"/>
          <p:nvPr/>
        </p:nvSpPr>
        <p:spPr>
          <a:xfrm>
            <a:off x="6866473" y="2697351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AI-</a:t>
            </a:r>
            <a:r>
              <a:rPr lang="ru-RU" sz="2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аудит</a:t>
            </a:r>
            <a:endParaRPr lang="ru-RU" sz="28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77B08-D822-FDC9-09DB-C94D47EBAD59}"/>
              </a:ext>
            </a:extLst>
          </p:cNvPr>
          <p:cNvSpPr txBox="1"/>
          <p:nvPr/>
        </p:nvSpPr>
        <p:spPr>
          <a:xfrm>
            <a:off x="6866473" y="3738136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размещение</a:t>
            </a:r>
            <a:endParaRPr lang="ru-RU" sz="28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EACAC-6CFF-7723-FFDC-00FB8DD65BED}"/>
              </a:ext>
            </a:extLst>
          </p:cNvPr>
          <p:cNvSpPr txBox="1"/>
          <p:nvPr/>
        </p:nvSpPr>
        <p:spPr>
          <a:xfrm>
            <a:off x="6866473" y="4788119"/>
            <a:ext cx="3092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сделка</a:t>
            </a:r>
            <a:endParaRPr lang="ru-RU" sz="28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958798-CCA2-E2E9-7DB7-959AD55FDD40}"/>
              </a:ext>
            </a:extLst>
          </p:cNvPr>
          <p:cNvSpPr txBox="1"/>
          <p:nvPr/>
        </p:nvSpPr>
        <p:spPr>
          <a:xfrm>
            <a:off x="6866473" y="5841955"/>
            <a:ext cx="3911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</a:rPr>
              <a:t>Получение средств</a:t>
            </a:r>
            <a:endParaRPr lang="ru-RU" sz="28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940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5" grpId="0"/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60065-EDC7-FE6A-388D-C6F706EC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533" y="18255"/>
            <a:ext cx="3826933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i="0" dirty="0">
                <a:solidFill>
                  <a:srgbClr val="1F2328"/>
                </a:solidFill>
                <a:effectLst/>
                <a:latin typeface="+mn-lt"/>
              </a:rPr>
              <a:t>Ядро </a:t>
            </a:r>
            <a:r>
              <a:rPr lang="en-US" sz="6000" b="1" i="0" dirty="0">
                <a:solidFill>
                  <a:srgbClr val="1F2328"/>
                </a:solidFill>
                <a:effectLst/>
                <a:latin typeface="+mn-lt"/>
              </a:rPr>
              <a:t>MVP</a:t>
            </a:r>
            <a:endParaRPr lang="ru-RU" sz="6000" b="1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6D3A09A5-1F9A-BFA9-E4A4-1D0B04470607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4C9B44E-7673-B866-591B-5BCD00D87272}"/>
              </a:ext>
            </a:extLst>
          </p:cNvPr>
          <p:cNvSpPr/>
          <p:nvPr/>
        </p:nvSpPr>
        <p:spPr>
          <a:xfrm>
            <a:off x="6697135" y="3902869"/>
            <a:ext cx="2912528" cy="1434675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Загрузка проекта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6FCDDE4-838B-5212-D95C-09435423250A}"/>
              </a:ext>
            </a:extLst>
          </p:cNvPr>
          <p:cNvSpPr/>
          <p:nvPr/>
        </p:nvSpPr>
        <p:spPr>
          <a:xfrm>
            <a:off x="2175941" y="1753605"/>
            <a:ext cx="2912528" cy="1434675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Каталог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3CEBFC8-6193-1DEE-7C18-E618EBAAC155}"/>
              </a:ext>
            </a:extLst>
          </p:cNvPr>
          <p:cNvSpPr/>
          <p:nvPr/>
        </p:nvSpPr>
        <p:spPr>
          <a:xfrm>
            <a:off x="6697135" y="1753605"/>
            <a:ext cx="2912528" cy="1434675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проектов         </a:t>
            </a:r>
            <a:r>
              <a:rPr lang="en-US" sz="2800" b="1" dirty="0"/>
              <a:t>AI-</a:t>
            </a:r>
            <a:r>
              <a:rPr lang="ru-RU" sz="2800" b="1" dirty="0"/>
              <a:t>аудит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9A1DC65-3725-80F7-4CC2-EC1A97C2A8B9}"/>
              </a:ext>
            </a:extLst>
          </p:cNvPr>
          <p:cNvSpPr/>
          <p:nvPr/>
        </p:nvSpPr>
        <p:spPr>
          <a:xfrm>
            <a:off x="2175941" y="3902868"/>
            <a:ext cx="2912528" cy="1434675"/>
          </a:xfrm>
          <a:prstGeom prst="roundRect">
            <a:avLst>
              <a:gd name="adj" fmla="val 324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Покупка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F26EB-B07C-CB81-01BF-0592A2D0FCFE}"/>
              </a:ext>
            </a:extLst>
          </p:cNvPr>
          <p:cNvSpPr txBox="1"/>
          <p:nvPr/>
        </p:nvSpPr>
        <p:spPr>
          <a:xfrm>
            <a:off x="2701923" y="6170663"/>
            <a:ext cx="6788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Минимальный набор функций для доставки ценности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1201C92-661A-39D8-252D-4A7006F4C108}"/>
              </a:ext>
            </a:extLst>
          </p:cNvPr>
          <p:cNvCxnSpPr>
            <a:cxnSpLocks/>
          </p:cNvCxnSpPr>
          <p:nvPr/>
        </p:nvCxnSpPr>
        <p:spPr>
          <a:xfrm>
            <a:off x="-93133" y="5901266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348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Блок-схема: перфолента 7">
            <a:extLst>
              <a:ext uri="{FF2B5EF4-FFF2-40B4-BE49-F238E27FC236}">
                <a16:creationId xmlns:a16="http://schemas.microsoft.com/office/drawing/2014/main" id="{0FE87CEF-215B-8FDB-4600-A7C3D6CB2FEC}"/>
              </a:ext>
            </a:extLst>
          </p:cNvPr>
          <p:cNvSpPr/>
          <p:nvPr/>
        </p:nvSpPr>
        <p:spPr>
          <a:xfrm rot="5400000">
            <a:off x="3174187" y="1744947"/>
            <a:ext cx="5327157" cy="4682066"/>
          </a:xfrm>
          <a:prstGeom prst="flowChartPunchedTape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609D0-6D78-25DA-5BE1-8CD4A342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633" y="18255"/>
            <a:ext cx="5020733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i="0" dirty="0">
                <a:solidFill>
                  <a:srgbClr val="1F2328"/>
                </a:solidFill>
                <a:effectLst/>
                <a:latin typeface="+mn-lt"/>
              </a:rPr>
              <a:t>Backlog MVP</a:t>
            </a:r>
            <a:endParaRPr lang="ru-RU" sz="6000" b="1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A651CDA-F17C-2577-A12D-A635753B9B24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77C560-1C80-3D54-AEE2-48551CC41A48}"/>
              </a:ext>
            </a:extLst>
          </p:cNvPr>
          <p:cNvSpPr txBox="1"/>
          <p:nvPr/>
        </p:nvSpPr>
        <p:spPr>
          <a:xfrm>
            <a:off x="4430710" y="2347042"/>
            <a:ext cx="333057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>
                <a:solidFill>
                  <a:srgbClr val="1F2328"/>
                </a:solidFill>
                <a:effectLst/>
              </a:rPr>
              <a:t>Поиск проектов</a:t>
            </a:r>
          </a:p>
          <a:p>
            <a:br>
              <a:rPr lang="ru-RU" sz="2000" b="1" i="1" dirty="0"/>
            </a:br>
            <a:r>
              <a:rPr lang="ru-RU" sz="2000" b="1" i="1" dirty="0">
                <a:solidFill>
                  <a:srgbClr val="1F2328"/>
                </a:solidFill>
                <a:effectLst/>
              </a:rPr>
              <a:t>Просмотр AI-аудита</a:t>
            </a:r>
          </a:p>
          <a:p>
            <a:br>
              <a:rPr lang="ru-RU" sz="2000" b="1" i="1" dirty="0"/>
            </a:br>
            <a:r>
              <a:rPr lang="ru-RU" sz="2000" b="1" i="1" dirty="0">
                <a:solidFill>
                  <a:srgbClr val="1F2328"/>
                </a:solidFill>
                <a:effectLst/>
              </a:rPr>
              <a:t>Покупка проекта</a:t>
            </a:r>
          </a:p>
          <a:p>
            <a:br>
              <a:rPr lang="ru-RU" sz="2000" b="1" i="1" dirty="0"/>
            </a:br>
            <a:r>
              <a:rPr lang="ru-RU" sz="2000" b="1" i="1" dirty="0">
                <a:solidFill>
                  <a:srgbClr val="1F2328"/>
                </a:solidFill>
                <a:effectLst/>
              </a:rPr>
              <a:t>Загрузка проекта</a:t>
            </a:r>
          </a:p>
          <a:p>
            <a:br>
              <a:rPr lang="ru-RU" sz="2000" b="1" i="1" dirty="0"/>
            </a:br>
            <a:r>
              <a:rPr lang="ru-RU" sz="2000" b="1" i="1" dirty="0">
                <a:solidFill>
                  <a:srgbClr val="1F2328"/>
                </a:solidFill>
                <a:effectLst/>
              </a:rPr>
              <a:t>Проведение аудита</a:t>
            </a:r>
          </a:p>
          <a:p>
            <a:br>
              <a:rPr lang="ru-RU" sz="2000" b="1" i="1" dirty="0"/>
            </a:br>
            <a:r>
              <a:rPr lang="ru-RU" sz="2000" b="1" i="1" dirty="0">
                <a:solidFill>
                  <a:srgbClr val="1F2328"/>
                </a:solidFill>
                <a:effectLst/>
              </a:rPr>
              <a:t>Отзывы пользователей</a:t>
            </a:r>
            <a:endParaRPr lang="ru-RU" sz="2000" b="1" i="1" dirty="0"/>
          </a:p>
        </p:txBody>
      </p:sp>
    </p:spTree>
    <p:extLst>
      <p:ext uri="{BB962C8B-B14F-4D97-AF65-F5344CB8AC3E}">
        <p14:creationId xmlns:p14="http://schemas.microsoft.com/office/powerpoint/2010/main" val="918966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ED3E0-91C1-805A-0366-B1FAC5FF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34"/>
            <a:ext cx="12454467" cy="1370542"/>
          </a:xfrm>
        </p:spPr>
        <p:txBody>
          <a:bodyPr>
            <a:normAutofit/>
          </a:bodyPr>
          <a:lstStyle/>
          <a:p>
            <a:r>
              <a:rPr lang="ru-RU" sz="6000" b="1" i="0" dirty="0">
                <a:solidFill>
                  <a:srgbClr val="1F2328"/>
                </a:solidFill>
                <a:effectLst/>
                <a:latin typeface="+mn-lt"/>
              </a:rPr>
              <a:t>Нефункциональные требования</a:t>
            </a:r>
            <a:endParaRPr lang="ru-RU" sz="6000" b="1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162254A-71FA-AE51-B0C0-C17FFA90C61F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93098-22DF-17BA-C323-A8364FA386F2}"/>
              </a:ext>
            </a:extLst>
          </p:cNvPr>
          <p:cNvSpPr txBox="1"/>
          <p:nvPr/>
        </p:nvSpPr>
        <p:spPr>
          <a:xfrm>
            <a:off x="624418" y="2151727"/>
            <a:ext cx="458258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0" dirty="0">
                <a:solidFill>
                  <a:srgbClr val="1F2328"/>
                </a:solidFill>
                <a:effectLst/>
              </a:rPr>
              <a:t>Безопасность данных</a:t>
            </a:r>
          </a:p>
          <a:p>
            <a:br>
              <a:rPr lang="ru-RU" sz="3200" b="1" dirty="0"/>
            </a:br>
            <a:r>
              <a:rPr lang="ru-RU" sz="3200" b="1" i="0" dirty="0">
                <a:solidFill>
                  <a:srgbClr val="1F2328"/>
                </a:solidFill>
                <a:effectLst/>
              </a:rPr>
              <a:t>Надежность системы</a:t>
            </a:r>
          </a:p>
          <a:p>
            <a:br>
              <a:rPr lang="ru-RU" sz="3200" b="1" dirty="0"/>
            </a:br>
            <a:r>
              <a:rPr lang="ru-RU" sz="3200" b="1" i="0" dirty="0">
                <a:solidFill>
                  <a:srgbClr val="1F2328"/>
                </a:solidFill>
                <a:effectLst/>
              </a:rPr>
              <a:t>Доступность</a:t>
            </a:r>
            <a:endParaRPr lang="ru-RU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01208-C16D-55DA-E995-F1EFE969E31B}"/>
              </a:ext>
            </a:extLst>
          </p:cNvPr>
          <p:cNvSpPr txBox="1"/>
          <p:nvPr/>
        </p:nvSpPr>
        <p:spPr>
          <a:xfrm>
            <a:off x="6227233" y="2151727"/>
            <a:ext cx="64135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/>
              <a:t>Производительность</a:t>
            </a:r>
          </a:p>
          <a:p>
            <a:endParaRPr lang="ru-RU" sz="3200" b="1" dirty="0"/>
          </a:p>
          <a:p>
            <a:r>
              <a:rPr lang="ru-RU" sz="3200" b="1" dirty="0"/>
              <a:t>Масштабируемость</a:t>
            </a:r>
          </a:p>
          <a:p>
            <a:endParaRPr lang="ru-RU" sz="3200" b="1" dirty="0"/>
          </a:p>
          <a:p>
            <a:r>
              <a:rPr lang="ru-RU" sz="3200" b="1" dirty="0"/>
              <a:t>Интеграции (</a:t>
            </a:r>
            <a:r>
              <a:rPr lang="ru-RU" sz="3200" b="1" dirty="0" err="1"/>
              <a:t>GitHub</a:t>
            </a:r>
            <a:r>
              <a:rPr lang="ru-RU" sz="3200" b="1" dirty="0"/>
              <a:t>/</a:t>
            </a:r>
            <a:r>
              <a:rPr lang="ru-RU" sz="3200" b="1" dirty="0" err="1"/>
              <a:t>GitLab</a:t>
            </a:r>
            <a:r>
              <a:rPr lang="ru-RU" sz="3200" b="1" dirty="0"/>
              <a:t>)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C35751C-F8C1-9134-D293-336316E8AD43}"/>
              </a:ext>
            </a:extLst>
          </p:cNvPr>
          <p:cNvCxnSpPr>
            <a:cxnSpLocks/>
          </p:cNvCxnSpPr>
          <p:nvPr/>
        </p:nvCxnSpPr>
        <p:spPr>
          <a:xfrm>
            <a:off x="5731933" y="1244599"/>
            <a:ext cx="0" cy="567266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861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9C453-FA97-29AD-683B-6AC43A52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733" y="18255"/>
            <a:ext cx="1896533" cy="1325563"/>
          </a:xfrm>
        </p:spPr>
        <p:txBody>
          <a:bodyPr>
            <a:normAutofit/>
          </a:bodyPr>
          <a:lstStyle/>
          <a:p>
            <a:r>
              <a:rPr lang="ru-RU" sz="6000" b="1" i="0" dirty="0">
                <a:solidFill>
                  <a:srgbClr val="1F2328"/>
                </a:solidFill>
                <a:effectLst/>
                <a:latin typeface="+mn-lt"/>
              </a:rPr>
              <a:t>Итог</a:t>
            </a:r>
            <a:endParaRPr lang="ru-RU" sz="6000" b="1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160A4B8-25DF-3205-A183-1CE5BB50D104}"/>
              </a:ext>
            </a:extLst>
          </p:cNvPr>
          <p:cNvCxnSpPr>
            <a:cxnSpLocks/>
          </p:cNvCxnSpPr>
          <p:nvPr/>
        </p:nvCxnSpPr>
        <p:spPr>
          <a:xfrm>
            <a:off x="-93134" y="1244599"/>
            <a:ext cx="123782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5C2BE4-F26F-284F-4349-C8D5221695CA}"/>
              </a:ext>
            </a:extLst>
          </p:cNvPr>
          <p:cNvSpPr txBox="1"/>
          <p:nvPr/>
        </p:nvSpPr>
        <p:spPr>
          <a:xfrm>
            <a:off x="516466" y="1859340"/>
            <a:ext cx="1115906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0" i="0" dirty="0">
                <a:solidFill>
                  <a:srgbClr val="1F2328"/>
                </a:solidFill>
                <a:effectLst/>
              </a:rPr>
              <a:t>Решение позволяет использовать «мертвый код» как актив</a:t>
            </a:r>
          </a:p>
          <a:p>
            <a:br>
              <a:rPr lang="ru-RU" sz="3200" dirty="0"/>
            </a:br>
            <a:r>
              <a:rPr lang="ru-RU" sz="3200" b="0" i="0" dirty="0">
                <a:solidFill>
                  <a:srgbClr val="1F2328"/>
                </a:solidFill>
                <a:effectLst/>
              </a:rPr>
              <a:t>Снижает стоимость разработки</a:t>
            </a:r>
          </a:p>
          <a:p>
            <a:br>
              <a:rPr lang="ru-RU" sz="3200" dirty="0"/>
            </a:br>
            <a:r>
              <a:rPr lang="ru-RU" sz="3200" b="0" i="0" dirty="0">
                <a:solidFill>
                  <a:srgbClr val="1F2328"/>
                </a:solidFill>
                <a:effectLst/>
              </a:rPr>
              <a:t>Ускоряет запуск IT-продуктов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61914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235</Words>
  <Application>Microsoft Office PowerPoint</Application>
  <PresentationFormat>Широкоэкранный</PresentationFormat>
  <Paragraphs>94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2nd Chance</vt:lpstr>
      <vt:lpstr>Проблема</vt:lpstr>
      <vt:lpstr>Решение</vt:lpstr>
      <vt:lpstr>Ценность</vt:lpstr>
      <vt:lpstr>Целевой сегмент</vt:lpstr>
      <vt:lpstr>Сценарий покупки</vt:lpstr>
      <vt:lpstr>Альтернативный сценарий</vt:lpstr>
      <vt:lpstr>Ядро MVP</vt:lpstr>
      <vt:lpstr>Backlog MVP</vt:lpstr>
      <vt:lpstr>Нефункциональные требования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Кан</dc:creator>
  <cp:lastModifiedBy>Артём Кан</cp:lastModifiedBy>
  <cp:revision>1</cp:revision>
  <dcterms:created xsi:type="dcterms:W3CDTF">2026-03-19T11:25:17Z</dcterms:created>
  <dcterms:modified xsi:type="dcterms:W3CDTF">2026-03-19T12:35:36Z</dcterms:modified>
</cp:coreProperties>
</file>