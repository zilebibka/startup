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6" r:id="rId3"/>
    <p:sldId id="258" r:id="rId4"/>
    <p:sldId id="265" r:id="rId5"/>
    <p:sldId id="266" r:id="rId6"/>
    <p:sldId id="267" r:id="rId7"/>
    <p:sldId id="262" r:id="rId8"/>
    <p:sldId id="260" r:id="rId9"/>
    <p:sldId id="26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350"/>
    <a:srgbClr val="2F9E79"/>
    <a:srgbClr val="6FC2A5"/>
    <a:srgbClr val="FFFFFF"/>
    <a:srgbClr val="0CA5A0"/>
    <a:srgbClr val="0653A3"/>
    <a:srgbClr val="2C7ED6"/>
    <a:srgbClr val="4299E1"/>
    <a:srgbClr val="FE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2994" autoAdjust="0"/>
  </p:normalViewPr>
  <p:slideViewPr>
    <p:cSldViewPr snapToGrid="0">
      <p:cViewPr varScale="1">
        <p:scale>
          <a:sx n="89" d="100"/>
          <a:sy n="89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15457-7654-4F7F-8DAF-E22BBB1D37EA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C4CFA-4719-4B61-A69B-B9B75EA407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56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C4CFA-4719-4B61-A69B-B9B75EA407D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097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C4CFA-4719-4B61-A69B-B9B75EA407D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74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5A74AD-138D-0931-2CB6-4260BEE72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06867A-B19A-58D0-1583-ACF8D5691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7E33C0-9A21-40CC-9BEF-892B439A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E282D-B207-AD7E-CF32-569E82A18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17C3B4-61F9-F958-7A1D-F5238AA5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7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E2846-01A9-BB1E-95BC-2BD2FE5E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5F2F61-1CDD-E4CD-C2F8-146A8A912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11DE8D-03CE-AB5A-4A98-6790C85F3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9F8EB1-28EB-1F5D-017C-4B24BB88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56941D-13FE-C331-73F0-EDA0DC81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82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19989E-7677-58EF-CDAC-780C866F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EBFB4F-1F12-D874-0641-BC05825D6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5271F9-91DF-5965-C3CA-C90E96F48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4818B9-6530-E8F4-AE61-113FED65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72DB6-A51A-8F43-BC92-FC34F53E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0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568A7-D672-C5A7-9DE0-79EAB86E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6A90C-384A-C15B-7CD5-9DA4E1375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795970-31CF-FCC9-01E6-F24E00C2C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B065E3-2F72-4E06-6C31-786FB605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908FE1-82D5-180E-2777-1D1D0D7A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338D62-BD0B-F56D-1EB7-427A58558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43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FE923-E610-3069-3A81-E1CEA66C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F2162E-E1A0-C915-C099-DDAF3D5DA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DF52EA-E8D4-25A2-5902-A24BEAE1C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910A8C-7CD8-966F-0E1C-CC28ACB24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53EDF9-9649-2AF7-B7DC-D72E34213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22B9F8-7003-EBCA-9A36-300415358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2F4E03C-1D19-DBF7-DB1D-3128AF41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7D8A3A-BA9A-C467-9824-F790F9B9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69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E1906-F3F5-5E3A-5404-BE2379CBB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02CBF3-90A1-5A8D-1224-1551CBD1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EDF832-5A7A-0513-99D6-C6C9E30F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B2FA3B-D296-2CAD-9185-4B4908AF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61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32387E-01AB-007E-9232-AC518225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0651FC8-21D2-68DB-2B93-730B3ADB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6798F5-1EF7-4C8D-033C-26170880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25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44587F-C8F7-3663-9D0A-C40632B6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1342C4-5023-B3E5-50D9-181300BE6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642D4B-075A-8C93-B60F-D641FEDEC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0618A8-630A-A0E2-7F3F-B4C6EEE0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D29EE8-7BAC-B1AC-ED00-8B48B83C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5BB934-6D40-0F0D-0416-C76967160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67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65339-FBE9-340E-5F99-5C9039634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9390B63-D5F3-2275-CC4B-2EBA158E8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74CA32-5F41-BDBD-F731-BEE85308F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377849-2266-F37D-9058-A3D7A866C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D08CF1-8C90-E59B-9EB8-00D1C0A28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12118E-876D-DD5F-176B-C536B0FA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68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AEC99-C86F-146C-11A3-1C2A2808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78B6C7-8CE3-EAA2-7E54-89573DBF1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11508A-A6E7-42FC-74B9-DDDE0456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1ADC3B-0C59-A9B4-D2AF-00B8850D0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1D406C-AD3B-717C-6DAB-CB3E8409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82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832B8A-22B3-8BB1-5241-DF7FE2C84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0D5B64-98A3-82CD-31BF-8E43CDBB9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F8BCF4-B26C-99CD-96C7-AC97B5561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75B260-34F5-737E-1996-57C899C1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BA577B-2772-1EB8-BDE4-8DAD22AA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37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1E58F-814B-EF59-8FC4-1587DF83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2AD964-04DD-9C40-1BCD-78EF9D259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4F11B5-B7BD-0AD1-EBBC-3ECBAD0B6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74606-FA95-42E0-82DE-4EF459D2E10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235B84-F787-0445-54BD-48DCE7E15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3A691A-6F5A-47D8-EEC7-08B26E457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EA391-D658-481B-9975-972D6A48B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24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2E158F-86A5-D420-7767-60EA8B60C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3486" y="2981897"/>
            <a:ext cx="9838267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800" b="1" dirty="0"/>
              <a:t>Предмет: </a:t>
            </a:r>
            <a:r>
              <a:rPr lang="ru-RU" sz="2800" dirty="0"/>
              <a:t>Стартап в информационных технологиях. </a:t>
            </a:r>
          </a:p>
          <a:p>
            <a:pPr algn="l"/>
            <a:r>
              <a:rPr lang="ru-RU" sz="2800" b="1" dirty="0"/>
              <a:t>Неделя</a:t>
            </a:r>
            <a:r>
              <a:rPr lang="ru-RU" sz="2800" dirty="0"/>
              <a:t> – 5.</a:t>
            </a:r>
          </a:p>
          <a:p>
            <a:pPr algn="l"/>
            <a:r>
              <a:rPr lang="ru-RU" sz="2800" b="1" dirty="0"/>
              <a:t>Выполняли: </a:t>
            </a:r>
            <a:r>
              <a:rPr lang="ru-RU" sz="2800" dirty="0"/>
              <a:t>Артём Кан, Денис </a:t>
            </a:r>
            <a:r>
              <a:rPr lang="ru-RU" sz="2800" dirty="0" err="1"/>
              <a:t>Ярошинский</a:t>
            </a:r>
            <a:r>
              <a:rPr lang="ru-RU" sz="2800" dirty="0"/>
              <a:t>, Максим Боголепов, Егор Афонин. </a:t>
            </a:r>
          </a:p>
        </p:txBody>
      </p:sp>
      <p:pic>
        <p:nvPicPr>
          <p:cNvPr id="1026" name="Picture 2" descr="Marketplace – Бесплатные иконки: коммерция">
            <a:extLst>
              <a:ext uri="{FF2B5EF4-FFF2-40B4-BE49-F238E27FC236}">
                <a16:creationId xmlns:a16="http://schemas.microsoft.com/office/drawing/2014/main" id="{EFA3FE62-555E-E557-72EA-B696C25A9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83262"/>
            <a:ext cx="2065867" cy="206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326581-D124-3964-629B-F77365F1B755}"/>
              </a:ext>
            </a:extLst>
          </p:cNvPr>
          <p:cNvSpPr txBox="1"/>
          <p:nvPr/>
        </p:nvSpPr>
        <p:spPr>
          <a:xfrm>
            <a:off x="3589867" y="916030"/>
            <a:ext cx="801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i="0" dirty="0">
                <a:effectLst/>
              </a:rPr>
              <a:t>Тема: Маркетплейс мертвого кода</a:t>
            </a:r>
          </a:p>
          <a:p>
            <a:pPr algn="ctr"/>
            <a:r>
              <a:rPr lang="ru-RU" sz="3600" b="1" dirty="0"/>
              <a:t>             </a:t>
            </a:r>
            <a:r>
              <a:rPr lang="ru-RU" sz="3600" b="1" i="0" dirty="0">
                <a:effectLst/>
              </a:rPr>
              <a:t> с </a:t>
            </a:r>
            <a:r>
              <a:rPr lang="en-US" sz="3600" b="1" dirty="0"/>
              <a:t>AI</a:t>
            </a:r>
            <a:r>
              <a:rPr lang="ru-RU" sz="3600" b="1" dirty="0"/>
              <a:t>-аудитом.</a:t>
            </a:r>
          </a:p>
        </p:txBody>
      </p:sp>
    </p:spTree>
    <p:extLst>
      <p:ext uri="{BB962C8B-B14F-4D97-AF65-F5344CB8AC3E}">
        <p14:creationId xmlns:p14="http://schemas.microsoft.com/office/powerpoint/2010/main" val="8762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Икона надгробного камня идеально подходит для мемориальных и похоронных тем  | Премиум вектор">
            <a:extLst>
              <a:ext uri="{FF2B5EF4-FFF2-40B4-BE49-F238E27FC236}">
                <a16:creationId xmlns:a16="http://schemas.microsoft.com/office/drawing/2014/main" id="{50C1C68B-A13B-64BA-7AC9-B202D6C34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280" y="4494256"/>
            <a:ext cx="2225305" cy="222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48B6187-F6ED-30FB-52BC-A9B97F3A913B}"/>
              </a:ext>
            </a:extLst>
          </p:cNvPr>
          <p:cNvSpPr/>
          <p:nvPr/>
        </p:nvSpPr>
        <p:spPr>
          <a:xfrm>
            <a:off x="4388089" y="4850122"/>
            <a:ext cx="5572945" cy="109124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7AD6B-22A0-453C-1D90-BFCF393F4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466"/>
            <a:ext cx="9144000" cy="68580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Montserrat bold"/>
              </a:rPr>
              <a:t>Problem (</a:t>
            </a:r>
            <a:r>
              <a:rPr lang="ru-RU" sz="4000" b="1" dirty="0">
                <a:latin typeface="Montserrat bold"/>
              </a:rPr>
              <a:t>Потребность)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D0E8E8-163D-50FB-F855-6B71EA158E64}"/>
              </a:ext>
            </a:extLst>
          </p:cNvPr>
          <p:cNvSpPr txBox="1"/>
          <p:nvPr/>
        </p:nvSpPr>
        <p:spPr>
          <a:xfrm>
            <a:off x="571500" y="822534"/>
            <a:ext cx="9389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effectLst/>
              </a:rPr>
              <a:t> Проблема: «Кладбище кода» — потеря ресурсов и высокие барьеры старта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BBF93-4FCA-7C06-AFE2-0BFB45082DCA}"/>
              </a:ext>
            </a:extLst>
          </p:cNvPr>
          <p:cNvSpPr txBox="1"/>
          <p:nvPr/>
        </p:nvSpPr>
        <p:spPr>
          <a:xfrm>
            <a:off x="586743" y="2185932"/>
            <a:ext cx="98178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Контекст (</a:t>
            </a:r>
            <a:r>
              <a:rPr lang="ru-RU" sz="2400" b="1" dirty="0" err="1"/>
              <a:t>Sunk</a:t>
            </a:r>
            <a:r>
              <a:rPr lang="ru-RU" sz="2400" b="1" dirty="0"/>
              <a:t> </a:t>
            </a:r>
            <a:r>
              <a:rPr lang="ru-RU" sz="2400" b="1" dirty="0" err="1"/>
              <a:t>Costs</a:t>
            </a:r>
            <a:r>
              <a:rPr lang="ru-RU" sz="2400" b="1" dirty="0"/>
              <a:t>): </a:t>
            </a:r>
            <a:r>
              <a:rPr lang="ru-RU" sz="2400" dirty="0"/>
              <a:t>Из-за выгорания или кассовых разрывов, код умирает «в столе».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Боль (Риски): </a:t>
            </a:r>
            <a:r>
              <a:rPr lang="ru-RU" sz="2400" dirty="0"/>
              <a:t>Аудит стоит дороже самой покупки.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Последствия: </a:t>
            </a:r>
            <a:r>
              <a:rPr lang="ru-RU" sz="2400" dirty="0"/>
              <a:t>Экономика теряет миллионы человеко-часов. 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BFC2748-7F93-5E1E-4440-B10912E01BEF}"/>
              </a:ext>
            </a:extLst>
          </p:cNvPr>
          <p:cNvCxnSpPr>
            <a:cxnSpLocks/>
          </p:cNvCxnSpPr>
          <p:nvPr/>
        </p:nvCxnSpPr>
        <p:spPr>
          <a:xfrm>
            <a:off x="-592667" y="1830065"/>
            <a:ext cx="1319106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4B27B50-D665-3B2E-7E93-121C0E6B918C}"/>
              </a:ext>
            </a:extLst>
          </p:cNvPr>
          <p:cNvCxnSpPr>
            <a:cxnSpLocks/>
          </p:cNvCxnSpPr>
          <p:nvPr/>
        </p:nvCxnSpPr>
        <p:spPr>
          <a:xfrm>
            <a:off x="-452846" y="734267"/>
            <a:ext cx="1334757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DD15EE3-D4EC-C108-B3CF-FEB9E8550C57}"/>
              </a:ext>
            </a:extLst>
          </p:cNvPr>
          <p:cNvCxnSpPr>
            <a:cxnSpLocks/>
          </p:cNvCxnSpPr>
          <p:nvPr/>
        </p:nvCxnSpPr>
        <p:spPr>
          <a:xfrm>
            <a:off x="571500" y="734267"/>
            <a:ext cx="0" cy="64241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08A2C0C-1EE0-FBE4-C4CB-F566B9ACB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24770"/>
            <a:ext cx="556259" cy="162594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118D2A-E9FE-CA03-EF45-92A3F7404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581" y="5061285"/>
            <a:ext cx="826701" cy="1091245"/>
          </a:xfrm>
          <a:prstGeom prst="rect">
            <a:avLst/>
          </a:prstGeom>
        </p:spPr>
      </p:pic>
      <p:pic>
        <p:nvPicPr>
          <p:cNvPr id="1028" name="Picture 4" descr="Логотип github – Бесплатные иконки: социальные медиа">
            <a:extLst>
              <a:ext uri="{FF2B5EF4-FFF2-40B4-BE49-F238E27FC236}">
                <a16:creationId xmlns:a16="http://schemas.microsoft.com/office/drawing/2014/main" id="{4C2A8C3E-AA6F-A8D2-8E8C-729D66BF0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145" y="5061285"/>
            <a:ext cx="825137" cy="82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744F0A-BDCA-44FE-6326-08E1A718EA73}"/>
              </a:ext>
            </a:extLst>
          </p:cNvPr>
          <p:cNvSpPr txBox="1"/>
          <p:nvPr/>
        </p:nvSpPr>
        <p:spPr>
          <a:xfrm>
            <a:off x="4569097" y="5072578"/>
            <a:ext cx="5391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92% стартапов в РФ закрываются в первые 3 года, оставляя после себя неиспользованный IP.</a:t>
            </a:r>
          </a:p>
        </p:txBody>
      </p:sp>
    </p:spTree>
    <p:extLst>
      <p:ext uri="{BB962C8B-B14F-4D97-AF65-F5344CB8AC3E}">
        <p14:creationId xmlns:p14="http://schemas.microsoft.com/office/powerpoint/2010/main" val="43076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52D0F89-0C02-10A3-AEC2-4DD3CF7C15F7}"/>
              </a:ext>
            </a:extLst>
          </p:cNvPr>
          <p:cNvSpPr/>
          <p:nvPr/>
        </p:nvSpPr>
        <p:spPr>
          <a:xfrm>
            <a:off x="1690279" y="4464835"/>
            <a:ext cx="7418615" cy="18273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D4A04-2B8B-FE58-D7A5-B2B9B1C6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9018"/>
          </a:xfrm>
        </p:spPr>
        <p:txBody>
          <a:bodyPr>
            <a:normAutofit/>
          </a:bodyPr>
          <a:lstStyle/>
          <a:p>
            <a:pPr algn="ctr"/>
            <a:r>
              <a:rPr lang="en-US" sz="4000" b="1" i="0" dirty="0">
                <a:effectLst/>
                <a:latin typeface="Montserrat bold"/>
              </a:rPr>
              <a:t>Customer (</a:t>
            </a:r>
            <a:r>
              <a:rPr lang="ru-RU" sz="4000" b="1" i="0" dirty="0">
                <a:effectLst/>
                <a:latin typeface="Montserrat bold"/>
              </a:rPr>
              <a:t>Целевой клиент)</a:t>
            </a:r>
            <a:endParaRPr lang="ru-RU" sz="4000" dirty="0">
              <a:latin typeface="Montserrat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BCF570-A402-3DDF-3978-3CE93C95748A}"/>
              </a:ext>
            </a:extLst>
          </p:cNvPr>
          <p:cNvSpPr txBox="1"/>
          <p:nvPr/>
        </p:nvSpPr>
        <p:spPr>
          <a:xfrm>
            <a:off x="2308859" y="808185"/>
            <a:ext cx="75742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Целевой сегмент: «Охотники за быстрым стартом» (SMB и веб-студии)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B252E6-2B3D-B4F7-7491-6B6C27C1F9DB}"/>
              </a:ext>
            </a:extLst>
          </p:cNvPr>
          <p:cNvSpPr txBox="1"/>
          <p:nvPr/>
        </p:nvSpPr>
        <p:spPr>
          <a:xfrm>
            <a:off x="322217" y="1984429"/>
            <a:ext cx="99958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Сегмент (B2B/Pro):</a:t>
            </a:r>
            <a:r>
              <a:rPr lang="ru-RU" sz="2000" dirty="0"/>
              <a:t> Небольшие веб-студии и серийные предприниматели в РФ.</a:t>
            </a:r>
          </a:p>
          <a:p>
            <a:endParaRPr lang="ru-RU" sz="2000" dirty="0"/>
          </a:p>
          <a:p>
            <a:r>
              <a:rPr lang="ru-RU" sz="2000" b="1" dirty="0"/>
              <a:t>Портрет:</a:t>
            </a:r>
            <a:r>
              <a:rPr lang="ru-RU" sz="2000" dirty="0"/>
              <a:t> Бюджет на запуск 100–500 тыс. руб., команда 1–3 человека. Ищут способы сократить </a:t>
            </a:r>
            <a:r>
              <a:rPr lang="ru-RU" sz="2000" dirty="0" err="1"/>
              <a:t>косты</a:t>
            </a:r>
            <a:r>
              <a:rPr lang="ru-RU" sz="2000" dirty="0"/>
              <a:t> на разработку MVP.</a:t>
            </a:r>
          </a:p>
          <a:p>
            <a:endParaRPr lang="ru-RU" sz="2000" dirty="0"/>
          </a:p>
          <a:p>
            <a:r>
              <a:rPr lang="ru-RU" sz="2000" b="1" dirty="0"/>
              <a:t>Ключевой барьер:</a:t>
            </a:r>
            <a:r>
              <a:rPr lang="ru-RU" sz="2000" dirty="0"/>
              <a:t> «А вдруг код кривой и я потрачу больше на его исправление?» (Решение: наш AI-аудит).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D230466-7E56-6FF3-6C6A-77752693E0CB}"/>
              </a:ext>
            </a:extLst>
          </p:cNvPr>
          <p:cNvCxnSpPr>
            <a:cxnSpLocks/>
          </p:cNvCxnSpPr>
          <p:nvPr/>
        </p:nvCxnSpPr>
        <p:spPr>
          <a:xfrm>
            <a:off x="-609600" y="1750791"/>
            <a:ext cx="134112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2D4A4F0-AC01-FB2C-1912-B3D66D03DFFD}"/>
              </a:ext>
            </a:extLst>
          </p:cNvPr>
          <p:cNvSpPr txBox="1"/>
          <p:nvPr/>
        </p:nvSpPr>
        <p:spPr>
          <a:xfrm>
            <a:off x="1829615" y="4535703"/>
            <a:ext cx="2846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JTBD (Job To Be Done):</a:t>
            </a:r>
            <a:endParaRPr lang="ru-RU" sz="2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8A0E86-49BF-556D-64AF-67623C878FD2}"/>
              </a:ext>
            </a:extLst>
          </p:cNvPr>
          <p:cNvSpPr txBox="1"/>
          <p:nvPr/>
        </p:nvSpPr>
        <p:spPr>
          <a:xfrm>
            <a:off x="2261778" y="4936541"/>
            <a:ext cx="67099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«Когда мне нужно быстро запустить MVP для проверки гипотезы или клиента, я хочу купить готовую кодовую базу (</a:t>
            </a:r>
            <a:r>
              <a:rPr lang="ru-RU" dirty="0" err="1"/>
              <a:t>backend</a:t>
            </a:r>
            <a:r>
              <a:rPr lang="ru-RU" dirty="0"/>
              <a:t>/</a:t>
            </a:r>
            <a:r>
              <a:rPr lang="ru-RU" dirty="0" err="1"/>
              <a:t>frontend</a:t>
            </a:r>
            <a:r>
              <a:rPr lang="ru-RU" dirty="0"/>
              <a:t>), чтобы не тратить 3 месяца и 1 млн руб. на разработку с нуля».</a:t>
            </a:r>
          </a:p>
        </p:txBody>
      </p:sp>
      <p:pic>
        <p:nvPicPr>
          <p:cNvPr id="1030" name="Picture 6" descr="клиент значок">
            <a:extLst>
              <a:ext uri="{FF2B5EF4-FFF2-40B4-BE49-F238E27FC236}">
                <a16:creationId xmlns:a16="http://schemas.microsoft.com/office/drawing/2014/main" id="{61BCCA62-AA4D-9638-3084-38DF24647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373" y="1716304"/>
            <a:ext cx="2819399" cy="281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значок транзакции | Премиум вектор">
            <a:extLst>
              <a:ext uri="{FF2B5EF4-FFF2-40B4-BE49-F238E27FC236}">
                <a16:creationId xmlns:a16="http://schemas.microsoft.com/office/drawing/2014/main" id="{E3AA7DE1-5F96-B79B-088F-002E42C6C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40" y="4420544"/>
            <a:ext cx="1690279" cy="169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67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8" grpId="0"/>
      <p:bldP spid="16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Галочка – Бесплатные иконки: интерфейс">
            <a:extLst>
              <a:ext uri="{FF2B5EF4-FFF2-40B4-BE49-F238E27FC236}">
                <a16:creationId xmlns:a16="http://schemas.microsoft.com/office/drawing/2014/main" id="{3A199BDC-A33F-AD5E-BB74-4970C8204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289" y="1890571"/>
            <a:ext cx="937410" cy="93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Галочка – Бесплатные иконки: интерфейс">
            <a:extLst>
              <a:ext uri="{FF2B5EF4-FFF2-40B4-BE49-F238E27FC236}">
                <a16:creationId xmlns:a16="http://schemas.microsoft.com/office/drawing/2014/main" id="{7EFC6E4C-E40D-B2D1-FAF5-B3126C279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493" y="1848288"/>
            <a:ext cx="937410" cy="93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Крестик – Бесплатные иконки: интерфейс">
            <a:extLst>
              <a:ext uri="{FF2B5EF4-FFF2-40B4-BE49-F238E27FC236}">
                <a16:creationId xmlns:a16="http://schemas.microsoft.com/office/drawing/2014/main" id="{9B77F04B-42E3-1105-390F-5F7607DA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301" y="4824550"/>
            <a:ext cx="937409" cy="937409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Крестик – Бесплатные иконки: интерфейс">
            <a:extLst>
              <a:ext uri="{FF2B5EF4-FFF2-40B4-BE49-F238E27FC236}">
                <a16:creationId xmlns:a16="http://schemas.microsoft.com/office/drawing/2014/main" id="{680DD2BD-B02C-C718-AAE6-8F38ABCB6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289" y="2847445"/>
            <a:ext cx="937409" cy="937409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Крестик – Бесплатные иконки: интерфейс">
            <a:extLst>
              <a:ext uri="{FF2B5EF4-FFF2-40B4-BE49-F238E27FC236}">
                <a16:creationId xmlns:a16="http://schemas.microsoft.com/office/drawing/2014/main" id="{2FEB6128-A9FF-88F4-1557-B719D9EF8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304" y="3802983"/>
            <a:ext cx="937409" cy="937409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Крестик – Бесплатные иконки: интерфейс">
            <a:extLst>
              <a:ext uri="{FF2B5EF4-FFF2-40B4-BE49-F238E27FC236}">
                <a16:creationId xmlns:a16="http://schemas.microsoft.com/office/drawing/2014/main" id="{949C2436-5ECE-CFDE-47CF-151819D3B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888" y="2804502"/>
            <a:ext cx="937409" cy="937409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Крестик – Бесплатные иконки: интерфейс">
            <a:extLst>
              <a:ext uri="{FF2B5EF4-FFF2-40B4-BE49-F238E27FC236}">
                <a16:creationId xmlns:a16="http://schemas.microsoft.com/office/drawing/2014/main" id="{C325C2F0-5CEE-14A9-D450-4983018E6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324" y="3801633"/>
            <a:ext cx="937409" cy="937409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Галочка – Бесплатные иконки: интерфейс">
            <a:extLst>
              <a:ext uri="{FF2B5EF4-FFF2-40B4-BE49-F238E27FC236}">
                <a16:creationId xmlns:a16="http://schemas.microsoft.com/office/drawing/2014/main" id="{AEDCB962-AECF-B227-4B29-590CE249B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457" y="4811415"/>
            <a:ext cx="937410" cy="93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Смайлик-эмодзи ❗ 'Красный восклицательный знак' ВК ...">
            <a:extLst>
              <a:ext uri="{FF2B5EF4-FFF2-40B4-BE49-F238E27FC236}">
                <a16:creationId xmlns:a16="http://schemas.microsoft.com/office/drawing/2014/main" id="{42C0F81F-BD74-8782-2362-D0B7CABD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" contras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250" y="4863564"/>
            <a:ext cx="927015" cy="92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Крестик – Бесплатные иконки: интерфейс">
            <a:extLst>
              <a:ext uri="{FF2B5EF4-FFF2-40B4-BE49-F238E27FC236}">
                <a16:creationId xmlns:a16="http://schemas.microsoft.com/office/drawing/2014/main" id="{9A64206C-A80D-56D0-C0D4-A6F4E4AAF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054" y="3804800"/>
            <a:ext cx="937409" cy="937409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Крестик – Бесплатные иконки: интерфейс">
            <a:extLst>
              <a:ext uri="{FF2B5EF4-FFF2-40B4-BE49-F238E27FC236}">
                <a16:creationId xmlns:a16="http://schemas.microsoft.com/office/drawing/2014/main" id="{4A4BFF06-AED0-A304-49A3-9CF61A24D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054" y="2842254"/>
            <a:ext cx="937409" cy="937409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5BBD74-3D77-F875-AE4D-F4D022F8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/>
              <a:t>Углубление конкурентного анализа</a:t>
            </a:r>
            <a:endParaRPr lang="ru-RU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F93AD-3390-47CB-E341-D18B39043C46}"/>
              </a:ext>
            </a:extLst>
          </p:cNvPr>
          <p:cNvSpPr txBox="1"/>
          <p:nvPr/>
        </p:nvSpPr>
        <p:spPr>
          <a:xfrm>
            <a:off x="1463040" y="5087379"/>
            <a:ext cx="1236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/>
              <a:t>Kowork</a:t>
            </a:r>
            <a:endParaRPr lang="ru-RU" sz="2400" b="1" i="1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1B214C9-E1BA-D7A6-B7D4-19E4AC5DE14C}"/>
              </a:ext>
            </a:extLst>
          </p:cNvPr>
          <p:cNvCxnSpPr/>
          <p:nvPr/>
        </p:nvCxnSpPr>
        <p:spPr>
          <a:xfrm>
            <a:off x="1463040" y="1811383"/>
            <a:ext cx="896982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F70B42D-234A-90D8-C54F-92720F5C6A71}"/>
              </a:ext>
            </a:extLst>
          </p:cNvPr>
          <p:cNvCxnSpPr/>
          <p:nvPr/>
        </p:nvCxnSpPr>
        <p:spPr>
          <a:xfrm>
            <a:off x="1463040" y="2808515"/>
            <a:ext cx="896982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98D3586-0F98-FF8B-F92F-52A0AD91DE3C}"/>
              </a:ext>
            </a:extLst>
          </p:cNvPr>
          <p:cNvCxnSpPr/>
          <p:nvPr/>
        </p:nvCxnSpPr>
        <p:spPr>
          <a:xfrm>
            <a:off x="1463040" y="3770359"/>
            <a:ext cx="896982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1D08CC1-205D-4964-50C9-B6A45C242ED5}"/>
              </a:ext>
            </a:extLst>
          </p:cNvPr>
          <p:cNvCxnSpPr/>
          <p:nvPr/>
        </p:nvCxnSpPr>
        <p:spPr>
          <a:xfrm>
            <a:off x="1463040" y="4776650"/>
            <a:ext cx="896982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6E1C4C2-AC4C-9C22-563C-ACCACCD4E172}"/>
              </a:ext>
            </a:extLst>
          </p:cNvPr>
          <p:cNvCxnSpPr/>
          <p:nvPr/>
        </p:nvCxnSpPr>
        <p:spPr>
          <a:xfrm>
            <a:off x="1463040" y="5798218"/>
            <a:ext cx="896982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DE4ABB-4405-914F-5AD3-7E8BA85D0E24}"/>
              </a:ext>
            </a:extLst>
          </p:cNvPr>
          <p:cNvSpPr txBox="1"/>
          <p:nvPr/>
        </p:nvSpPr>
        <p:spPr>
          <a:xfrm>
            <a:off x="1635579" y="1280460"/>
            <a:ext cx="1183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+mj-lt"/>
              </a:rPr>
              <a:t>Название </a:t>
            </a:r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B0449A13-2BF4-E59A-447B-ADBF6C38CB24}"/>
              </a:ext>
            </a:extLst>
          </p:cNvPr>
          <p:cNvCxnSpPr>
            <a:cxnSpLocks/>
          </p:cNvCxnSpPr>
          <p:nvPr/>
        </p:nvCxnSpPr>
        <p:spPr>
          <a:xfrm flipV="1">
            <a:off x="2937933" y="1111595"/>
            <a:ext cx="0" cy="467134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D0DA73-F025-EF2F-FD6F-C184BF410308}"/>
              </a:ext>
            </a:extLst>
          </p:cNvPr>
          <p:cNvSpPr txBox="1"/>
          <p:nvPr/>
        </p:nvSpPr>
        <p:spPr>
          <a:xfrm>
            <a:off x="1463040" y="4081088"/>
            <a:ext cx="1286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GitHub</a:t>
            </a:r>
            <a:endParaRPr lang="ru-RU" sz="2400" b="1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A3EF81-74B3-B461-D021-1CC5A8DFF3FA}"/>
              </a:ext>
            </a:extLst>
          </p:cNvPr>
          <p:cNvSpPr txBox="1"/>
          <p:nvPr/>
        </p:nvSpPr>
        <p:spPr>
          <a:xfrm>
            <a:off x="1608728" y="3083091"/>
            <a:ext cx="472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AI</a:t>
            </a:r>
            <a:endParaRPr lang="ru-RU" sz="2400" b="1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C63020-BC46-29BF-A29B-D50182F3BC37}"/>
              </a:ext>
            </a:extLst>
          </p:cNvPr>
          <p:cNvSpPr txBox="1"/>
          <p:nvPr/>
        </p:nvSpPr>
        <p:spPr>
          <a:xfrm>
            <a:off x="1562584" y="1888509"/>
            <a:ext cx="1329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2</a:t>
            </a:r>
            <a:r>
              <a:rPr lang="en-US" sz="2400" b="1" i="1" baseline="30000" dirty="0"/>
              <a:t>nd</a:t>
            </a:r>
            <a:r>
              <a:rPr lang="en-US" sz="2400" b="1" i="1" dirty="0"/>
              <a:t> chance</a:t>
            </a:r>
            <a:endParaRPr lang="ru-RU" sz="2400" b="1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7D108-39B7-320F-C6C1-98390D617644}"/>
              </a:ext>
            </a:extLst>
          </p:cNvPr>
          <p:cNvSpPr txBox="1"/>
          <p:nvPr/>
        </p:nvSpPr>
        <p:spPr>
          <a:xfrm>
            <a:off x="2818795" y="1275553"/>
            <a:ext cx="2158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  <a:latin typeface="+mj-lt"/>
              </a:rPr>
              <a:t>Тип конкурента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E7397AE6-D87E-05A6-968B-B5E5FE3BB2A8}"/>
              </a:ext>
            </a:extLst>
          </p:cNvPr>
          <p:cNvCxnSpPr>
            <a:cxnSpLocks/>
          </p:cNvCxnSpPr>
          <p:nvPr/>
        </p:nvCxnSpPr>
        <p:spPr>
          <a:xfrm flipV="1">
            <a:off x="4851399" y="1126872"/>
            <a:ext cx="0" cy="467134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8A8FA2E-B192-BFF4-A811-6EF46124C964}"/>
              </a:ext>
            </a:extLst>
          </p:cNvPr>
          <p:cNvSpPr txBox="1"/>
          <p:nvPr/>
        </p:nvSpPr>
        <p:spPr>
          <a:xfrm>
            <a:off x="2996030" y="4976106"/>
            <a:ext cx="1803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</a:rPr>
              <a:t>Прямой (местный)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62B550-F038-7458-9B16-8CACC03C5F3B}"/>
              </a:ext>
            </a:extLst>
          </p:cNvPr>
          <p:cNvSpPr txBox="1"/>
          <p:nvPr/>
        </p:nvSpPr>
        <p:spPr>
          <a:xfrm>
            <a:off x="2924393" y="3994227"/>
            <a:ext cx="18033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</a:rPr>
              <a:t>Косвенный / Замена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44AD13-7C1D-3D49-6EB7-9014509FE8A1}"/>
              </a:ext>
            </a:extLst>
          </p:cNvPr>
          <p:cNvSpPr txBox="1"/>
          <p:nvPr/>
        </p:nvSpPr>
        <p:spPr>
          <a:xfrm>
            <a:off x="3248647" y="3000972"/>
            <a:ext cx="1329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</a:rPr>
              <a:t>Замена (Тех</a:t>
            </a:r>
            <a:r>
              <a:rPr lang="en-US" b="1" dirty="0"/>
              <a:t>.</a:t>
            </a:r>
            <a:r>
              <a:rPr lang="ru-RU" sz="1800" b="1" dirty="0">
                <a:effectLst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95914D-2A02-7782-FAA5-CEA517EE7D7C}"/>
              </a:ext>
            </a:extLst>
          </p:cNvPr>
          <p:cNvSpPr txBox="1"/>
          <p:nvPr/>
        </p:nvSpPr>
        <p:spPr>
          <a:xfrm>
            <a:off x="4885280" y="1278185"/>
            <a:ext cx="2009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  <a:latin typeface="+mj-lt"/>
              </a:rPr>
              <a:t>Целевой сегмент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E9F6AC49-1E2F-6753-55DD-BCF912B12104}"/>
              </a:ext>
            </a:extLst>
          </p:cNvPr>
          <p:cNvCxnSpPr>
            <a:cxnSpLocks/>
          </p:cNvCxnSpPr>
          <p:nvPr/>
        </p:nvCxnSpPr>
        <p:spPr>
          <a:xfrm flipV="1">
            <a:off x="6928394" y="1126872"/>
            <a:ext cx="0" cy="467134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9A1E8F7-DAAB-1C6D-2E41-5BBD8B275FF8}"/>
              </a:ext>
            </a:extLst>
          </p:cNvPr>
          <p:cNvSpPr txBox="1"/>
          <p:nvPr/>
        </p:nvSpPr>
        <p:spPr>
          <a:xfrm>
            <a:off x="4997309" y="3919462"/>
            <a:ext cx="1788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</a:rPr>
              <a:t>Все разработчики.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705CC2-033E-E9CC-F421-CEAF55FC87AD}"/>
              </a:ext>
            </a:extLst>
          </p:cNvPr>
          <p:cNvSpPr txBox="1"/>
          <p:nvPr/>
        </p:nvSpPr>
        <p:spPr>
          <a:xfrm>
            <a:off x="4769755" y="2977088"/>
            <a:ext cx="22642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</a:rPr>
              <a:t>Разработчики любого уровня.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22284B-D571-A832-F8BD-321E180319FB}"/>
              </a:ext>
            </a:extLst>
          </p:cNvPr>
          <p:cNvSpPr txBox="1"/>
          <p:nvPr/>
        </p:nvSpPr>
        <p:spPr>
          <a:xfrm>
            <a:off x="5063676" y="4966547"/>
            <a:ext cx="1881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М</a:t>
            </a:r>
            <a:r>
              <a:rPr lang="ru-RU" sz="1800" b="1" dirty="0">
                <a:effectLst/>
              </a:rPr>
              <a:t>алый бизнес, веб-мастера.</a:t>
            </a:r>
            <a:endParaRPr lang="ru-R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A0AAD2-A4C6-5526-1B98-B0A125858F44}"/>
              </a:ext>
            </a:extLst>
          </p:cNvPr>
          <p:cNvSpPr txBox="1"/>
          <p:nvPr/>
        </p:nvSpPr>
        <p:spPr>
          <a:xfrm>
            <a:off x="7224713" y="1280460"/>
            <a:ext cx="15951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  <a:latin typeface="+mj-lt"/>
              </a:rPr>
              <a:t>Монетизация</a:t>
            </a:r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2D1EBBA2-328D-AD59-CA1D-2FCEEA923FE7}"/>
              </a:ext>
            </a:extLst>
          </p:cNvPr>
          <p:cNvCxnSpPr>
            <a:cxnSpLocks/>
          </p:cNvCxnSpPr>
          <p:nvPr/>
        </p:nvCxnSpPr>
        <p:spPr>
          <a:xfrm flipV="1">
            <a:off x="9153435" y="1126872"/>
            <a:ext cx="0" cy="467134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39C2203-B600-28F9-D8CA-3159E18BF47A}"/>
              </a:ext>
            </a:extLst>
          </p:cNvPr>
          <p:cNvSpPr txBox="1"/>
          <p:nvPr/>
        </p:nvSpPr>
        <p:spPr>
          <a:xfrm>
            <a:off x="6944728" y="4966548"/>
            <a:ext cx="2264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</a:rPr>
              <a:t>Комиссия платформы (~20%).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097DDE-7B9A-1D23-448A-AA884A4C4298}"/>
              </a:ext>
            </a:extLst>
          </p:cNvPr>
          <p:cNvSpPr txBox="1"/>
          <p:nvPr/>
        </p:nvSpPr>
        <p:spPr>
          <a:xfrm>
            <a:off x="7292575" y="3986076"/>
            <a:ext cx="1514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</a:rPr>
              <a:t>Бесплатно (для </a:t>
            </a:r>
            <a:r>
              <a:rPr lang="en-US" sz="1800" b="1" dirty="0">
                <a:effectLst/>
              </a:rPr>
              <a:t>public).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90FE5B-D722-D8A9-FA80-A35D824891C2}"/>
              </a:ext>
            </a:extLst>
          </p:cNvPr>
          <p:cNvSpPr txBox="1"/>
          <p:nvPr/>
        </p:nvSpPr>
        <p:spPr>
          <a:xfrm>
            <a:off x="7340851" y="3135525"/>
            <a:ext cx="1426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</a:rPr>
              <a:t>Подписка.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5BE726-EB25-CAD4-53B1-09603D9F6DD6}"/>
              </a:ext>
            </a:extLst>
          </p:cNvPr>
          <p:cNvSpPr txBox="1"/>
          <p:nvPr/>
        </p:nvSpPr>
        <p:spPr>
          <a:xfrm>
            <a:off x="4920590" y="1862724"/>
            <a:ext cx="20092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Небольшие</a:t>
            </a:r>
          </a:p>
          <a:p>
            <a:pPr algn="ctr"/>
            <a:r>
              <a:rPr lang="ru-RU" b="1" dirty="0"/>
              <a:t> веб-студии и малый бизнес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600A63-8B70-6006-912C-CE31353FE7B1}"/>
              </a:ext>
            </a:extLst>
          </p:cNvPr>
          <p:cNvSpPr txBox="1"/>
          <p:nvPr/>
        </p:nvSpPr>
        <p:spPr>
          <a:xfrm>
            <a:off x="7253662" y="2005923"/>
            <a:ext cx="2000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Комиссия платформы 5%</a:t>
            </a:r>
          </a:p>
        </p:txBody>
      </p:sp>
    </p:spTree>
    <p:extLst>
      <p:ext uri="{BB962C8B-B14F-4D97-AF65-F5344CB8AC3E}">
        <p14:creationId xmlns:p14="http://schemas.microsoft.com/office/powerpoint/2010/main" val="337330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8603DAD0-7229-7AD0-260B-5623E63C261C}"/>
              </a:ext>
            </a:extLst>
          </p:cNvPr>
          <p:cNvSpPr/>
          <p:nvPr/>
        </p:nvSpPr>
        <p:spPr>
          <a:xfrm>
            <a:off x="-3428476" y="4965179"/>
            <a:ext cx="3322672" cy="12014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CBDC4B88-8238-9BA0-F952-F1E3542F11BB}"/>
              </a:ext>
            </a:extLst>
          </p:cNvPr>
          <p:cNvSpPr/>
          <p:nvPr/>
        </p:nvSpPr>
        <p:spPr>
          <a:xfrm>
            <a:off x="12297801" y="4965179"/>
            <a:ext cx="3322672" cy="12014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801E749D-D1A9-4E5D-692A-BE27B5693729}"/>
              </a:ext>
            </a:extLst>
          </p:cNvPr>
          <p:cNvSpPr/>
          <p:nvPr/>
        </p:nvSpPr>
        <p:spPr>
          <a:xfrm>
            <a:off x="-3322672" y="2009500"/>
            <a:ext cx="3322672" cy="12014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D8B0D347-8E6A-65B5-A632-5E7902084C4B}"/>
              </a:ext>
            </a:extLst>
          </p:cNvPr>
          <p:cNvSpPr/>
          <p:nvPr/>
        </p:nvSpPr>
        <p:spPr>
          <a:xfrm>
            <a:off x="12418853" y="2009500"/>
            <a:ext cx="3322672" cy="12014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2F7C2-5820-936F-DA7B-18A0537D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216" y="18256"/>
            <a:ext cx="3113567" cy="1066266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Карта рынка</a:t>
            </a:r>
          </a:p>
        </p:txBody>
      </p:sp>
      <p:sp>
        <p:nvSpPr>
          <p:cNvPr id="6" name="Стрелка: вверх-вниз 5">
            <a:extLst>
              <a:ext uri="{FF2B5EF4-FFF2-40B4-BE49-F238E27FC236}">
                <a16:creationId xmlns:a16="http://schemas.microsoft.com/office/drawing/2014/main" id="{6EC182E7-43EA-ED0A-A224-F235A1664C5F}"/>
              </a:ext>
            </a:extLst>
          </p:cNvPr>
          <p:cNvSpPr/>
          <p:nvPr/>
        </p:nvSpPr>
        <p:spPr>
          <a:xfrm>
            <a:off x="6032203" y="1265275"/>
            <a:ext cx="127591" cy="5082363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вверх-вниз 6">
            <a:extLst>
              <a:ext uri="{FF2B5EF4-FFF2-40B4-BE49-F238E27FC236}">
                <a16:creationId xmlns:a16="http://schemas.microsoft.com/office/drawing/2014/main" id="{42AEA1C8-9FBD-A651-4790-93E711646B57}"/>
              </a:ext>
            </a:extLst>
          </p:cNvPr>
          <p:cNvSpPr/>
          <p:nvPr/>
        </p:nvSpPr>
        <p:spPr>
          <a:xfrm rot="5400000">
            <a:off x="6094227" y="-159491"/>
            <a:ext cx="131134" cy="8063029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4047838-F752-BCFE-706A-005767693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Белое / Под ключ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4EC126-5D17-3396-60E3-1D28A54A0B14}"/>
              </a:ext>
            </a:extLst>
          </p:cNvPr>
          <p:cNvSpPr txBox="1"/>
          <p:nvPr/>
        </p:nvSpPr>
        <p:spPr>
          <a:xfrm>
            <a:off x="5252483" y="933861"/>
            <a:ext cx="2200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/>
              <a:t>Белое / Под ключ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414D21-E81B-93A2-0909-3468203768F1}"/>
              </a:ext>
            </a:extLst>
          </p:cNvPr>
          <p:cNvSpPr txBox="1"/>
          <p:nvPr/>
        </p:nvSpPr>
        <p:spPr>
          <a:xfrm>
            <a:off x="1045188" y="3614425"/>
            <a:ext cx="2307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/>
              <a:t>Дешево / Бесплатно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868C07-B63A-8627-167A-F2B66B723793}"/>
              </a:ext>
            </a:extLst>
          </p:cNvPr>
          <p:cNvSpPr txBox="1"/>
          <p:nvPr/>
        </p:nvSpPr>
        <p:spPr>
          <a:xfrm>
            <a:off x="10191309" y="3548857"/>
            <a:ext cx="1857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/>
              <a:t>Дорого / Премиум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06B6B6-EDCA-5F0C-99AB-5D0D926511D3}"/>
              </a:ext>
            </a:extLst>
          </p:cNvPr>
          <p:cNvSpPr txBox="1"/>
          <p:nvPr/>
        </p:nvSpPr>
        <p:spPr>
          <a:xfrm>
            <a:off x="4766929" y="6380939"/>
            <a:ext cx="3026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/>
              <a:t>Серая зона / Требует рук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3EC63E-334B-FBBE-A8E8-3E7A039162FE}"/>
              </a:ext>
            </a:extLst>
          </p:cNvPr>
          <p:cNvSpPr txBox="1"/>
          <p:nvPr/>
        </p:nvSpPr>
        <p:spPr>
          <a:xfrm>
            <a:off x="-2671541" y="2199062"/>
            <a:ext cx="2257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CodeCanyon</a:t>
            </a:r>
            <a:r>
              <a:rPr lang="en-US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ThemeForest</a:t>
            </a:r>
            <a:endParaRPr lang="ru-RU" sz="2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5EA43C-B7F8-C74C-17E4-29EBCD3EC869}"/>
              </a:ext>
            </a:extLst>
          </p:cNvPr>
          <p:cNvSpPr txBox="1"/>
          <p:nvPr/>
        </p:nvSpPr>
        <p:spPr>
          <a:xfrm>
            <a:off x="12440116" y="2198583"/>
            <a:ext cx="34502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Flipra</a:t>
            </a:r>
            <a:r>
              <a:rPr lang="en-US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Empire Flippers</a:t>
            </a:r>
            <a:r>
              <a:rPr lang="ru-RU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MicroAcquire</a:t>
            </a:r>
            <a:endParaRPr lang="ru-RU" sz="2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6397A2-826C-22C8-9313-51AB8A8538BA}"/>
              </a:ext>
            </a:extLst>
          </p:cNvPr>
          <p:cNvSpPr txBox="1"/>
          <p:nvPr/>
        </p:nvSpPr>
        <p:spPr>
          <a:xfrm>
            <a:off x="-2895745" y="5335086"/>
            <a:ext cx="24858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GitHub, GitLab</a:t>
            </a:r>
            <a:endParaRPr lang="ru-RU" sz="2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3FC7BD-705D-112A-0E4E-9844DD71D88F}"/>
              </a:ext>
            </a:extLst>
          </p:cNvPr>
          <p:cNvSpPr txBox="1"/>
          <p:nvPr/>
        </p:nvSpPr>
        <p:spPr>
          <a:xfrm>
            <a:off x="12445769" y="5199724"/>
            <a:ext cx="30267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Upwork, Freelancer, </a:t>
            </a:r>
            <a:r>
              <a:rPr lang="en-US" sz="2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Toptal</a:t>
            </a:r>
            <a:endParaRPr lang="ru-RU" sz="2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72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44444E-6 L 0.36315 0.003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51" y="1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 L 0.36015 0.0025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08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48148E-6 L -0.39948 -0.0011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74" y="-6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64 4.44444E-6 L -0.39727 4.44444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9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11022E-16 L -0.38541 -0.0120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71" y="-60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07407E-6 L -0.39687 -0.0048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844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07407E-6 L 0.40026 -0.0046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13" y="-23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4.07407E-6 L 0.39753 -0.0046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70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1" grpId="0" animBg="1"/>
      <p:bldP spid="40" grpId="0" animBg="1"/>
      <p:bldP spid="39" grpId="0" animBg="1"/>
      <p:bldP spid="25" grpId="0"/>
      <p:bldP spid="31" grpId="0"/>
      <p:bldP spid="34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3AEA712-A673-4578-E4C8-FCA2D2345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98"/>
            <a:ext cx="10515600" cy="89677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Montserrat bold"/>
              </a:rPr>
              <a:t>Market (TAM/SAM/SOM)</a:t>
            </a:r>
            <a:endParaRPr lang="ru-RU" sz="3200" b="1" dirty="0">
              <a:latin typeface="Montserrat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35104-B826-4CE4-DFF4-30C7BA785F48}"/>
              </a:ext>
            </a:extLst>
          </p:cNvPr>
          <p:cNvSpPr txBox="1"/>
          <p:nvPr/>
        </p:nvSpPr>
        <p:spPr>
          <a:xfrm>
            <a:off x="1637211" y="950276"/>
            <a:ext cx="8917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Рынок: Потенциал в сегменте </a:t>
            </a:r>
            <a:r>
              <a:rPr lang="ru-RU" sz="2400" b="1" dirty="0" err="1"/>
              <a:t>Low-budget</a:t>
            </a:r>
            <a:r>
              <a:rPr lang="ru-RU" sz="2400" b="1" dirty="0"/>
              <a:t> разработки РФ</a:t>
            </a:r>
          </a:p>
        </p:txBody>
      </p:sp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0096F93C-A857-1BD8-4350-975C57FCE6B9}"/>
              </a:ext>
            </a:extLst>
          </p:cNvPr>
          <p:cNvSpPr/>
          <p:nvPr/>
        </p:nvSpPr>
        <p:spPr>
          <a:xfrm>
            <a:off x="505199" y="1993703"/>
            <a:ext cx="4680000" cy="4680000"/>
          </a:xfrm>
          <a:prstGeom prst="flowChartConnector">
            <a:avLst/>
          </a:prstGeom>
          <a:solidFill>
            <a:srgbClr val="6FC2A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noFill/>
            </a:endParaRPr>
          </a:p>
        </p:txBody>
      </p:sp>
      <p:sp>
        <p:nvSpPr>
          <p:cNvPr id="8" name="Блок-схема: узел 7">
            <a:extLst>
              <a:ext uri="{FF2B5EF4-FFF2-40B4-BE49-F238E27FC236}">
                <a16:creationId xmlns:a16="http://schemas.microsoft.com/office/drawing/2014/main" id="{775A7DB8-9EBE-D931-7199-F4BB4B63D194}"/>
              </a:ext>
            </a:extLst>
          </p:cNvPr>
          <p:cNvSpPr/>
          <p:nvPr/>
        </p:nvSpPr>
        <p:spPr>
          <a:xfrm>
            <a:off x="1225199" y="2713703"/>
            <a:ext cx="3240000" cy="3240000"/>
          </a:xfrm>
          <a:prstGeom prst="flowChartConnector">
            <a:avLst/>
          </a:prstGeom>
          <a:solidFill>
            <a:srgbClr val="2F9E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noFill/>
            </a:endParaRPr>
          </a:p>
        </p:txBody>
      </p:sp>
      <p:sp>
        <p:nvSpPr>
          <p:cNvPr id="9" name="Блок-схема: узел 8">
            <a:extLst>
              <a:ext uri="{FF2B5EF4-FFF2-40B4-BE49-F238E27FC236}">
                <a16:creationId xmlns:a16="http://schemas.microsoft.com/office/drawing/2014/main" id="{416DFF24-35E2-C8DD-785C-5B9D880517B0}"/>
              </a:ext>
            </a:extLst>
          </p:cNvPr>
          <p:cNvSpPr/>
          <p:nvPr/>
        </p:nvSpPr>
        <p:spPr>
          <a:xfrm>
            <a:off x="1945199" y="3429000"/>
            <a:ext cx="1800000" cy="1800000"/>
          </a:xfrm>
          <a:prstGeom prst="flowChartConnector">
            <a:avLst/>
          </a:prstGeom>
          <a:solidFill>
            <a:srgbClr val="0F73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noFill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44AD9-06B2-F495-1C09-3C467F674F55}"/>
              </a:ext>
            </a:extLst>
          </p:cNvPr>
          <p:cNvSpPr txBox="1"/>
          <p:nvPr/>
        </p:nvSpPr>
        <p:spPr>
          <a:xfrm>
            <a:off x="2430371" y="2131941"/>
            <a:ext cx="829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Rounded (MT Bold)"/>
              </a:rPr>
              <a:t>TAM</a:t>
            </a:r>
            <a:endParaRPr lang="ru-RU" sz="2400" b="1" dirty="0">
              <a:latin typeface="Arial Rounded (MT Bold)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1D3A76-A7A1-4EF8-61E8-229002EB9BF5}"/>
              </a:ext>
            </a:extLst>
          </p:cNvPr>
          <p:cNvSpPr txBox="1"/>
          <p:nvPr/>
        </p:nvSpPr>
        <p:spPr>
          <a:xfrm>
            <a:off x="2399798" y="2847238"/>
            <a:ext cx="890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Rounded (MT Bold)"/>
              </a:rPr>
              <a:t>SAM</a:t>
            </a:r>
            <a:endParaRPr lang="ru-RU" sz="2400" b="1" dirty="0">
              <a:latin typeface="Arial Rounded (MT Bold)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51C8D5-9D49-EDA7-CAEE-FC832690CC96}"/>
              </a:ext>
            </a:extLst>
          </p:cNvPr>
          <p:cNvSpPr txBox="1"/>
          <p:nvPr/>
        </p:nvSpPr>
        <p:spPr>
          <a:xfrm>
            <a:off x="2399798" y="3562535"/>
            <a:ext cx="890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Rounded (MT Bold)"/>
              </a:rPr>
              <a:t>SOM</a:t>
            </a:r>
            <a:endParaRPr lang="ru-RU" sz="2400" b="1" dirty="0">
              <a:latin typeface="Arial Rounded (MT Bold)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7EA43A-F33E-42E3-7899-97E53A7AA48D}"/>
              </a:ext>
            </a:extLst>
          </p:cNvPr>
          <p:cNvSpPr txBox="1"/>
          <p:nvPr/>
        </p:nvSpPr>
        <p:spPr>
          <a:xfrm>
            <a:off x="5211197" y="1943695"/>
            <a:ext cx="667612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/>
              <a:t>Методика и допущения:</a:t>
            </a:r>
            <a:endParaRPr lang="ru-RU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Метод: Top-</a:t>
            </a:r>
            <a:r>
              <a:rPr lang="ru-RU" b="1" dirty="0" err="1"/>
              <a:t>down</a:t>
            </a:r>
            <a:r>
              <a:rPr lang="ru-RU" b="1" dirty="0"/>
              <a:t> </a:t>
            </a:r>
            <a:r>
              <a:rPr lang="ru-RU" dirty="0"/>
              <a:t>(от объема рынка) с проверкой </a:t>
            </a:r>
            <a:r>
              <a:rPr lang="ru-RU" dirty="0" err="1"/>
              <a:t>Bottom-up</a:t>
            </a:r>
            <a:r>
              <a:rPr lang="ru-RU" dirty="0"/>
              <a:t> (через средний чек).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Допущение 1: </a:t>
            </a:r>
            <a:r>
              <a:rPr lang="ru-RU" dirty="0"/>
              <a:t>Средний чек сделки (код MVP) = 30 000 ₽.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Допущение 2: </a:t>
            </a:r>
            <a:r>
              <a:rPr lang="ru-RU" dirty="0"/>
              <a:t>Комиссия платформы = 15%.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Допущение 3: </a:t>
            </a:r>
            <a:r>
              <a:rPr lang="ru-RU" dirty="0"/>
              <a:t>Активный рост рынка No-</a:t>
            </a:r>
            <a:r>
              <a:rPr lang="ru-RU" dirty="0" err="1"/>
              <a:t>code</a:t>
            </a:r>
            <a:r>
              <a:rPr lang="ru-RU" dirty="0"/>
              <a:t> и готовых решений (+15% </a:t>
            </a:r>
            <a:r>
              <a:rPr lang="ru-RU" dirty="0" err="1"/>
              <a:t>YoY</a:t>
            </a:r>
            <a:r>
              <a:rPr lang="ru-RU" dirty="0"/>
              <a:t>).</a:t>
            </a:r>
          </a:p>
        </p:txBody>
      </p:sp>
      <p:sp>
        <p:nvSpPr>
          <p:cNvPr id="26" name="Облако 25">
            <a:extLst>
              <a:ext uri="{FF2B5EF4-FFF2-40B4-BE49-F238E27FC236}">
                <a16:creationId xmlns:a16="http://schemas.microsoft.com/office/drawing/2014/main" id="{369C9A76-9E67-20DD-E2B3-3E465143D0CF}"/>
              </a:ext>
            </a:extLst>
          </p:cNvPr>
          <p:cNvSpPr/>
          <p:nvPr/>
        </p:nvSpPr>
        <p:spPr>
          <a:xfrm>
            <a:off x="5668991" y="4234897"/>
            <a:ext cx="854015" cy="605309"/>
          </a:xfrm>
          <a:prstGeom prst="cloud">
            <a:avLst/>
          </a:prstGeom>
          <a:solidFill>
            <a:srgbClr val="6FC2A5"/>
          </a:solidFill>
          <a:ln>
            <a:solidFill>
              <a:srgbClr val="6FC2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Облако 26">
            <a:extLst>
              <a:ext uri="{FF2B5EF4-FFF2-40B4-BE49-F238E27FC236}">
                <a16:creationId xmlns:a16="http://schemas.microsoft.com/office/drawing/2014/main" id="{48E06EE0-D6C8-3924-BD86-248CE8540475}"/>
              </a:ext>
            </a:extLst>
          </p:cNvPr>
          <p:cNvSpPr/>
          <p:nvPr/>
        </p:nvSpPr>
        <p:spPr>
          <a:xfrm>
            <a:off x="5668990" y="5057514"/>
            <a:ext cx="854015" cy="605309"/>
          </a:xfrm>
          <a:prstGeom prst="cloud">
            <a:avLst/>
          </a:prstGeom>
          <a:solidFill>
            <a:srgbClr val="2F9E79"/>
          </a:solidFill>
          <a:ln>
            <a:solidFill>
              <a:srgbClr val="2F9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Облако 27">
            <a:extLst>
              <a:ext uri="{FF2B5EF4-FFF2-40B4-BE49-F238E27FC236}">
                <a16:creationId xmlns:a16="http://schemas.microsoft.com/office/drawing/2014/main" id="{047D1BDF-A3D7-FB5B-E1AD-9D60547DECFD}"/>
              </a:ext>
            </a:extLst>
          </p:cNvPr>
          <p:cNvSpPr/>
          <p:nvPr/>
        </p:nvSpPr>
        <p:spPr>
          <a:xfrm>
            <a:off x="5668990" y="5881204"/>
            <a:ext cx="854015" cy="605309"/>
          </a:xfrm>
          <a:prstGeom prst="cloud">
            <a:avLst/>
          </a:prstGeom>
          <a:solidFill>
            <a:srgbClr val="0F7350"/>
          </a:solidFill>
          <a:ln>
            <a:solidFill>
              <a:srgbClr val="0F73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A51145-8434-5F8A-E015-695CB17DA43F}"/>
              </a:ext>
            </a:extLst>
          </p:cNvPr>
          <p:cNvSpPr txBox="1"/>
          <p:nvPr/>
        </p:nvSpPr>
        <p:spPr>
          <a:xfrm>
            <a:off x="6523004" y="4222433"/>
            <a:ext cx="5668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 Весь рынок заказной разработки. SMB 99,2 Млрд 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EDD241-528E-5EBC-D8D7-513047828203}"/>
              </a:ext>
            </a:extLst>
          </p:cNvPr>
          <p:cNvSpPr txBox="1"/>
          <p:nvPr/>
        </p:nvSpPr>
        <p:spPr>
          <a:xfrm>
            <a:off x="6523005" y="5069305"/>
            <a:ext cx="554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 Рынок фриланса и шаблонов. 39,68 Млрд ₽м</a:t>
            </a: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771833EF-F0BF-EE97-1849-CA74F34DCD5D}"/>
              </a:ext>
            </a:extLst>
          </p:cNvPr>
          <p:cNvCxnSpPr>
            <a:cxnSpLocks/>
          </p:cNvCxnSpPr>
          <p:nvPr/>
        </p:nvCxnSpPr>
        <p:spPr>
          <a:xfrm flipV="1">
            <a:off x="5348377" y="4005798"/>
            <a:ext cx="6952891" cy="1840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00AAB32D-B555-F6F0-6626-B2EF0E51CDC9}"/>
              </a:ext>
            </a:extLst>
          </p:cNvPr>
          <p:cNvCxnSpPr>
            <a:cxnSpLocks/>
          </p:cNvCxnSpPr>
          <p:nvPr/>
        </p:nvCxnSpPr>
        <p:spPr>
          <a:xfrm flipV="1">
            <a:off x="5348377" y="1895295"/>
            <a:ext cx="6952891" cy="1840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6BBD1B8-E4E9-0468-B99A-364EAE8A4388}"/>
              </a:ext>
            </a:extLst>
          </p:cNvPr>
          <p:cNvSpPr txBox="1"/>
          <p:nvPr/>
        </p:nvSpPr>
        <p:spPr>
          <a:xfrm>
            <a:off x="6523004" y="5913233"/>
            <a:ext cx="5985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Целевая доля маркетплейса. 198,4 Млн ₽ (к 3-му году)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16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/>
      <p:bldP spid="13" grpId="0"/>
      <p:bldP spid="14" grpId="0"/>
      <p:bldP spid="26" grpId="0" animBg="1"/>
      <p:bldP spid="27" grpId="0" animBg="1"/>
      <p:bldP spid="28" grpId="0" animBg="1"/>
      <p:bldP spid="33" grpId="0"/>
      <p:bldP spid="34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F28C68-9250-3B94-F5F9-0DCABBE48BC9}"/>
              </a:ext>
            </a:extLst>
          </p:cNvPr>
          <p:cNvSpPr txBox="1"/>
          <p:nvPr/>
        </p:nvSpPr>
        <p:spPr>
          <a:xfrm>
            <a:off x="2594065" y="246760"/>
            <a:ext cx="70038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effectLst/>
              </a:rPr>
              <a:t>Таблица расчета TAM/SAM/SOM (Приложение)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4ABB28-04DB-2DC5-FCCF-F8C2FA6DE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44" y="1352260"/>
            <a:ext cx="11002911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5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E60D61-76C5-C254-3079-76F122827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-23195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Montserrat bold"/>
              </a:rPr>
              <a:t>Why Now</a:t>
            </a:r>
            <a:r>
              <a:rPr lang="ru-RU" sz="4000" b="1" dirty="0">
                <a:latin typeface="Montserrat bold"/>
              </a:rPr>
              <a:t>. Почему сейчас?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00FE6-0A90-368F-07A2-1BE3FB21AF58}"/>
              </a:ext>
            </a:extLst>
          </p:cNvPr>
          <p:cNvSpPr txBox="1"/>
          <p:nvPr/>
        </p:nvSpPr>
        <p:spPr>
          <a:xfrm>
            <a:off x="2321978" y="832000"/>
            <a:ext cx="7548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Драйверы роста: Технологии и экономика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6C928-4572-DAA4-52E1-AA187C0091E6}"/>
              </a:ext>
            </a:extLst>
          </p:cNvPr>
          <p:cNvSpPr txBox="1"/>
          <p:nvPr/>
        </p:nvSpPr>
        <p:spPr>
          <a:xfrm>
            <a:off x="728133" y="1771722"/>
            <a:ext cx="10735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AI-революция (</a:t>
            </a:r>
            <a:r>
              <a:rPr lang="ru-RU" sz="2400" b="1" dirty="0" err="1"/>
              <a:t>Enabler</a:t>
            </a:r>
            <a:r>
              <a:rPr lang="ru-RU" sz="2400" b="1" dirty="0"/>
              <a:t>):  </a:t>
            </a:r>
            <a:r>
              <a:rPr lang="ru-RU" sz="2400" dirty="0"/>
              <a:t>Раньше качественный аудит стоил тысячи долларов и был недоступен для дешевых проектов.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AD1E7-8FF1-C7C3-A531-D08018728545}"/>
              </a:ext>
            </a:extLst>
          </p:cNvPr>
          <p:cNvSpPr txBox="1"/>
          <p:nvPr/>
        </p:nvSpPr>
        <p:spPr>
          <a:xfrm>
            <a:off x="728131" y="2892847"/>
            <a:ext cx="10735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Импортозамещение и экономия (Economic): </a:t>
            </a:r>
            <a:r>
              <a:rPr lang="ru-RU" sz="2400" dirty="0"/>
              <a:t>Покупка готовой базы («полуфабриката») становится необходимостью.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6E0CC5-9F4A-C025-36C0-6A57FC1A87A8}"/>
              </a:ext>
            </a:extLst>
          </p:cNvPr>
          <p:cNvSpPr txBox="1"/>
          <p:nvPr/>
        </p:nvSpPr>
        <p:spPr>
          <a:xfrm>
            <a:off x="787399" y="4013972"/>
            <a:ext cx="10735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Бум «Пет-проектов» (Supply): </a:t>
            </a:r>
            <a:r>
              <a:rPr lang="ru-RU" sz="2400" dirty="0"/>
              <a:t>Создал армию </a:t>
            </a:r>
            <a:r>
              <a:rPr lang="ru-RU" sz="2400" dirty="0" err="1"/>
              <a:t>джуниоров</a:t>
            </a:r>
            <a:r>
              <a:rPr lang="ru-RU" sz="2400" dirty="0"/>
              <a:t>, генерирующих гигабайты учебного, но рабочего кода, который можно монетизировать.</a:t>
            </a:r>
          </a:p>
        </p:txBody>
      </p:sp>
      <p:pic>
        <p:nvPicPr>
          <p:cNvPr id="3074" name="Picture 2" descr="Искусственный интеллект – Бесплатные иконки: технологии">
            <a:extLst>
              <a:ext uri="{FF2B5EF4-FFF2-40B4-BE49-F238E27FC236}">
                <a16:creationId xmlns:a16="http://schemas.microsoft.com/office/drawing/2014/main" id="{29DDF592-3C42-EE31-9460-B3BCD1A6E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5232460"/>
            <a:ext cx="1430867" cy="143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Экономика – Бесплатные иконки: бизнес и финансы">
            <a:extLst>
              <a:ext uri="{FF2B5EF4-FFF2-40B4-BE49-F238E27FC236}">
                <a16:creationId xmlns:a16="http://schemas.microsoft.com/office/drawing/2014/main" id="{42F19810-4842-B976-5976-5220818AE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99" y="5232459"/>
            <a:ext cx="1430867" cy="143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Проект – Бесплатные иконки: бизнес и финансы">
            <a:extLst>
              <a:ext uri="{FF2B5EF4-FFF2-40B4-BE49-F238E27FC236}">
                <a16:creationId xmlns:a16="http://schemas.microsoft.com/office/drawing/2014/main" id="{CCADB3E1-A56F-811C-4EF1-833E5ADF4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665" y="5232458"/>
            <a:ext cx="1430868" cy="14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50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F2B5A-3F11-E058-25A2-B6F44B7C4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Montserrat bold"/>
              </a:rPr>
              <a:t>Источники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8103B-7C69-CD6A-DC95-67ECF9477ED4}"/>
              </a:ext>
            </a:extLst>
          </p:cNvPr>
          <p:cNvSpPr txBox="1"/>
          <p:nvPr/>
        </p:nvSpPr>
        <p:spPr>
          <a:xfrm>
            <a:off x="321732" y="1343818"/>
            <a:ext cx="1154853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000" dirty="0"/>
              <a:t>РАЭК (Российская Ассоциация Электронных Коммуникаций): Отчет «Экономика Рунета 2024-2025» (Сектор цифровых услуг).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/>
              <a:t>Russoft</a:t>
            </a:r>
            <a:r>
              <a:rPr lang="ru-RU" sz="2000" dirty="0"/>
              <a:t> (Руссофт): Ежегодное исследование индустрии разработки ПО в России (Объем внутреннего рынка).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IIDF (ФРИИ): Исследование «Стартап-барометр» (Метрики выживаемости проектов ранних стадий).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/>
              <a:t>Habr</a:t>
            </a:r>
            <a:r>
              <a:rPr lang="ru-RU" sz="2000" dirty="0"/>
              <a:t> </a:t>
            </a:r>
            <a:r>
              <a:rPr lang="ru-RU" sz="2000" dirty="0" err="1"/>
              <a:t>Career</a:t>
            </a:r>
            <a:r>
              <a:rPr lang="ru-RU" sz="2000" dirty="0"/>
              <a:t> / </a:t>
            </a:r>
            <a:r>
              <a:rPr lang="ru-RU" sz="2000" dirty="0" err="1"/>
              <a:t>Хабр</a:t>
            </a:r>
            <a:r>
              <a:rPr lang="ru-RU" sz="2000" dirty="0"/>
              <a:t> Карьера: Аналитика зарплат IT-специалистов (Обоснование роста себестоимости разработки).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Data Insight / </a:t>
            </a:r>
            <a:r>
              <a:rPr lang="ru-RU" sz="2000" dirty="0" err="1"/>
              <a:t>TAdviser</a:t>
            </a:r>
            <a:r>
              <a:rPr lang="ru-RU" sz="2000" dirty="0"/>
              <a:t>: Обзоры рынка электронной коммерции и заказной разработки.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/>
              <a:t>TAdviser</a:t>
            </a:r>
            <a:r>
              <a:rPr lang="ru-RU" sz="2000" dirty="0"/>
              <a:t> — рынок IT-услуг и цифровой разработки в России https://tadviser.com/index.php/Article:IT_Services_(Russian_Market)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/>
              <a:t>Mordor</a:t>
            </a:r>
            <a:r>
              <a:rPr lang="ru-RU" sz="2000" dirty="0"/>
              <a:t> Intelligence — Russia ICT Market https://www.mordorintelligence.com/industry-reports/russia-ict-market</a:t>
            </a:r>
          </a:p>
        </p:txBody>
      </p:sp>
    </p:spTree>
    <p:extLst>
      <p:ext uri="{BB962C8B-B14F-4D97-AF65-F5344CB8AC3E}">
        <p14:creationId xmlns:p14="http://schemas.microsoft.com/office/powerpoint/2010/main" val="20526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471</TotalTime>
  <Words>638</Words>
  <Application>Microsoft Office PowerPoint</Application>
  <PresentationFormat>Широкоэкранный</PresentationFormat>
  <Paragraphs>82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Arial Rounded (MT Bold)</vt:lpstr>
      <vt:lpstr>Menlo</vt:lpstr>
      <vt:lpstr>Montserrat bold</vt:lpstr>
      <vt:lpstr>Тема Office</vt:lpstr>
      <vt:lpstr>Презентация PowerPoint</vt:lpstr>
      <vt:lpstr>Problem (Потребность)</vt:lpstr>
      <vt:lpstr>Customer (Целевой клиент)</vt:lpstr>
      <vt:lpstr>Углубление конкурентного анализа</vt:lpstr>
      <vt:lpstr>Карта рынка</vt:lpstr>
      <vt:lpstr>Market (TAM/SAM/SOM)</vt:lpstr>
      <vt:lpstr>Презентация PowerPoint</vt:lpstr>
      <vt:lpstr>Why Now. Почему сейчас?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Кан</dc:creator>
  <cp:lastModifiedBy>Артём Кан</cp:lastModifiedBy>
  <cp:revision>8</cp:revision>
  <dcterms:created xsi:type="dcterms:W3CDTF">2026-03-05T11:37:04Z</dcterms:created>
  <dcterms:modified xsi:type="dcterms:W3CDTF">2026-03-18T13:40:13Z</dcterms:modified>
</cp:coreProperties>
</file>