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6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37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A5A74AD-138D-0931-2CB6-4260BEE728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3706867A-B19A-58D0-1583-ACF8D56910F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D7E33C0-9A21-40CC-9BEF-892B439ADA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74606-FA95-42E0-82DE-4EF459D2E10D}" type="datetimeFigureOut">
              <a:rPr lang="ru-RU" smtClean="0"/>
              <a:t>05.03.2026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D4E282D-B207-AD7E-CF32-569E82A18B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617C3B4-61F9-F958-7A1D-F5238AA52E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EA391-D658-481B-9975-972D6A48BD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0777323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14:reveal/>
      </p:transition>
    </mc:Choice>
    <mc:Fallback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3DE2846-01A9-BB1E-95BC-2BD2FE5EE5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85F2F61-1CDD-E4CD-C2F8-146A8A912F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711DE8D-03CE-AB5A-4A98-6790C85F32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74606-FA95-42E0-82DE-4EF459D2E10D}" type="datetimeFigureOut">
              <a:rPr lang="ru-RU" smtClean="0"/>
              <a:t>05.03.2026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79F8EB1-28EB-1F5D-017C-4B24BB88EA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F56941D-13FE-C331-73F0-EDA0DC8120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EA391-D658-481B-9975-972D6A48BD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4182585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14:reveal/>
      </p:transition>
    </mc:Choice>
    <mc:Fallback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B19989E-7677-58EF-CDAC-780C866F7A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AEBFB4F-1F12-D874-0641-BC05825D68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D5271F9-91DF-5965-C3CA-C90E96F485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74606-FA95-42E0-82DE-4EF459D2E10D}" type="datetimeFigureOut">
              <a:rPr lang="ru-RU" smtClean="0"/>
              <a:t>05.03.2026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64818B9-6530-E8F4-AE61-113FED65E6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E572DB6-A51A-8F43-BC92-FC34F53E60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EA391-D658-481B-9975-972D6A48BD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50458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14:reveal/>
      </p:transition>
    </mc:Choice>
    <mc:Fallback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CF568A7-D672-C5A7-9DE0-79EAB86EA5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896A90C-384A-C15B-7CD5-9DA4E13750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D4795970-31CF-FCC9-01E6-F24E00C2CB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EB065E3-2F72-4E06-6C31-786FB6058B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74606-FA95-42E0-82DE-4EF459D2E10D}" type="datetimeFigureOut">
              <a:rPr lang="ru-RU" smtClean="0"/>
              <a:t>05.03.2026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C908FE1-82D5-180E-2777-1D1D0D7A45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17338D62-BD0B-F56D-1EB7-427A58558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EA391-D658-481B-9975-972D6A48BD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7443980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14:reveal/>
      </p:transition>
    </mc:Choice>
    <mc:Fallback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1FE923-E610-3069-3A81-E1CEA66CE9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AF2162E-E1A0-C915-C099-DDAF3D5DA4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12DF52EA-E8D4-25A2-5902-A24BEAE1C5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2B910A8C-7CD8-966F-0E1C-CC28ACB249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C753EDF9-9649-2AF7-B7DC-D72E34213D4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7622B9F8-7003-EBCA-9A36-3004153589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74606-FA95-42E0-82DE-4EF459D2E10D}" type="datetimeFigureOut">
              <a:rPr lang="ru-RU" smtClean="0"/>
              <a:t>05.03.2026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E2F4E03C-1D19-DBF7-DB1D-3128AF41F0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A67D8A3A-BA9A-C467-9824-F790F9B967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EA391-D658-481B-9975-972D6A48BD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7369129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14:reveal/>
      </p:transition>
    </mc:Choice>
    <mc:Fallback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2BE1906-F3F5-5E3A-5404-BE2379CBBB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A502CBF3-90A1-5A8D-1224-1551CBD184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74606-FA95-42E0-82DE-4EF459D2E10D}" type="datetimeFigureOut">
              <a:rPr lang="ru-RU" smtClean="0"/>
              <a:t>05.03.2026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CBEDF832-5A7A-0513-99D6-C6C9E30F40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17B2FA3B-D296-2CAD-9185-4B4908AFF7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EA391-D658-481B-9975-972D6A48BD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7361933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14:reveal/>
      </p:transition>
    </mc:Choice>
    <mc:Fallback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0332387E-01AB-007E-9232-AC518225F8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74606-FA95-42E0-82DE-4EF459D2E10D}" type="datetimeFigureOut">
              <a:rPr lang="ru-RU" smtClean="0"/>
              <a:t>05.03.2026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F0651FC8-21D2-68DB-2B93-730B3ADBF0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B6798F5-1EF7-4C8D-033C-261708803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EA391-D658-481B-9975-972D6A48BD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2025558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14:reveal/>
      </p:transition>
    </mc:Choice>
    <mc:Fallback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644587F-C8F7-3663-9D0A-C40632B684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71342C4-5023-B3E5-50D9-181300BE67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6642D4B-075A-8C93-B60F-D641FEDECF8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00618A8-630A-A0E2-7F3F-B4C6EEE0AD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74606-FA95-42E0-82DE-4EF459D2E10D}" type="datetimeFigureOut">
              <a:rPr lang="ru-RU" smtClean="0"/>
              <a:t>05.03.2026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07D29EE8-7BAC-B1AC-ED00-8B48B83C6D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CD5BB934-6D40-0F0D-0416-C76967160A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EA391-D658-481B-9975-972D6A48BD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5267009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14:reveal/>
      </p:transition>
    </mc:Choice>
    <mc:Fallback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7C65339-FBE9-340E-5F99-5C9039634A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99390B63-D5F3-2275-CC4B-2EBA158E8D7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B74CA32-5F41-BDBD-F731-BEE85308F6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7377849-2266-F37D-9058-A3D7A866C5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74606-FA95-42E0-82DE-4EF459D2E10D}" type="datetimeFigureOut">
              <a:rPr lang="ru-RU" smtClean="0"/>
              <a:t>05.03.2026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FFD08CF1-8C90-E59B-9EB8-00D1C0A287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112118E-876D-DD5F-176B-C536B0FA80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EA391-D658-481B-9975-972D6A48BD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6168491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14:reveal/>
      </p:transition>
    </mc:Choice>
    <mc:Fallback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74AEC99-C86F-146C-11A3-1C2A2808A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4978B6C7-8CE3-EAA2-7E54-89573DBF12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B11508A-A6E7-42FC-74B9-DDDE0456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74606-FA95-42E0-82DE-4EF459D2E10D}" type="datetimeFigureOut">
              <a:rPr lang="ru-RU" smtClean="0"/>
              <a:t>05.03.2026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F1ADC3B-0C59-A9B4-D2AF-00B8850D0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B1D406C-AD3B-717C-6DAB-CB3E84094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EA391-D658-481B-9975-972D6A48BD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5282978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14:reveal/>
      </p:transition>
    </mc:Choice>
    <mc:Fallback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48832B8A-22B3-8BB1-5241-DF7FE2C84DF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5C0D5B64-98A3-82CD-31BF-8E43CDBB94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CF8BCF4-B26C-99CD-96C7-AC97B5561A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74606-FA95-42E0-82DE-4EF459D2E10D}" type="datetimeFigureOut">
              <a:rPr lang="ru-RU" smtClean="0"/>
              <a:t>05.03.2026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575B260-34F5-737E-1996-57C899C194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BBA577B-2772-1EB8-BDE4-8DAD22AAA3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EA391-D658-481B-9975-972D6A48BD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637857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14:reveal/>
      </p:transition>
    </mc:Choice>
    <mc:Fallback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361E58F-814B-EF59-8FC4-1587DF8300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42AD964-04DD-9C40-1BCD-78EF9D2592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34F11B5-B7BD-0AD1-EBBC-3ECBAD0B6AB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F74606-FA95-42E0-82DE-4EF459D2E10D}" type="datetimeFigureOut">
              <a:rPr lang="ru-RU" smtClean="0"/>
              <a:t>05.03.2026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C235B84-F787-0445-54BD-48DCE7E154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83A691A-6F5A-47D8-EEC7-08B26E4577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2EA391-D658-481B-9975-972D6A48BD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502425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>
    <mc:Choice xmlns:p14="http://schemas.microsoft.com/office/powerpoint/2010/main" Requires="p14">
      <p:transition spd="slow" p14:dur="1500">
        <p14:reveal/>
      </p:transition>
    </mc:Choice>
    <mc:Fallback>
      <p:transition spd="slow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ED0BF07-C700-669E-D50B-A22D3029A3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671233" y="0"/>
            <a:ext cx="6849533" cy="2387600"/>
          </a:xfrm>
        </p:spPr>
        <p:txBody>
          <a:bodyPr>
            <a:normAutofit/>
          </a:bodyPr>
          <a:lstStyle/>
          <a:p>
            <a:r>
              <a:rPr lang="ru-RU" sz="4000" b="1" dirty="0">
                <a:latin typeface="Montserrat bold"/>
              </a:rPr>
              <a:t>Практическое занятие №7: Формирование слайдов инвестиционного дека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952E158F-86A5-D420-7767-60EA8B60CD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9" y="4470401"/>
            <a:ext cx="9144000" cy="1655762"/>
          </a:xfrm>
        </p:spPr>
        <p:txBody>
          <a:bodyPr>
            <a:normAutofit lnSpcReduction="10000"/>
          </a:bodyPr>
          <a:lstStyle/>
          <a:p>
            <a:r>
              <a:rPr lang="ru-RU" b="1" dirty="0"/>
              <a:t>Предмет: </a:t>
            </a:r>
            <a:r>
              <a:rPr lang="ru-RU" dirty="0"/>
              <a:t>Стартап в информационных технологиях. </a:t>
            </a:r>
            <a:endParaRPr lang="en-US" dirty="0"/>
          </a:p>
          <a:p>
            <a:r>
              <a:rPr lang="ru-RU" b="1" dirty="0"/>
              <a:t>Неделя</a:t>
            </a:r>
            <a:r>
              <a:rPr lang="ru-RU" dirty="0"/>
              <a:t> – </a:t>
            </a:r>
            <a:r>
              <a:rPr lang="en-US" dirty="0"/>
              <a:t>4</a:t>
            </a:r>
            <a:r>
              <a:rPr lang="ru-RU" dirty="0"/>
              <a:t>.</a:t>
            </a:r>
            <a:endParaRPr lang="en-US" dirty="0"/>
          </a:p>
          <a:p>
            <a:r>
              <a:rPr lang="ru-RU" b="1" dirty="0"/>
              <a:t> Выполняли: </a:t>
            </a:r>
            <a:r>
              <a:rPr lang="ru-RU" dirty="0"/>
              <a:t>Артём Кан, Денис </a:t>
            </a:r>
            <a:r>
              <a:rPr lang="ru-RU" dirty="0" err="1"/>
              <a:t>Ярошинский</a:t>
            </a:r>
            <a:r>
              <a:rPr lang="ru-RU" dirty="0"/>
              <a:t>, Максим Боголепов, Егор Афонин. </a:t>
            </a:r>
          </a:p>
        </p:txBody>
      </p:sp>
      <p:pic>
        <p:nvPicPr>
          <p:cNvPr id="1026" name="Picture 2" descr="Marketplace – Бесплатные иконки: коммерция">
            <a:extLst>
              <a:ext uri="{FF2B5EF4-FFF2-40B4-BE49-F238E27FC236}">
                <a16:creationId xmlns:a16="http://schemas.microsoft.com/office/drawing/2014/main" id="{EFA3FE62-555E-E557-72EA-B696C25A91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63065" y="2387599"/>
            <a:ext cx="2065867" cy="20658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762218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14:reveal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DA7AD6B-22A0-453C-1D90-BFCF393F40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0"/>
            <a:ext cx="9144000" cy="905934"/>
          </a:xfrm>
        </p:spPr>
        <p:txBody>
          <a:bodyPr>
            <a:normAutofit/>
          </a:bodyPr>
          <a:lstStyle/>
          <a:p>
            <a:r>
              <a:rPr lang="en-US" sz="4000" b="1" dirty="0">
                <a:latin typeface="Montserrat bold"/>
              </a:rPr>
              <a:t>Problem (</a:t>
            </a:r>
            <a:r>
              <a:rPr lang="ru-RU" sz="4000" b="1" dirty="0">
                <a:latin typeface="Montserrat bold"/>
              </a:rPr>
              <a:t>Потребность)*недоделано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6D0E8E8-163D-50FB-F855-6B71EA158E64}"/>
              </a:ext>
            </a:extLst>
          </p:cNvPr>
          <p:cNvSpPr txBox="1"/>
          <p:nvPr/>
        </p:nvSpPr>
        <p:spPr>
          <a:xfrm>
            <a:off x="571500" y="905934"/>
            <a:ext cx="938953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b="0" i="0" dirty="0">
                <a:effectLst/>
              </a:rPr>
              <a:t>90% пет-проектов умирают, не принося ценности, а разработка с нуля дорожает.</a:t>
            </a:r>
            <a:endParaRPr lang="ru-RU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0BBF93-4FCA-7C06-AFE2-0BFB45082DCA}"/>
              </a:ext>
            </a:extLst>
          </p:cNvPr>
          <p:cNvSpPr txBox="1"/>
          <p:nvPr/>
        </p:nvSpPr>
        <p:spPr>
          <a:xfrm>
            <a:off x="571500" y="2006600"/>
            <a:ext cx="10007600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/>
              <a:t>Контекст (Боль продавца): Разработчики тратят 3–6 месяцев на проекты, которые забрасывают из-за выгорания. Этот код («цифровой актив») просто лежит на </a:t>
            </a:r>
            <a:r>
              <a:rPr lang="ru-RU" sz="2000" dirty="0" err="1"/>
              <a:t>GitHub</a:t>
            </a:r>
            <a:r>
              <a:rPr lang="ru-RU" sz="2000" dirty="0"/>
              <a:t>, хотя в него инвестированы тысячи долларов времени.</a:t>
            </a:r>
            <a:endParaRPr lang="en-US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ru-RU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/>
              <a:t>Барьер (Боль покупателя): Предприниматели готовы купить этот код как базу для старта, но боятся </a:t>
            </a:r>
            <a:r>
              <a:rPr lang="ru-RU" sz="2000" dirty="0" err="1"/>
              <a:t>legacy</a:t>
            </a:r>
            <a:r>
              <a:rPr lang="ru-RU" sz="2000" dirty="0"/>
              <a:t> и багов. Без дорогого технического аудита покупка чужого кода — это лотерея.</a:t>
            </a:r>
            <a:endParaRPr lang="en-US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ru-RU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/>
              <a:t>Последствия: Ежегодно миллионы человеко-часов разработки утилизируются впустую. Покупатели переплачивают в 10 раз за разработку того, что уже кем-то написано. Сигналы/Основания: По статистике (</a:t>
            </a:r>
            <a:r>
              <a:rPr lang="ru-RU" sz="2000" dirty="0" err="1"/>
              <a:t>GitHub</a:t>
            </a:r>
            <a:r>
              <a:rPr lang="ru-RU" sz="2000" dirty="0"/>
              <a:t> </a:t>
            </a:r>
            <a:r>
              <a:rPr lang="ru-RU" sz="2000" dirty="0" err="1"/>
              <a:t>Octoverse</a:t>
            </a:r>
            <a:r>
              <a:rPr lang="ru-RU" sz="2000" dirty="0"/>
              <a:t>), в мире более 100 млн разработчиков, но более 80% репозиториев перестают обновляться в первый год. Средняя стоимость разработки MVP на рынке фриланса (</a:t>
            </a:r>
            <a:r>
              <a:rPr lang="ru-RU" sz="2000" dirty="0" err="1"/>
              <a:t>Upwork</a:t>
            </a:r>
            <a:r>
              <a:rPr lang="ru-RU" sz="2000" dirty="0"/>
              <a:t>) — $5,000+, тогда как готовый код «в столе» имеет нулевую ликвидность.</a:t>
            </a: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4BFC2748-7F93-5E1E-4440-B10912E01BEF}"/>
              </a:ext>
            </a:extLst>
          </p:cNvPr>
          <p:cNvCxnSpPr>
            <a:cxnSpLocks/>
          </p:cNvCxnSpPr>
          <p:nvPr/>
        </p:nvCxnSpPr>
        <p:spPr>
          <a:xfrm>
            <a:off x="-592667" y="1830065"/>
            <a:ext cx="13191067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3076007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14:reveal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90D4A04-2B8B-FE58-D7A5-B2B9B1C6DA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sz="4000" b="1" i="0" dirty="0">
                <a:effectLst/>
                <a:latin typeface="Montserrat bold"/>
              </a:rPr>
              <a:t>Customer (</a:t>
            </a:r>
            <a:r>
              <a:rPr lang="ru-RU" sz="4000" b="1" i="0" dirty="0">
                <a:effectLst/>
                <a:latin typeface="Montserrat bold"/>
              </a:rPr>
              <a:t>Целевой клиент)</a:t>
            </a:r>
            <a:endParaRPr lang="ru-RU" sz="4000" dirty="0">
              <a:latin typeface="Montserrat bold"/>
            </a:endParaRPr>
          </a:p>
        </p:txBody>
      </p:sp>
    </p:spTree>
    <p:extLst>
      <p:ext uri="{BB962C8B-B14F-4D97-AF65-F5344CB8AC3E}">
        <p14:creationId xmlns:p14="http://schemas.microsoft.com/office/powerpoint/2010/main" val="257467296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14:reveal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57E527D-395F-8111-3C25-05BFA2A005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sz="4000" b="1" dirty="0">
                <a:latin typeface="Montserrat bold"/>
              </a:rPr>
              <a:t>Market (TAM/SAM/SOM)</a:t>
            </a:r>
            <a:endParaRPr lang="ru-RU" sz="4000" b="1" dirty="0">
              <a:latin typeface="Montserrat bold"/>
            </a:endParaRPr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E309D784-0735-1FF9-509A-0DEE6B42BA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9358644"/>
              </p:ext>
            </p:extLst>
          </p:nvPr>
        </p:nvGraphicFramePr>
        <p:xfrm>
          <a:off x="1695944" y="1343818"/>
          <a:ext cx="8800112" cy="4703763"/>
        </p:xfrm>
        <a:graphic>
          <a:graphicData uri="http://schemas.openxmlformats.org/drawingml/2006/table">
            <a:tbl>
              <a:tblPr/>
              <a:tblGrid>
                <a:gridCol w="2200028">
                  <a:extLst>
                    <a:ext uri="{9D8B030D-6E8A-4147-A177-3AD203B41FA5}">
                      <a16:colId xmlns:a16="http://schemas.microsoft.com/office/drawing/2014/main" val="399154279"/>
                    </a:ext>
                  </a:extLst>
                </a:gridCol>
                <a:gridCol w="2200028">
                  <a:extLst>
                    <a:ext uri="{9D8B030D-6E8A-4147-A177-3AD203B41FA5}">
                      <a16:colId xmlns:a16="http://schemas.microsoft.com/office/drawing/2014/main" val="3111459838"/>
                    </a:ext>
                  </a:extLst>
                </a:gridCol>
                <a:gridCol w="2200028">
                  <a:extLst>
                    <a:ext uri="{9D8B030D-6E8A-4147-A177-3AD203B41FA5}">
                      <a16:colId xmlns:a16="http://schemas.microsoft.com/office/drawing/2014/main" val="3056171881"/>
                    </a:ext>
                  </a:extLst>
                </a:gridCol>
                <a:gridCol w="2200028">
                  <a:extLst>
                    <a:ext uri="{9D8B030D-6E8A-4147-A177-3AD203B41FA5}">
                      <a16:colId xmlns:a16="http://schemas.microsoft.com/office/drawing/2014/main" val="2027336405"/>
                    </a:ext>
                  </a:extLst>
                </a:gridCol>
              </a:tblGrid>
              <a:tr h="401541">
                <a:tc>
                  <a:txBody>
                    <a:bodyPr/>
                    <a:lstStyle/>
                    <a:p>
                      <a:pPr algn="ctr"/>
                      <a:r>
                        <a:rPr lang="ru-RU" sz="1200" b="1" dirty="0">
                          <a:effectLst/>
                        </a:rPr>
                        <a:t>Показатель</a:t>
                      </a:r>
                    </a:p>
                  </a:txBody>
                  <a:tcPr marL="57487" marR="57487" marT="26533" marB="26533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b="1" dirty="0">
                          <a:effectLst/>
                        </a:rPr>
                        <a:t>Описание</a:t>
                      </a:r>
                    </a:p>
                  </a:txBody>
                  <a:tcPr marL="57487" marR="57487" marT="26533" marB="26533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b="1" dirty="0">
                          <a:effectLst/>
                        </a:rPr>
                        <a:t>Метод и формула расчета</a:t>
                      </a:r>
                    </a:p>
                  </a:txBody>
                  <a:tcPr marL="57487" marR="57487" marT="26533" marB="26533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200" b="1" dirty="0">
                          <a:effectLst/>
                        </a:rPr>
                        <a:t>Сумма ($)</a:t>
                      </a:r>
                    </a:p>
                  </a:txBody>
                  <a:tcPr marL="57487" marR="57487" marT="26533" marB="26533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4462439"/>
                  </a:ext>
                </a:extLst>
              </a:tr>
              <a:tr h="1434074"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effectLst/>
                        </a:rPr>
                        <a:t>TAM</a:t>
                      </a:r>
                      <a:r>
                        <a:rPr lang="en-US" sz="1050" dirty="0">
                          <a:effectLst/>
                        </a:rPr>
                        <a:t> (Total Addressable Market)</a:t>
                      </a:r>
                    </a:p>
                  </a:txBody>
                  <a:tcPr marL="57487" marR="57487" marT="26533" marB="26533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 dirty="0">
                          <a:effectLst/>
                        </a:rPr>
                        <a:t>Мировой рынок заказной разработки ПО для малого бизнеса (</a:t>
                      </a:r>
                      <a:r>
                        <a:rPr lang="ru-RU" sz="1100" dirty="0" err="1">
                          <a:effectLst/>
                        </a:rPr>
                        <a:t>Gig</a:t>
                      </a:r>
                      <a:r>
                        <a:rPr lang="ru-RU" sz="1100" dirty="0">
                          <a:effectLst/>
                        </a:rPr>
                        <a:t> </a:t>
                      </a:r>
                      <a:r>
                        <a:rPr lang="ru-RU" sz="1100" dirty="0" err="1">
                          <a:effectLst/>
                        </a:rPr>
                        <a:t>Economy</a:t>
                      </a:r>
                      <a:r>
                        <a:rPr lang="ru-RU" sz="1100" dirty="0">
                          <a:effectLst/>
                        </a:rPr>
                        <a:t>/</a:t>
                      </a:r>
                      <a:r>
                        <a:rPr lang="ru-RU" sz="1100" dirty="0" err="1">
                          <a:effectLst/>
                        </a:rPr>
                        <a:t>Freelance</a:t>
                      </a:r>
                      <a:r>
                        <a:rPr lang="ru-RU" sz="1100" dirty="0">
                          <a:effectLst/>
                        </a:rPr>
                        <a:t> Software </a:t>
                      </a:r>
                      <a:r>
                        <a:rPr lang="ru-RU" sz="1100" dirty="0" err="1">
                          <a:effectLst/>
                        </a:rPr>
                        <a:t>Dev</a:t>
                      </a:r>
                      <a:r>
                        <a:rPr lang="ru-RU" sz="1100" dirty="0">
                          <a:effectLst/>
                        </a:rPr>
                        <a:t>).</a:t>
                      </a:r>
                    </a:p>
                  </a:txBody>
                  <a:tcPr marL="57487" marR="57487" marT="26533" marB="26533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effectLst/>
                        </a:rPr>
                        <a:t>Top-Down:</a:t>
                      </a:r>
                      <a:r>
                        <a:rPr lang="en-US" sz="1100" dirty="0">
                          <a:effectLst/>
                        </a:rPr>
                        <a:t> </a:t>
                      </a:r>
                      <a:r>
                        <a:rPr lang="ru-RU" sz="1100" dirty="0">
                          <a:effectLst/>
                        </a:rPr>
                        <a:t>Объем рынка фриланс-платформ в категории </a:t>
                      </a:r>
                      <a:r>
                        <a:rPr lang="en-US" sz="1100" dirty="0">
                          <a:effectLst/>
                        </a:rPr>
                        <a:t>IT/Dev (</a:t>
                      </a:r>
                      <a:r>
                        <a:rPr lang="ru-RU" sz="1100" dirty="0">
                          <a:effectLst/>
                        </a:rPr>
                        <a:t>источники: </a:t>
                      </a:r>
                      <a:r>
                        <a:rPr lang="en-US" sz="1100" dirty="0">
                          <a:effectLst/>
                        </a:rPr>
                        <a:t>Grand View Research, </a:t>
                      </a:r>
                      <a:r>
                        <a:rPr lang="ru-RU" sz="1100" dirty="0">
                          <a:effectLst/>
                        </a:rPr>
                        <a:t>отчеты </a:t>
                      </a:r>
                      <a:r>
                        <a:rPr lang="en-US" sz="1100" dirty="0">
                          <a:effectLst/>
                        </a:rPr>
                        <a:t>Upwork/Fiverr). </a:t>
                      </a:r>
                      <a:r>
                        <a:rPr lang="ru-RU" sz="1100" dirty="0">
                          <a:effectLst/>
                        </a:rPr>
                        <a:t>Мы замещаем этот рынок.</a:t>
                      </a:r>
                    </a:p>
                  </a:txBody>
                  <a:tcPr marL="57487" marR="57487" marT="26533" marB="26533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 b="1" dirty="0">
                          <a:effectLst/>
                        </a:rPr>
                        <a:t>~$30 млрд</a:t>
                      </a:r>
                      <a:endParaRPr lang="ru-RU" sz="1100" dirty="0">
                        <a:effectLst/>
                      </a:endParaRPr>
                    </a:p>
                  </a:txBody>
                  <a:tcPr marL="57487" marR="57487" marT="26533" marB="26533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989206"/>
                  </a:ext>
                </a:extLst>
              </a:tr>
              <a:tr h="1434074"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effectLst/>
                        </a:rPr>
                        <a:t>SAM</a:t>
                      </a:r>
                      <a:r>
                        <a:rPr lang="en-US" sz="1050" dirty="0">
                          <a:effectLst/>
                        </a:rPr>
                        <a:t> (Serviceable Available Market)</a:t>
                      </a:r>
                    </a:p>
                  </a:txBody>
                  <a:tcPr marL="57487" marR="57487" marT="26533" marB="26533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 dirty="0">
                          <a:effectLst/>
                        </a:rPr>
                        <a:t>Рынок готовых скриптов, шаблонов и микро-</a:t>
                      </a:r>
                      <a:r>
                        <a:rPr lang="ru-RU" sz="1100" dirty="0" err="1">
                          <a:effectLst/>
                        </a:rPr>
                        <a:t>SaaS</a:t>
                      </a:r>
                      <a:r>
                        <a:rPr lang="ru-RU" sz="1100" dirty="0">
                          <a:effectLst/>
                        </a:rPr>
                        <a:t> (сделки до $5k).</a:t>
                      </a:r>
                    </a:p>
                  </a:txBody>
                  <a:tcPr marL="57487" marR="57487" marT="26533" marB="26533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 b="1" dirty="0">
                          <a:effectLst/>
                        </a:rPr>
                        <a:t>Комбинированный:</a:t>
                      </a:r>
                      <a:r>
                        <a:rPr lang="ru-RU" sz="1100" dirty="0">
                          <a:effectLst/>
                        </a:rPr>
                        <a:t> Оценка оборота конкурентов (</a:t>
                      </a:r>
                      <a:r>
                        <a:rPr lang="en-US" sz="1100" dirty="0" err="1">
                          <a:effectLst/>
                        </a:rPr>
                        <a:t>CodeCanyon</a:t>
                      </a:r>
                      <a:r>
                        <a:rPr lang="en-US" sz="1100" dirty="0">
                          <a:effectLst/>
                        </a:rPr>
                        <a:t>, Flippa, </a:t>
                      </a:r>
                      <a:r>
                        <a:rPr lang="en-US" sz="1100" dirty="0" err="1">
                          <a:effectLst/>
                        </a:rPr>
                        <a:t>MicroAcquire</a:t>
                      </a:r>
                      <a:r>
                        <a:rPr lang="en-US" sz="1100" dirty="0">
                          <a:effectLst/>
                        </a:rPr>
                        <a:t> </a:t>
                      </a:r>
                      <a:r>
                        <a:rPr lang="ru-RU" sz="1100" dirty="0">
                          <a:effectLst/>
                        </a:rPr>
                        <a:t>в сегменте </a:t>
                      </a:r>
                      <a:r>
                        <a:rPr lang="en-US" sz="1100" dirty="0">
                          <a:effectLst/>
                        </a:rPr>
                        <a:t>low-tier) + «</a:t>
                      </a:r>
                      <a:r>
                        <a:rPr lang="ru-RU" sz="1100" dirty="0">
                          <a:effectLst/>
                        </a:rPr>
                        <a:t>теневой» рынок (форумы).</a:t>
                      </a:r>
                    </a:p>
                  </a:txBody>
                  <a:tcPr marL="57487" marR="57487" marT="26533" marB="26533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 b="1">
                          <a:effectLst/>
                        </a:rPr>
                        <a:t>~$600 млн</a:t>
                      </a:r>
                      <a:endParaRPr lang="ru-RU" sz="1100">
                        <a:effectLst/>
                      </a:endParaRPr>
                    </a:p>
                  </a:txBody>
                  <a:tcPr marL="57487" marR="57487" marT="26533" marB="26533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2499184"/>
                  </a:ext>
                </a:extLst>
              </a:tr>
              <a:tr h="1434074"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effectLst/>
                        </a:rPr>
                        <a:t>SOM</a:t>
                      </a:r>
                      <a:r>
                        <a:rPr lang="en-US" sz="1050" dirty="0">
                          <a:effectLst/>
                        </a:rPr>
                        <a:t> (Serviceable Obtainable Market)</a:t>
                      </a:r>
                    </a:p>
                  </a:txBody>
                  <a:tcPr marL="57487" marR="57487" marT="26533" marB="26533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>
                          <a:effectLst/>
                        </a:rPr>
                        <a:t>Доля, которую мы можем занять за 2-3 года.</a:t>
                      </a:r>
                    </a:p>
                  </a:txBody>
                  <a:tcPr marL="57487" marR="57487" marT="26533" marB="26533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 b="1" dirty="0" err="1">
                          <a:effectLst/>
                        </a:rPr>
                        <a:t>Bottom</a:t>
                      </a:r>
                      <a:r>
                        <a:rPr lang="ru-RU" sz="1100" b="1" dirty="0">
                          <a:effectLst/>
                        </a:rPr>
                        <a:t>-Up:</a:t>
                      </a:r>
                      <a:r>
                        <a:rPr lang="ru-RU" sz="1100" dirty="0">
                          <a:effectLst/>
                        </a:rPr>
                        <a:t> 20,000 сделок в год (0.5% от активных мейкеров на </a:t>
                      </a:r>
                      <a:r>
                        <a:rPr lang="ru-RU" sz="1100" dirty="0" err="1">
                          <a:effectLst/>
                        </a:rPr>
                        <a:t>ProductHunt</a:t>
                      </a:r>
                      <a:r>
                        <a:rPr lang="ru-RU" sz="1100" dirty="0">
                          <a:effectLst/>
                        </a:rPr>
                        <a:t>) × Средний чек $500 × Комиссия маркетплейса (15% + доп. услуги).</a:t>
                      </a:r>
                    </a:p>
                  </a:txBody>
                  <a:tcPr marL="57487" marR="57487" marT="26533" marB="26533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100" b="1" dirty="0">
                          <a:effectLst/>
                        </a:rPr>
                        <a:t>~$1.5 млн</a:t>
                      </a:r>
                      <a:r>
                        <a:rPr lang="ru-RU" sz="1100" dirty="0">
                          <a:effectLst/>
                        </a:rPr>
                        <a:t> (Выручка) / </a:t>
                      </a:r>
                      <a:r>
                        <a:rPr lang="ru-RU" sz="1100" b="1" dirty="0">
                          <a:effectLst/>
                        </a:rPr>
                        <a:t>$10 млн</a:t>
                      </a:r>
                      <a:r>
                        <a:rPr lang="ru-RU" sz="1100" dirty="0">
                          <a:effectLst/>
                        </a:rPr>
                        <a:t> (GMV)</a:t>
                      </a:r>
                    </a:p>
                  </a:txBody>
                  <a:tcPr marL="57487" marR="57487" marT="26533" marB="26533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302125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2098807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14:reveal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1E60D61-76C5-C254-3079-76F122827F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sz="4000" b="1" dirty="0">
                <a:latin typeface="Montserrat bold"/>
              </a:rPr>
              <a:t>Why Now</a:t>
            </a:r>
            <a:r>
              <a:rPr lang="ru-RU" sz="4000" b="1" dirty="0">
                <a:latin typeface="Montserrat bold"/>
              </a:rPr>
              <a:t>. Почему сейчас?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FC00FE6-0A90-368F-07A2-1BE3FB21AF58}"/>
              </a:ext>
            </a:extLst>
          </p:cNvPr>
          <p:cNvSpPr txBox="1"/>
          <p:nvPr/>
        </p:nvSpPr>
        <p:spPr>
          <a:xfrm>
            <a:off x="838200" y="1112985"/>
            <a:ext cx="92032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/>
              <a:t>— AI делает аудит «мертвого кода» дешевым и мгновенным.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B6C928-4572-DAA4-52E1-AA187C0091E6}"/>
              </a:ext>
            </a:extLst>
          </p:cNvPr>
          <p:cNvSpPr txBox="1"/>
          <p:nvPr/>
        </p:nvSpPr>
        <p:spPr>
          <a:xfrm>
            <a:off x="728133" y="1690062"/>
            <a:ext cx="1073573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/>
              <a:t>Технологический драйвер (</a:t>
            </a:r>
            <a:r>
              <a:rPr lang="ru-RU" sz="2000" dirty="0" err="1"/>
              <a:t>GenAI</a:t>
            </a:r>
            <a:r>
              <a:rPr lang="ru-RU" sz="2000" dirty="0"/>
              <a:t>): Раньше аудит кода стоил $2000 (человеко-часы сеньора). Сегодня LLM (GPT-4/</a:t>
            </a:r>
            <a:r>
              <a:rPr lang="ru-RU" sz="2000" dirty="0" err="1"/>
              <a:t>Claude</a:t>
            </a:r>
            <a:r>
              <a:rPr lang="ru-RU" sz="2000" dirty="0"/>
              <a:t>) проводят глубокий статический анализ, поиск уязвимостей и оценку </a:t>
            </a:r>
            <a:r>
              <a:rPr lang="ru-RU" sz="2000" dirty="0" err="1"/>
              <a:t>техдолга</a:t>
            </a:r>
            <a:r>
              <a:rPr lang="ru-RU" sz="2000" dirty="0"/>
              <a:t> за $0.50. Это разблокирует ликвидность рынка.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ru-RU" sz="2000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9F3DEB08-E2CF-7C36-B86A-C4A5C39ACC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7933" y="5304664"/>
            <a:ext cx="1346200" cy="1346200"/>
          </a:xfrm>
          <a:prstGeom prst="rect">
            <a:avLst/>
          </a:prstGeom>
        </p:spPr>
      </p:pic>
      <p:pic>
        <p:nvPicPr>
          <p:cNvPr id="3080" name="Picture 8" descr="Рынок – Бесплатные иконки: бизнес">
            <a:extLst>
              <a:ext uri="{FF2B5EF4-FFF2-40B4-BE49-F238E27FC236}">
                <a16:creationId xmlns:a16="http://schemas.microsoft.com/office/drawing/2014/main" id="{D31F5673-4B8C-974B-1A5A-FBC5A18686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74002" y="5218379"/>
            <a:ext cx="1515532" cy="15155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8EEAD1E7-8FF1-C7C3-A531-D08018728545}"/>
              </a:ext>
            </a:extLst>
          </p:cNvPr>
          <p:cNvSpPr txBox="1"/>
          <p:nvPr/>
        </p:nvSpPr>
        <p:spPr>
          <a:xfrm>
            <a:off x="728133" y="2877663"/>
            <a:ext cx="1073573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/>
              <a:t>Экономический драйвер (</a:t>
            </a:r>
            <a:r>
              <a:rPr lang="ru-RU" sz="2000" dirty="0" err="1"/>
              <a:t>Bootstrap</a:t>
            </a:r>
            <a:r>
              <a:rPr lang="ru-RU" sz="2000" dirty="0"/>
              <a:t> </a:t>
            </a:r>
            <a:r>
              <a:rPr lang="ru-RU" sz="2000" dirty="0" err="1"/>
              <a:t>Era</a:t>
            </a:r>
            <a:r>
              <a:rPr lang="ru-RU" sz="2000" dirty="0"/>
              <a:t>): Эпоха «легких венчурных денег» закончилась. Стартапы ищут способы срезать </a:t>
            </a:r>
            <a:r>
              <a:rPr lang="ru-RU" sz="2000" dirty="0" err="1"/>
              <a:t>косты</a:t>
            </a:r>
            <a:r>
              <a:rPr lang="ru-RU" sz="2000" dirty="0"/>
              <a:t> (</a:t>
            </a:r>
            <a:r>
              <a:rPr lang="ru-RU" sz="2000" dirty="0" err="1"/>
              <a:t>cost-cutting</a:t>
            </a:r>
            <a:r>
              <a:rPr lang="ru-RU" sz="2000" dirty="0"/>
              <a:t>). Покупка основы вместо разработки с нуля — тренд эффективности.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86E0CC5-9F4A-C025-36C0-6A57FC1A87A8}"/>
              </a:ext>
            </a:extLst>
          </p:cNvPr>
          <p:cNvSpPr txBox="1"/>
          <p:nvPr/>
        </p:nvSpPr>
        <p:spPr>
          <a:xfrm>
            <a:off x="728133" y="3740245"/>
            <a:ext cx="10735733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endParaRPr lang="ru-RU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/>
              <a:t>Рыночный драйвер (No-</a:t>
            </a:r>
            <a:r>
              <a:rPr lang="ru-RU" sz="2000" dirty="0" err="1"/>
              <a:t>code</a:t>
            </a:r>
            <a:r>
              <a:rPr lang="ru-RU" sz="2000" dirty="0"/>
              <a:t> усталость): No-</a:t>
            </a:r>
            <a:r>
              <a:rPr lang="ru-RU" sz="2000" dirty="0" err="1"/>
              <a:t>code</a:t>
            </a:r>
            <a:r>
              <a:rPr lang="ru-RU" sz="2000" dirty="0"/>
              <a:t> решения имеют потолок масштабируемости. Предприниматели возвращаются к чистому коду (</a:t>
            </a:r>
            <a:r>
              <a:rPr lang="ru-RU" sz="2000" dirty="0" err="1"/>
              <a:t>code-based</a:t>
            </a:r>
            <a:r>
              <a:rPr lang="ru-RU" sz="2000" dirty="0"/>
              <a:t>), но хотят скорости No-</a:t>
            </a:r>
            <a:r>
              <a:rPr lang="ru-RU" sz="2000" dirty="0" err="1"/>
              <a:t>code</a:t>
            </a:r>
            <a:r>
              <a:rPr lang="ru-RU" sz="2000" dirty="0"/>
              <a:t> инструментов. Наше решение дает именно это.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ru-RU" sz="2000" dirty="0"/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4684C030-B313-4D29-4EFB-9C8A45547A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80468" y="5112546"/>
            <a:ext cx="1727199" cy="172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650888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14:reveal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0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4" grpId="0"/>
      <p:bldP spid="1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07F2B5A-3F11-E058-25A2-B6F44B7C4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ru-RU" sz="4000" b="1" dirty="0">
                <a:latin typeface="Montserrat bold"/>
              </a:rPr>
              <a:t>Источники</a:t>
            </a:r>
          </a:p>
        </p:txBody>
      </p:sp>
    </p:spTree>
    <p:extLst>
      <p:ext uri="{BB962C8B-B14F-4D97-AF65-F5344CB8AC3E}">
        <p14:creationId xmlns:p14="http://schemas.microsoft.com/office/powerpoint/2010/main" val="205263650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14:reveal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</TotalTime>
  <Words>502</Words>
  <Application>Microsoft Office PowerPoint</Application>
  <PresentationFormat>Широкоэкранный</PresentationFormat>
  <Paragraphs>36</Paragraphs>
  <Slides>6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Montserrat bold</vt:lpstr>
      <vt:lpstr>Тема Office</vt:lpstr>
      <vt:lpstr>Практическое занятие №7: Формирование слайдов инвестиционного дека</vt:lpstr>
      <vt:lpstr>Problem (Потребность)*недоделано</vt:lpstr>
      <vt:lpstr>Customer (Целевой клиент)</vt:lpstr>
      <vt:lpstr>Market (TAM/SAM/SOM)</vt:lpstr>
      <vt:lpstr>Why Now. Почему сейчас?</vt:lpstr>
      <vt:lpstr>Источники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Артём Кан</dc:creator>
  <cp:lastModifiedBy>Артём Кан</cp:lastModifiedBy>
  <cp:revision>2</cp:revision>
  <dcterms:created xsi:type="dcterms:W3CDTF">2026-03-05T11:37:04Z</dcterms:created>
  <dcterms:modified xsi:type="dcterms:W3CDTF">2026-03-05T12:14:47Z</dcterms:modified>
</cp:coreProperties>
</file>