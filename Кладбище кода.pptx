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7" r:id="rId2"/>
    <p:sldId id="256" r:id="rId3"/>
    <p:sldId id="258" r:id="rId4"/>
    <p:sldId id="265" r:id="rId5"/>
    <p:sldId id="264" r:id="rId6"/>
    <p:sldId id="263" r:id="rId7"/>
    <p:sldId id="259" r:id="rId8"/>
    <p:sldId id="262" r:id="rId9"/>
    <p:sldId id="260" r:id="rId10"/>
    <p:sldId id="261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48" autoAdjust="0"/>
    <p:restoredTop sz="94660"/>
  </p:normalViewPr>
  <p:slideViewPr>
    <p:cSldViewPr snapToGrid="0">
      <p:cViewPr varScale="1">
        <p:scale>
          <a:sx n="90" d="100"/>
          <a:sy n="90" d="100"/>
        </p:scale>
        <p:origin x="23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015457-7654-4F7F-8DAF-E22BBB1D37EA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BC4CFA-4719-4B61-A69B-B9B75EA407D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58561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BC4CFA-4719-4B61-A69B-B9B75EA407DC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57464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5A74AD-138D-0931-2CB6-4260BEE728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706867A-B19A-58D0-1583-ACF8D56910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D7E33C0-9A21-40CC-9BEF-892B439ADA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D4E282D-B207-AD7E-CF32-569E82A18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617C3B4-61F9-F958-7A1D-F5238AA52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77732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3DE2846-01A9-BB1E-95BC-2BD2FE5EE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85F2F61-1CDD-E4CD-C2F8-146A8A912F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711DE8D-03CE-AB5A-4A98-6790C85F3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79F8EB1-28EB-1F5D-017C-4B24BB88E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F56941D-13FE-C331-73F0-EDA0DC812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18258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19989E-7677-58EF-CDAC-780C866F7A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AEBFB4F-1F12-D874-0641-BC05825D68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D5271F9-91DF-5965-C3CA-C90E96F485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64818B9-6530-E8F4-AE61-113FED65E6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E572DB6-A51A-8F43-BC92-FC34F53E6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504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F568A7-D672-C5A7-9DE0-79EAB86EA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896A90C-384A-C15B-7CD5-9DA4E13750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4795970-31CF-FCC9-01E6-F24E00C2CB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EB065E3-2F72-4E06-6C31-786FB6058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C908FE1-82D5-180E-2777-1D1D0D7A4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7338D62-BD0B-F56D-1EB7-427A58558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4439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1FE923-E610-3069-3A81-E1CEA66CE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AF2162E-E1A0-C915-C099-DDAF3D5DA4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2DF52EA-E8D4-25A2-5902-A24BEAE1C5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B910A8C-7CD8-966F-0E1C-CC28ACB249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753EDF9-9649-2AF7-B7DC-D72E34213D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622B9F8-7003-EBCA-9A36-3004153589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E2F4E03C-1D19-DBF7-DB1D-3128AF41F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A67D8A3A-BA9A-C467-9824-F790F9B96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36912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BE1906-F3F5-5E3A-5404-BE2379CBB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502CBF3-90A1-5A8D-1224-1551CBD18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CBEDF832-5A7A-0513-99D6-C6C9E30F4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7B2FA3B-D296-2CAD-9185-4B4908AFF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3619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0332387E-01AB-007E-9232-AC518225F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F0651FC8-21D2-68DB-2B93-730B3ADBF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B6798F5-1EF7-4C8D-033C-261708803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0255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44587F-C8F7-3663-9D0A-C40632B68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71342C4-5023-B3E5-50D9-181300BE67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6642D4B-075A-8C93-B60F-D641FEDECF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00618A8-630A-A0E2-7F3F-B4C6EEE0A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7D29EE8-7BAC-B1AC-ED00-8B48B83C6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D5BB934-6D40-0F0D-0416-C76967160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2670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7C65339-FBE9-340E-5F99-5C9039634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99390B63-D5F3-2275-CC4B-2EBA158E8D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B74CA32-5F41-BDBD-F731-BEE85308F6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7377849-2266-F37D-9058-A3D7A866C5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FD08CF1-8C90-E59B-9EB8-00D1C0A28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112118E-876D-DD5F-176B-C536B0FA8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1684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4AEC99-C86F-146C-11A3-1C2A2808A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978B6C7-8CE3-EAA2-7E54-89573DBF12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B11508A-A6E7-42FC-74B9-DDDE0456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F1ADC3B-0C59-A9B4-D2AF-00B8850D0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B1D406C-AD3B-717C-6DAB-CB3E84094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28297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8832B8A-22B3-8BB1-5241-DF7FE2C84D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C0D5B64-98A3-82CD-31BF-8E43CDBB94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CF8BCF4-B26C-99CD-96C7-AC97B5561A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575B260-34F5-737E-1996-57C899C194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BBA577B-2772-1EB8-BDE4-8DAD22AAA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63785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61E58F-814B-EF59-8FC4-1587DF830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42AD964-04DD-9C40-1BCD-78EF9D2592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34F11B5-B7BD-0AD1-EBBC-3ECBAD0B6A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F74606-FA95-42E0-82DE-4EF459D2E10D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C235B84-F787-0445-54BD-48DCE7E154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83A691A-6F5A-47D8-EEC7-08B26E4577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0242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ED0BF07-C700-669E-D50B-A22D3029A3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81498"/>
            <a:ext cx="9433683" cy="1075025"/>
          </a:xfrm>
        </p:spPr>
        <p:txBody>
          <a:bodyPr>
            <a:normAutofit fontScale="90000"/>
          </a:bodyPr>
          <a:lstStyle/>
          <a:p>
            <a:r>
              <a:rPr lang="ru-RU" sz="4000" b="1" dirty="0">
                <a:latin typeface="Montserrat bold"/>
              </a:rPr>
              <a:t>Практическое занятие №7: Формирование слайдов инвестиционного дека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52E158F-86A5-D420-7767-60EA8B60CD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26777"/>
            <a:ext cx="9144000" cy="1655762"/>
          </a:xfrm>
        </p:spPr>
        <p:txBody>
          <a:bodyPr>
            <a:normAutofit lnSpcReduction="10000"/>
          </a:bodyPr>
          <a:lstStyle/>
          <a:p>
            <a:pPr algn="l"/>
            <a:r>
              <a:rPr lang="ru-RU" b="1" dirty="0"/>
              <a:t>Предмет: </a:t>
            </a:r>
            <a:r>
              <a:rPr lang="ru-RU" dirty="0"/>
              <a:t>Стартап в информационных технологиях. </a:t>
            </a:r>
          </a:p>
          <a:p>
            <a:pPr algn="l"/>
            <a:r>
              <a:rPr lang="ru-RU" b="1" dirty="0"/>
              <a:t>Неделя</a:t>
            </a:r>
            <a:r>
              <a:rPr lang="ru-RU" dirty="0"/>
              <a:t> – </a:t>
            </a:r>
            <a:r>
              <a:rPr lang="en-US" dirty="0"/>
              <a:t>4</a:t>
            </a:r>
            <a:r>
              <a:rPr lang="ru-RU" dirty="0"/>
              <a:t>.</a:t>
            </a:r>
          </a:p>
          <a:p>
            <a:pPr algn="l"/>
            <a:r>
              <a:rPr lang="ru-RU" b="1" dirty="0"/>
              <a:t>Выполняли: </a:t>
            </a:r>
            <a:r>
              <a:rPr lang="ru-RU" dirty="0"/>
              <a:t>Артём Кан, Денис </a:t>
            </a:r>
            <a:r>
              <a:rPr lang="ru-RU" dirty="0" err="1"/>
              <a:t>Ярошинский</a:t>
            </a:r>
            <a:r>
              <a:rPr lang="ru-RU" dirty="0"/>
              <a:t>, Максим Боголепов, Егор Афонин. </a:t>
            </a:r>
          </a:p>
        </p:txBody>
      </p:sp>
      <p:pic>
        <p:nvPicPr>
          <p:cNvPr id="1026" name="Picture 2" descr="Marketplace – Бесплатные иконки: коммерция">
            <a:extLst>
              <a:ext uri="{FF2B5EF4-FFF2-40B4-BE49-F238E27FC236}">
                <a16:creationId xmlns:a16="http://schemas.microsoft.com/office/drawing/2014/main" id="{EFA3FE62-555E-E557-72EA-B696C25A91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4666" y="1591428"/>
            <a:ext cx="2065867" cy="2065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4326581-D124-3964-629B-F77365F1B755}"/>
              </a:ext>
            </a:extLst>
          </p:cNvPr>
          <p:cNvSpPr txBox="1"/>
          <p:nvPr/>
        </p:nvSpPr>
        <p:spPr>
          <a:xfrm>
            <a:off x="3539067" y="2331058"/>
            <a:ext cx="801188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i="0" dirty="0">
                <a:effectLst/>
              </a:rPr>
              <a:t>Тема: </a:t>
            </a:r>
            <a:r>
              <a:rPr lang="ru-RU" sz="2400" i="0" dirty="0">
                <a:effectLst/>
              </a:rPr>
              <a:t>Веб-платформа для купли-продажи недоделанных или заброшенных IT-проектов с автоматизированным AI-аудитом кода и оценкой потенциала.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87622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Икона надгробного камня идеально подходит для мемориальных и похоронных тем  | Премиум вектор">
            <a:extLst>
              <a:ext uri="{FF2B5EF4-FFF2-40B4-BE49-F238E27FC236}">
                <a16:creationId xmlns:a16="http://schemas.microsoft.com/office/drawing/2014/main" id="{50C1C68B-A13B-64BA-7AC9-B202D6C34E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733" y="4561145"/>
            <a:ext cx="2225305" cy="22253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248B6187-F6ED-30FB-52BC-A9B97F3A913B}"/>
              </a:ext>
            </a:extLst>
          </p:cNvPr>
          <p:cNvSpPr/>
          <p:nvPr/>
        </p:nvSpPr>
        <p:spPr>
          <a:xfrm>
            <a:off x="2665364" y="4955144"/>
            <a:ext cx="6553200" cy="956791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DA7AD6B-22A0-453C-1D90-BFCF393F40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8466"/>
            <a:ext cx="9144000" cy="685801"/>
          </a:xfrm>
        </p:spPr>
        <p:txBody>
          <a:bodyPr>
            <a:normAutofit/>
          </a:bodyPr>
          <a:lstStyle/>
          <a:p>
            <a:r>
              <a:rPr lang="en-US" sz="4000" b="1" dirty="0">
                <a:latin typeface="Montserrat bold"/>
              </a:rPr>
              <a:t>Problem (</a:t>
            </a:r>
            <a:r>
              <a:rPr lang="ru-RU" sz="4000" b="1" dirty="0">
                <a:latin typeface="Montserrat bold"/>
              </a:rPr>
              <a:t>Потребность)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D0E8E8-163D-50FB-F855-6B71EA158E64}"/>
              </a:ext>
            </a:extLst>
          </p:cNvPr>
          <p:cNvSpPr txBox="1"/>
          <p:nvPr/>
        </p:nvSpPr>
        <p:spPr>
          <a:xfrm>
            <a:off x="571500" y="822534"/>
            <a:ext cx="938953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i="0" dirty="0">
                <a:effectLst/>
              </a:rPr>
              <a:t> Проблема: «Кладбище кода» — потеря ресурсов и высокие барьеры старта</a:t>
            </a:r>
            <a:endParaRPr lang="ru-RU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0BBF93-4FCA-7C06-AFE2-0BFB45082DCA}"/>
              </a:ext>
            </a:extLst>
          </p:cNvPr>
          <p:cNvSpPr txBox="1"/>
          <p:nvPr/>
        </p:nvSpPr>
        <p:spPr>
          <a:xfrm>
            <a:off x="571499" y="2006600"/>
            <a:ext cx="10740931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/>
              <a:t>Контекст (</a:t>
            </a:r>
            <a:r>
              <a:rPr lang="ru-RU" sz="2000" b="1" dirty="0" err="1"/>
              <a:t>Sunk</a:t>
            </a:r>
            <a:r>
              <a:rPr lang="ru-RU" sz="2000" b="1" dirty="0"/>
              <a:t> </a:t>
            </a:r>
            <a:r>
              <a:rPr lang="ru-RU" sz="2000" b="1" dirty="0" err="1"/>
              <a:t>Costs</a:t>
            </a:r>
            <a:r>
              <a:rPr lang="ru-RU" sz="2000" b="1" dirty="0"/>
              <a:t>): </a:t>
            </a:r>
            <a:r>
              <a:rPr lang="ru-RU" sz="2000" dirty="0"/>
              <a:t>Ежегодно тысячи российских разработчиков и небольших студий забрасывают проекты на стадии готовности 40–70% (MVP) из-за выгорания или кассовых разрывов. Этот код умирает «в столе».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/>
              <a:t>Боль (Риски): </a:t>
            </a:r>
            <a:r>
              <a:rPr lang="ru-RU" sz="2000" dirty="0"/>
              <a:t>Покупатели (студии, предприниматели) хотят сэкономить и купить наработки, но боятся «кота в мешке» (спагетти-код, баги, закладки). Аудит стоит дороже самой покупки.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/>
              <a:t>Последствия: </a:t>
            </a:r>
            <a:r>
              <a:rPr lang="ru-RU" sz="2000" dirty="0"/>
              <a:t>Экономика теряет миллионы человеко-часов. Разработчики не могут монетизировать труд, а бизнес переплачивает за разработку с нуля (</a:t>
            </a:r>
            <a:r>
              <a:rPr lang="ru-RU" sz="2000" dirty="0" err="1"/>
              <a:t>Wheel</a:t>
            </a:r>
            <a:r>
              <a:rPr lang="ru-RU" sz="2000" dirty="0"/>
              <a:t> </a:t>
            </a:r>
            <a:r>
              <a:rPr lang="ru-RU" sz="2000" dirty="0" err="1"/>
              <a:t>Reinvention</a:t>
            </a:r>
            <a:r>
              <a:rPr lang="ru-RU" sz="2000" dirty="0"/>
              <a:t>).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4BFC2748-7F93-5E1E-4440-B10912E01BEF}"/>
              </a:ext>
            </a:extLst>
          </p:cNvPr>
          <p:cNvCxnSpPr>
            <a:cxnSpLocks/>
          </p:cNvCxnSpPr>
          <p:nvPr/>
        </p:nvCxnSpPr>
        <p:spPr>
          <a:xfrm>
            <a:off x="-592667" y="1830065"/>
            <a:ext cx="13191067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14B27B50-D665-3B2E-7E93-121C0E6B918C}"/>
              </a:ext>
            </a:extLst>
          </p:cNvPr>
          <p:cNvCxnSpPr>
            <a:cxnSpLocks/>
          </p:cNvCxnSpPr>
          <p:nvPr/>
        </p:nvCxnSpPr>
        <p:spPr>
          <a:xfrm>
            <a:off x="-452846" y="734267"/>
            <a:ext cx="1334757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FDD15EE3-D4EC-C108-B3CF-FEB9E8550C57}"/>
              </a:ext>
            </a:extLst>
          </p:cNvPr>
          <p:cNvCxnSpPr>
            <a:cxnSpLocks/>
          </p:cNvCxnSpPr>
          <p:nvPr/>
        </p:nvCxnSpPr>
        <p:spPr>
          <a:xfrm>
            <a:off x="571500" y="734267"/>
            <a:ext cx="0" cy="6424179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D08A2C0C-1EE0-FBE4-C4CB-F566B9ACB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324770"/>
            <a:ext cx="556259" cy="1625949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8118D2A-E9FE-CA03-EF45-92A3F7404F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1034" y="5128174"/>
            <a:ext cx="826701" cy="1091245"/>
          </a:xfrm>
          <a:prstGeom prst="rect">
            <a:avLst/>
          </a:prstGeom>
        </p:spPr>
      </p:pic>
      <p:pic>
        <p:nvPicPr>
          <p:cNvPr id="1028" name="Picture 4" descr="Логотип github – Бесплатные иконки: социальные медиа">
            <a:extLst>
              <a:ext uri="{FF2B5EF4-FFF2-40B4-BE49-F238E27FC236}">
                <a16:creationId xmlns:a16="http://schemas.microsoft.com/office/drawing/2014/main" id="{4C2A8C3E-AA6F-A8D2-8E8C-729D66BF06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2598" y="5128174"/>
            <a:ext cx="825137" cy="825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0744F0A-BDCA-44FE-6326-08E1A718EA73}"/>
              </a:ext>
            </a:extLst>
          </p:cNvPr>
          <p:cNvSpPr txBox="1"/>
          <p:nvPr/>
        </p:nvSpPr>
        <p:spPr>
          <a:xfrm>
            <a:off x="2728230" y="4971874"/>
            <a:ext cx="674914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92% стартапов в РФ закрываются в первые 3 года (по данным ФРИИ/Сбер), оставляя после себя неиспользованный IP (интеллектуальную собственность).</a:t>
            </a:r>
          </a:p>
        </p:txBody>
      </p:sp>
    </p:spTree>
    <p:extLst>
      <p:ext uri="{BB962C8B-B14F-4D97-AF65-F5344CB8AC3E}">
        <p14:creationId xmlns:p14="http://schemas.microsoft.com/office/powerpoint/2010/main" val="4307600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5" grpId="0"/>
      <p:bldP spid="1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652D0F89-0C02-10A3-AEC2-4DD3CF7C15F7}"/>
              </a:ext>
            </a:extLst>
          </p:cNvPr>
          <p:cNvSpPr/>
          <p:nvPr/>
        </p:nvSpPr>
        <p:spPr>
          <a:xfrm>
            <a:off x="1690279" y="4464835"/>
            <a:ext cx="7418615" cy="182735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0D4A04-2B8B-FE58-D7A5-B2B9B1C6D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039018"/>
          </a:xfrm>
        </p:spPr>
        <p:txBody>
          <a:bodyPr>
            <a:normAutofit/>
          </a:bodyPr>
          <a:lstStyle/>
          <a:p>
            <a:pPr algn="ctr"/>
            <a:r>
              <a:rPr lang="en-US" sz="4000" b="1" i="0" dirty="0">
                <a:effectLst/>
                <a:latin typeface="Montserrat bold"/>
              </a:rPr>
              <a:t>Customer (</a:t>
            </a:r>
            <a:r>
              <a:rPr lang="ru-RU" sz="4000" b="1" i="0" dirty="0">
                <a:effectLst/>
                <a:latin typeface="Montserrat bold"/>
              </a:rPr>
              <a:t>Целевой клиент)</a:t>
            </a:r>
            <a:endParaRPr lang="ru-RU" sz="4000" dirty="0">
              <a:latin typeface="Montserrat bol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BCF570-A402-3DDF-3978-3CE93C95748A}"/>
              </a:ext>
            </a:extLst>
          </p:cNvPr>
          <p:cNvSpPr txBox="1"/>
          <p:nvPr/>
        </p:nvSpPr>
        <p:spPr>
          <a:xfrm>
            <a:off x="2308859" y="808185"/>
            <a:ext cx="757428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/>
              <a:t>Целевой сегмент: «Охотники за быстрым стартом» (SMB и веб-студии)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B252E6-2B3D-B4F7-7491-6B6C27C1F9DB}"/>
              </a:ext>
            </a:extLst>
          </p:cNvPr>
          <p:cNvSpPr txBox="1"/>
          <p:nvPr/>
        </p:nvSpPr>
        <p:spPr>
          <a:xfrm>
            <a:off x="322217" y="1984429"/>
            <a:ext cx="999580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/>
              <a:t>Сегмент (B2B/Pro):</a:t>
            </a:r>
            <a:r>
              <a:rPr lang="ru-RU" sz="2000" dirty="0"/>
              <a:t> Небольшие веб-студии и серийные предприниматели в РФ.</a:t>
            </a:r>
          </a:p>
          <a:p>
            <a:endParaRPr lang="ru-RU" sz="2000" dirty="0"/>
          </a:p>
          <a:p>
            <a:r>
              <a:rPr lang="ru-RU" sz="2000" b="1" dirty="0"/>
              <a:t>Портрет:</a:t>
            </a:r>
            <a:r>
              <a:rPr lang="ru-RU" sz="2000" dirty="0"/>
              <a:t> Бюджет на запуск 100–500 тыс. руб., команда 1–3 человека. Ищут способы сократить </a:t>
            </a:r>
            <a:r>
              <a:rPr lang="ru-RU" sz="2000" dirty="0" err="1"/>
              <a:t>косты</a:t>
            </a:r>
            <a:r>
              <a:rPr lang="ru-RU" sz="2000" dirty="0"/>
              <a:t> на разработку MVP.</a:t>
            </a:r>
          </a:p>
          <a:p>
            <a:endParaRPr lang="ru-RU" sz="2000" dirty="0"/>
          </a:p>
          <a:p>
            <a:r>
              <a:rPr lang="ru-RU" sz="2000" b="1" dirty="0"/>
              <a:t>Ключевой барьер:</a:t>
            </a:r>
            <a:r>
              <a:rPr lang="ru-RU" sz="2000" dirty="0"/>
              <a:t> «А вдруг код кривой и я потрачу больше на его исправление?» (Решение: наш AI-аудит).</a:t>
            </a:r>
          </a:p>
        </p:txBody>
      </p:sp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4D230466-7E56-6FF3-6C6A-77752693E0CB}"/>
              </a:ext>
            </a:extLst>
          </p:cNvPr>
          <p:cNvCxnSpPr>
            <a:cxnSpLocks/>
          </p:cNvCxnSpPr>
          <p:nvPr/>
        </p:nvCxnSpPr>
        <p:spPr>
          <a:xfrm>
            <a:off x="-609600" y="1750791"/>
            <a:ext cx="13411200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2D4A4F0-AC01-FB2C-1912-B3D66D03DFFD}"/>
              </a:ext>
            </a:extLst>
          </p:cNvPr>
          <p:cNvSpPr txBox="1"/>
          <p:nvPr/>
        </p:nvSpPr>
        <p:spPr>
          <a:xfrm>
            <a:off x="1829615" y="4535703"/>
            <a:ext cx="284661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JTBD (Job To Be Done):</a:t>
            </a:r>
            <a:endParaRPr lang="ru-RU" sz="20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F8A0E86-49BF-556D-64AF-67623C878FD2}"/>
              </a:ext>
            </a:extLst>
          </p:cNvPr>
          <p:cNvSpPr txBox="1"/>
          <p:nvPr/>
        </p:nvSpPr>
        <p:spPr>
          <a:xfrm>
            <a:off x="2261778" y="4936541"/>
            <a:ext cx="670995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«Когда мне нужно быстро запустить MVP для проверки гипотезы или клиента, я хочу купить готовую кодовую базу (</a:t>
            </a:r>
            <a:r>
              <a:rPr lang="ru-RU" dirty="0" err="1"/>
              <a:t>backend</a:t>
            </a:r>
            <a:r>
              <a:rPr lang="ru-RU" dirty="0"/>
              <a:t>/</a:t>
            </a:r>
            <a:r>
              <a:rPr lang="ru-RU" dirty="0" err="1"/>
              <a:t>frontend</a:t>
            </a:r>
            <a:r>
              <a:rPr lang="ru-RU" dirty="0"/>
              <a:t>), чтобы не тратить 3 месяца и 1 млн руб. на разработку с нуля».</a:t>
            </a:r>
          </a:p>
        </p:txBody>
      </p:sp>
      <p:pic>
        <p:nvPicPr>
          <p:cNvPr id="1030" name="Picture 6" descr="клиент значок">
            <a:extLst>
              <a:ext uri="{FF2B5EF4-FFF2-40B4-BE49-F238E27FC236}">
                <a16:creationId xmlns:a16="http://schemas.microsoft.com/office/drawing/2014/main" id="{61BCCA62-AA4D-9638-3084-38DF24647E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46373" y="1716304"/>
            <a:ext cx="2819399" cy="281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значок транзакции | Премиум вектор">
            <a:extLst>
              <a:ext uri="{FF2B5EF4-FFF2-40B4-BE49-F238E27FC236}">
                <a16:creationId xmlns:a16="http://schemas.microsoft.com/office/drawing/2014/main" id="{E3AA7DE1-5F96-B79B-088F-002E42C6C8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6940" y="4420544"/>
            <a:ext cx="1690279" cy="1690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4672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8" grpId="0"/>
      <p:bldP spid="16" grpId="0"/>
      <p:bldP spid="2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5BBD74-3D77-F875-AE4D-F4D022F81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6659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4000" b="1" dirty="0"/>
              <a:t>Углубление конкурентного анализа</a:t>
            </a:r>
          </a:p>
        </p:txBody>
      </p:sp>
      <p:pic>
        <p:nvPicPr>
          <p:cNvPr id="2050" name="Picture 2" descr="Икона векторного изображения сравнительного анализа конкурентов может быть  использована для опроса | Премиум вектор">
            <a:extLst>
              <a:ext uri="{FF2B5EF4-FFF2-40B4-BE49-F238E27FC236}">
                <a16:creationId xmlns:a16="http://schemas.microsoft.com/office/drawing/2014/main" id="{D6F1B815-539F-7C5E-916F-DA8872FE0E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4204" y="1989666"/>
            <a:ext cx="4183592" cy="4183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330211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99DF8AFE-5A9F-7AB5-1633-9150E01684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9674819"/>
              </p:ext>
            </p:extLst>
          </p:nvPr>
        </p:nvGraphicFramePr>
        <p:xfrm>
          <a:off x="1261534" y="390833"/>
          <a:ext cx="9668932" cy="6076333"/>
        </p:xfrm>
        <a:graphic>
          <a:graphicData uri="http://schemas.openxmlformats.org/drawingml/2006/table">
            <a:tbl>
              <a:tblPr/>
              <a:tblGrid>
                <a:gridCol w="1381276">
                  <a:extLst>
                    <a:ext uri="{9D8B030D-6E8A-4147-A177-3AD203B41FA5}">
                      <a16:colId xmlns:a16="http://schemas.microsoft.com/office/drawing/2014/main" val="1009000014"/>
                    </a:ext>
                  </a:extLst>
                </a:gridCol>
                <a:gridCol w="1381276">
                  <a:extLst>
                    <a:ext uri="{9D8B030D-6E8A-4147-A177-3AD203B41FA5}">
                      <a16:colId xmlns:a16="http://schemas.microsoft.com/office/drawing/2014/main" val="360283583"/>
                    </a:ext>
                  </a:extLst>
                </a:gridCol>
                <a:gridCol w="1381276">
                  <a:extLst>
                    <a:ext uri="{9D8B030D-6E8A-4147-A177-3AD203B41FA5}">
                      <a16:colId xmlns:a16="http://schemas.microsoft.com/office/drawing/2014/main" val="1879918085"/>
                    </a:ext>
                  </a:extLst>
                </a:gridCol>
                <a:gridCol w="1381276">
                  <a:extLst>
                    <a:ext uri="{9D8B030D-6E8A-4147-A177-3AD203B41FA5}">
                      <a16:colId xmlns:a16="http://schemas.microsoft.com/office/drawing/2014/main" val="981260607"/>
                    </a:ext>
                  </a:extLst>
                </a:gridCol>
                <a:gridCol w="1381276">
                  <a:extLst>
                    <a:ext uri="{9D8B030D-6E8A-4147-A177-3AD203B41FA5}">
                      <a16:colId xmlns:a16="http://schemas.microsoft.com/office/drawing/2014/main" val="310088932"/>
                    </a:ext>
                  </a:extLst>
                </a:gridCol>
                <a:gridCol w="1381276">
                  <a:extLst>
                    <a:ext uri="{9D8B030D-6E8A-4147-A177-3AD203B41FA5}">
                      <a16:colId xmlns:a16="http://schemas.microsoft.com/office/drawing/2014/main" val="1011567565"/>
                    </a:ext>
                  </a:extLst>
                </a:gridCol>
                <a:gridCol w="1381276">
                  <a:extLst>
                    <a:ext uri="{9D8B030D-6E8A-4147-A177-3AD203B41FA5}">
                      <a16:colId xmlns:a16="http://schemas.microsoft.com/office/drawing/2014/main" val="1421712437"/>
                    </a:ext>
                  </a:extLst>
                </a:gridCol>
              </a:tblGrid>
              <a:tr h="238183">
                <a:tc>
                  <a:txBody>
                    <a:bodyPr/>
                    <a:lstStyle/>
                    <a:p>
                      <a:pPr algn="ctr"/>
                      <a:r>
                        <a:rPr lang="ru-RU" sz="1050" b="1" dirty="0">
                          <a:effectLst/>
                          <a:latin typeface="+mj-lt"/>
                        </a:rPr>
                        <a:t>Название / Тип решения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50" b="1" dirty="0">
                          <a:effectLst/>
                          <a:latin typeface="+mj-lt"/>
                        </a:rPr>
                        <a:t>Тип конкурента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50" b="1" dirty="0">
                          <a:effectLst/>
                          <a:latin typeface="+mj-lt"/>
                        </a:rPr>
                        <a:t>Целевой сегмент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50" b="1" dirty="0">
                          <a:effectLst/>
                          <a:latin typeface="+mj-lt"/>
                        </a:rPr>
                        <a:t>Ценностный тезис (Что обещают)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50" b="1" dirty="0">
                          <a:effectLst/>
                          <a:latin typeface="+mj-lt"/>
                        </a:rPr>
                        <a:t>Сильные стороны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50" b="1" dirty="0">
                          <a:effectLst/>
                          <a:latin typeface="+mj-lt"/>
                        </a:rPr>
                        <a:t>Слабые стороны / Ограничения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50" b="1" dirty="0">
                          <a:effectLst/>
                          <a:latin typeface="+mj-lt"/>
                        </a:rPr>
                        <a:t>Монетизация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0443577"/>
                  </a:ext>
                </a:extLst>
              </a:tr>
              <a:tr h="897767">
                <a:tc>
                  <a:txBody>
                    <a:bodyPr/>
                    <a:lstStyle/>
                    <a:p>
                      <a:pPr algn="ctr"/>
                      <a:r>
                        <a:rPr lang="ru-RU" sz="1050" b="1" dirty="0" err="1">
                          <a:effectLst/>
                          <a:latin typeface="+mn-lt"/>
                        </a:rPr>
                        <a:t>Kwork</a:t>
                      </a:r>
                      <a:r>
                        <a:rPr lang="ru-RU" sz="1050" b="1" dirty="0">
                          <a:effectLst/>
                          <a:latin typeface="+mn-lt"/>
                        </a:rPr>
                        <a:t> (Раздел «Скрипты и боты»)</a:t>
                      </a:r>
                      <a:endParaRPr lang="ru-RU" sz="1050" dirty="0">
                        <a:effectLst/>
                        <a:latin typeface="+mn-lt"/>
                      </a:endParaRP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Прямой (местный)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Фрилансеры, малый бизнес, веб-мастера.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«Магазин готовых решений: купи скрипт за 500 рублей и сэкономь время».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1. Огромный трафик в РФ.</a:t>
                      </a:r>
                      <a:br>
                        <a:rPr lang="ru-RU" sz="1000" b="1" dirty="0">
                          <a:effectLst/>
                        </a:rPr>
                      </a:br>
                      <a:r>
                        <a:rPr lang="ru-RU" sz="1000" b="1" dirty="0">
                          <a:effectLst/>
                        </a:rPr>
                        <a:t>2. Низкий порог входа.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1. Низкое качество кода </a:t>
                      </a:r>
                      <a:br>
                        <a:rPr lang="ru-RU" sz="1000" b="1" dirty="0">
                          <a:effectLst/>
                        </a:rPr>
                      </a:br>
                      <a:r>
                        <a:rPr lang="ru-RU" sz="1000" b="1" dirty="0">
                          <a:effectLst/>
                        </a:rPr>
                        <a:t>2. Отсутствие тех. аудита 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Комиссия платформы (~20%).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0282214"/>
                  </a:ext>
                </a:extLst>
              </a:tr>
              <a:tr h="677904"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 err="1">
                          <a:effectLst/>
                          <a:latin typeface="+mn-lt"/>
                        </a:rPr>
                        <a:t>Infostart</a:t>
                      </a:r>
                      <a:r>
                        <a:rPr lang="en-US" sz="1050" b="1" dirty="0">
                          <a:effectLst/>
                          <a:latin typeface="+mn-lt"/>
                        </a:rPr>
                        <a:t> (</a:t>
                      </a:r>
                      <a:r>
                        <a:rPr lang="ru-RU" sz="1050" b="1" dirty="0" err="1">
                          <a:effectLst/>
                          <a:latin typeface="+mn-lt"/>
                        </a:rPr>
                        <a:t>Инфостарт</a:t>
                      </a:r>
                      <a:r>
                        <a:rPr lang="ru-RU" sz="1050" b="1" dirty="0">
                          <a:effectLst/>
                          <a:latin typeface="+mn-lt"/>
                        </a:rPr>
                        <a:t>)</a:t>
                      </a:r>
                      <a:endParaRPr lang="ru-RU" sz="1050" dirty="0">
                        <a:effectLst/>
                        <a:latin typeface="+mn-lt"/>
                      </a:endParaRP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Прямой (нишевый)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1С-разработчики, бухгалтеры, интеграторы.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«Крупнейшее сообщество и маркетплейс разработок для 1С».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1. Высокое доверие и экспертность..</a:t>
                      </a:r>
                      <a:br>
                        <a:rPr lang="ru-RU" sz="1000" b="1" dirty="0">
                          <a:effectLst/>
                        </a:rPr>
                      </a:br>
                      <a:r>
                        <a:rPr lang="ru-RU" sz="1000" b="1" dirty="0">
                          <a:effectLst/>
                        </a:rPr>
                        <a:t>2. Огромная база готовых модулей.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1. Узкая ниша (только 1С).</a:t>
                      </a:r>
                      <a:br>
                        <a:rPr lang="ru-RU" sz="1000" b="1" dirty="0">
                          <a:effectLst/>
                        </a:rPr>
                      </a:br>
                      <a:r>
                        <a:rPr lang="ru-RU" sz="1000" b="1" dirty="0">
                          <a:effectLst/>
                        </a:rPr>
                        <a:t>2. Устаревший UI/UX.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>
                          <a:effectLst/>
                        </a:rPr>
                        <a:t>Подписка (абонемент) + продажа за внутреннюю валюту.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6951279"/>
                  </a:ext>
                </a:extLst>
              </a:tr>
              <a:tr h="897767"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effectLst/>
                          <a:latin typeface="+mn-lt"/>
                        </a:rPr>
                        <a:t>GitHub / GitLab (Open Source)</a:t>
                      </a:r>
                      <a:endParaRPr lang="en-US" sz="1050" dirty="0">
                        <a:effectLst/>
                        <a:latin typeface="+mn-lt"/>
                      </a:endParaRP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Косвенный / Замена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Все разработчики.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«Бесплатный код для всех. Совместная разработка».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1. Бесплатно.</a:t>
                      </a:r>
                      <a:br>
                        <a:rPr lang="ru-RU" sz="1000" b="1" dirty="0">
                          <a:effectLst/>
                        </a:rPr>
                      </a:br>
                      <a:r>
                        <a:rPr lang="ru-RU" sz="1000" b="1" dirty="0">
                          <a:effectLst/>
                        </a:rPr>
                        <a:t>2. Мировой стандарт.</a:t>
                      </a:r>
                      <a:br>
                        <a:rPr lang="ru-RU" sz="1000" b="1" dirty="0">
                          <a:effectLst/>
                        </a:rPr>
                      </a:br>
                      <a:r>
                        <a:rPr lang="ru-RU" sz="1000" b="1" dirty="0">
                          <a:effectLst/>
                        </a:rPr>
                        <a:t>3. Видна история изменений.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1. Требует времени на поиск и проверку.</a:t>
                      </a:r>
                      <a:br>
                        <a:rPr lang="ru-RU" sz="1000" b="1" dirty="0">
                          <a:effectLst/>
                        </a:rPr>
                      </a:br>
                      <a:r>
                        <a:rPr lang="ru-RU" sz="1000" b="1" dirty="0">
                          <a:effectLst/>
                        </a:rPr>
                        <a:t>2. Нет гарантий работоспособности.</a:t>
                      </a:r>
                      <a:br>
                        <a:rPr lang="ru-RU" sz="1000" b="1" dirty="0">
                          <a:effectLst/>
                        </a:rPr>
                      </a:br>
                      <a:r>
                        <a:rPr lang="ru-RU" sz="1000" b="1" dirty="0">
                          <a:effectLst/>
                        </a:rPr>
                        <a:t>3. Лицензионные ограничения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>
                          <a:effectLst/>
                        </a:rPr>
                        <a:t>Бесплатно (для </a:t>
                      </a:r>
                      <a:r>
                        <a:rPr lang="en-US" sz="1000" b="1">
                          <a:effectLst/>
                        </a:rPr>
                        <a:t>public).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842232"/>
                  </a:ext>
                </a:extLst>
              </a:tr>
              <a:tr h="732871"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 err="1">
                          <a:effectLst/>
                          <a:latin typeface="+mn-lt"/>
                        </a:rPr>
                        <a:t>Telderi</a:t>
                      </a:r>
                      <a:r>
                        <a:rPr lang="en-US" sz="1050" b="1" dirty="0">
                          <a:effectLst/>
                          <a:latin typeface="+mn-lt"/>
                        </a:rPr>
                        <a:t> (</a:t>
                      </a:r>
                      <a:r>
                        <a:rPr lang="ru-RU" sz="1050" b="1" dirty="0">
                          <a:effectLst/>
                          <a:latin typeface="+mn-lt"/>
                        </a:rPr>
                        <a:t>Биржа сайтов)</a:t>
                      </a:r>
                      <a:endParaRPr lang="ru-RU" sz="1050" dirty="0">
                        <a:effectLst/>
                        <a:latin typeface="+mn-lt"/>
                      </a:endParaRP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Косвенный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Веб-мастера, инвесторы в сайты.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«Безопасная покупка и продажа сайтов и доменов».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1. Лидер рынка купли-продажи IT-активов в РФ.</a:t>
                      </a:r>
                      <a:br>
                        <a:rPr lang="ru-RU" sz="1000" b="1" dirty="0">
                          <a:effectLst/>
                        </a:rPr>
                      </a:br>
                      <a:r>
                        <a:rPr lang="ru-RU" sz="1000" b="1" dirty="0">
                          <a:effectLst/>
                        </a:rPr>
                        <a:t>2. Проработанный юридический трансфер прав.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1. Продают готовый бизнес/трафик, а не чистый код.</a:t>
                      </a:r>
                      <a:br>
                        <a:rPr lang="ru-RU" sz="1000" b="1" dirty="0">
                          <a:effectLst/>
                        </a:rPr>
                      </a:br>
                      <a:r>
                        <a:rPr lang="ru-RU" sz="1000" b="1" dirty="0">
                          <a:effectLst/>
                        </a:rPr>
                        <a:t>2. Код часто «легаси» и плохого качества.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Комиссия со сделки.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0915605"/>
                  </a:ext>
                </a:extLst>
              </a:tr>
              <a:tr h="567974"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 err="1">
                          <a:effectLst/>
                          <a:latin typeface="+mn-lt"/>
                        </a:rPr>
                        <a:t>Envato</a:t>
                      </a:r>
                      <a:r>
                        <a:rPr lang="en-US" sz="1050" b="1" dirty="0">
                          <a:effectLst/>
                          <a:latin typeface="+mn-lt"/>
                        </a:rPr>
                        <a:t> Market (</a:t>
                      </a:r>
                      <a:r>
                        <a:rPr lang="en-US" sz="1050" b="1" dirty="0" err="1">
                          <a:effectLst/>
                          <a:latin typeface="+mn-lt"/>
                        </a:rPr>
                        <a:t>CodeCanyon</a:t>
                      </a:r>
                      <a:r>
                        <a:rPr lang="en-US" sz="1050" b="1" dirty="0">
                          <a:effectLst/>
                          <a:latin typeface="+mn-lt"/>
                        </a:rPr>
                        <a:t>)</a:t>
                      </a:r>
                      <a:endParaRPr lang="en-US" sz="1050" dirty="0">
                        <a:effectLst/>
                        <a:latin typeface="+mn-lt"/>
                      </a:endParaRP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Прямой (Глобальный)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Веб-студии, разработчики </a:t>
                      </a:r>
                      <a:r>
                        <a:rPr lang="en-US" sz="1000" b="1" dirty="0">
                          <a:effectLst/>
                        </a:rPr>
                        <a:t>CMS.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«Тысячи скриптов и плагинов от лучших разработчиков мира».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1. Эталонный ассортимент.</a:t>
                      </a:r>
                      <a:br>
                        <a:rPr lang="ru-RU" sz="1000" b="1" dirty="0">
                          <a:effectLst/>
                        </a:rPr>
                      </a:br>
                      <a:r>
                        <a:rPr lang="ru-RU" sz="1000" b="1" dirty="0">
                          <a:effectLst/>
                        </a:rPr>
                        <a:t>3. Хорошая документация.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1. Сложности с оплатой из РФ.</a:t>
                      </a:r>
                      <a:br>
                        <a:rPr lang="ru-RU" sz="1000" b="1" dirty="0">
                          <a:effectLst/>
                        </a:rPr>
                      </a:br>
                      <a:r>
                        <a:rPr lang="ru-RU" sz="1000" b="1" dirty="0">
                          <a:effectLst/>
                        </a:rPr>
                        <a:t>2. Языковой барьер.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Комиссия с продаж (до 50%).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5691276"/>
                  </a:ext>
                </a:extLst>
              </a:tr>
              <a:tr h="1062662">
                <a:tc>
                  <a:txBody>
                    <a:bodyPr/>
                    <a:lstStyle/>
                    <a:p>
                      <a:pPr algn="ctr"/>
                      <a:r>
                        <a:rPr lang="ru-RU" sz="1050" b="1" dirty="0">
                          <a:effectLst/>
                          <a:latin typeface="+mn-lt"/>
                        </a:rPr>
                        <a:t>Генеративный </a:t>
                      </a:r>
                      <a:r>
                        <a:rPr lang="en-US" sz="1050" b="1" dirty="0">
                          <a:effectLst/>
                          <a:latin typeface="+mn-lt"/>
                        </a:rPr>
                        <a:t>AI (ChatGPT, Copilot, </a:t>
                      </a:r>
                      <a:r>
                        <a:rPr lang="en-US" sz="1050" b="1" dirty="0" err="1">
                          <a:effectLst/>
                          <a:latin typeface="+mn-lt"/>
                        </a:rPr>
                        <a:t>DeepSeek</a:t>
                      </a:r>
                      <a:r>
                        <a:rPr lang="en-US" sz="1050" b="1" dirty="0">
                          <a:effectLst/>
                          <a:latin typeface="+mn-lt"/>
                        </a:rPr>
                        <a:t>)</a:t>
                      </a:r>
                      <a:endParaRPr lang="en-US" sz="1050" dirty="0">
                        <a:effectLst/>
                        <a:latin typeface="+mn-lt"/>
                      </a:endParaRP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Замена (Технологическая)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Разработчики любого уровня.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«Напишу код с нуля под твою задачу за секунды».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1. Мгновенный результат.</a:t>
                      </a:r>
                      <a:br>
                        <a:rPr lang="ru-RU" sz="1000" b="1" dirty="0">
                          <a:effectLst/>
                        </a:rPr>
                      </a:br>
                      <a:r>
                        <a:rPr lang="ru-RU" sz="1000" b="1" dirty="0">
                          <a:effectLst/>
                        </a:rPr>
                        <a:t>2. Кастомизация под запрос.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1. Ограничен контекстным окном 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Подписка.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411831"/>
                  </a:ext>
                </a:extLst>
              </a:tr>
              <a:tr h="622940"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effectLst/>
                          <a:latin typeface="+mn-lt"/>
                        </a:rPr>
                        <a:t>Hard Drive Graveyard (</a:t>
                      </a:r>
                      <a:r>
                        <a:rPr lang="ru-RU" sz="1050" b="1" dirty="0">
                          <a:effectLst/>
                          <a:latin typeface="+mn-lt"/>
                        </a:rPr>
                        <a:t>Инерция)</a:t>
                      </a:r>
                      <a:endParaRPr lang="ru-RU" sz="1050" dirty="0">
                        <a:effectLst/>
                        <a:latin typeface="+mn-lt"/>
                      </a:endParaRP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Замена (Поведенческая)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Разработчики с пет-проектами.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«Пусть лежит, вдруг пригодится (или лень выкладывать)».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1. Ноль усилий.</a:t>
                      </a:r>
                      <a:br>
                        <a:rPr lang="ru-RU" sz="1000" b="1" dirty="0">
                          <a:effectLst/>
                        </a:rPr>
                      </a:br>
                      <a:endParaRPr lang="ru-RU" sz="1000" b="1" dirty="0">
                        <a:effectLst/>
                      </a:endParaRP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1. Код устаревает и теряет ценность.</a:t>
                      </a:r>
                      <a:br>
                        <a:rPr lang="ru-RU" sz="1000" b="1" dirty="0">
                          <a:effectLst/>
                        </a:rPr>
                      </a:br>
                      <a:r>
                        <a:rPr lang="ru-RU" sz="1000" b="1" dirty="0">
                          <a:effectLst/>
                        </a:rPr>
                        <a:t>2. Не приносит денег.</a:t>
                      </a:r>
                      <a:br>
                        <a:rPr lang="ru-RU" sz="1000" b="1" dirty="0">
                          <a:effectLst/>
                        </a:rPr>
                      </a:br>
                      <a:endParaRPr lang="ru-RU" sz="1000" b="1" dirty="0">
                        <a:effectLst/>
                      </a:endParaRP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Отсутствует (упущенная выгода).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84635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23069499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A7F34201-5A61-655F-F1AA-F16C89EF9C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3148157"/>
              </p:ext>
            </p:extLst>
          </p:nvPr>
        </p:nvGraphicFramePr>
        <p:xfrm>
          <a:off x="1074769" y="866090"/>
          <a:ext cx="10042461" cy="512581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020689">
                  <a:extLst>
                    <a:ext uri="{9D8B030D-6E8A-4147-A177-3AD203B41FA5}">
                      <a16:colId xmlns:a16="http://schemas.microsoft.com/office/drawing/2014/main" val="2637729789"/>
                    </a:ext>
                  </a:extLst>
                </a:gridCol>
                <a:gridCol w="5021772">
                  <a:extLst>
                    <a:ext uri="{9D8B030D-6E8A-4147-A177-3AD203B41FA5}">
                      <a16:colId xmlns:a16="http://schemas.microsoft.com/office/drawing/2014/main" val="3502728717"/>
                    </a:ext>
                  </a:extLst>
                </a:gridCol>
              </a:tblGrid>
              <a:tr h="766737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20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Сегменты (Слева)</a:t>
                      </a:r>
                      <a:endParaRPr lang="ru-RU" sz="16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20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Решения</a:t>
                      </a:r>
                      <a:r>
                        <a:rPr lang="en-US" sz="20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ru-RU" sz="20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Игроки (Справа)</a:t>
                      </a:r>
                      <a:endParaRPr lang="ru-RU" sz="16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16226562"/>
                  </a:ext>
                </a:extLst>
              </a:tr>
              <a:tr h="796298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20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Продажа готового бизнеса (</a:t>
                      </a:r>
                      <a:r>
                        <a:rPr lang="en-US" sz="20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SaaS</a:t>
                      </a:r>
                      <a:r>
                        <a:rPr lang="ru-RU" sz="20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)</a:t>
                      </a:r>
                      <a:endParaRPr lang="ru-RU" sz="16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600" dirty="0" err="1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Flippa</a:t>
                      </a:r>
                      <a:r>
                        <a:rPr lang="en-US" sz="16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, Empire Flippers, </a:t>
                      </a:r>
                      <a:r>
                        <a:rPr lang="en-US" sz="1600" dirty="0" err="1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MicroAcquire</a:t>
                      </a:r>
                      <a:r>
                        <a:rPr lang="en-US" sz="16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 (</a:t>
                      </a:r>
                      <a:r>
                        <a:rPr lang="ru-RU" sz="16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Дорого и требуют </a:t>
                      </a:r>
                      <a:r>
                        <a:rPr lang="ru-RU" sz="1600" dirty="0" err="1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ревью</a:t>
                      </a:r>
                      <a:r>
                        <a:rPr lang="en-US" sz="16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)</a:t>
                      </a:r>
                      <a:endParaRPr lang="ru-RU" sz="12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42257376"/>
                  </a:ext>
                </a:extLst>
              </a:tr>
              <a:tr h="796298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20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Продажа </a:t>
                      </a:r>
                      <a:r>
                        <a:rPr lang="ru-RU" sz="2000" dirty="0" err="1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шабланов</a:t>
                      </a:r>
                      <a:r>
                        <a:rPr lang="en-US" sz="20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ru-RU" sz="20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скриптов</a:t>
                      </a:r>
                      <a:endParaRPr lang="ru-RU" sz="16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600" dirty="0" err="1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CodeCanyon</a:t>
                      </a:r>
                      <a:r>
                        <a:rPr lang="ru-RU" sz="16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600" dirty="0" err="1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ThemeForest</a:t>
                      </a:r>
                      <a:r>
                        <a:rPr lang="ru-RU" sz="16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 (Нет уникальности, массовый продукт)</a:t>
                      </a:r>
                      <a:endParaRPr lang="ru-RU" sz="12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13805377"/>
                  </a:ext>
                </a:extLst>
              </a:tr>
              <a:tr h="796298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20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Найм разработчиков (с нуля)</a:t>
                      </a:r>
                      <a:endParaRPr lang="ru-RU" sz="16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Upwork, Freelancer, </a:t>
                      </a:r>
                      <a:r>
                        <a:rPr lang="en-US" sz="1600" dirty="0" err="1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Toptal</a:t>
                      </a:r>
                      <a:r>
                        <a:rPr lang="en-US" sz="16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 (</a:t>
                      </a:r>
                      <a:r>
                        <a:rPr lang="ru-RU" sz="16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Дорого</a:t>
                      </a:r>
                      <a:r>
                        <a:rPr lang="en-US" sz="16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ru-RU" sz="16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долго</a:t>
                      </a:r>
                      <a:r>
                        <a:rPr lang="en-US" sz="16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)</a:t>
                      </a:r>
                      <a:endParaRPr lang="ru-RU" sz="12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48907618"/>
                  </a:ext>
                </a:extLst>
              </a:tr>
              <a:tr h="120345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20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Open Source </a:t>
                      </a:r>
                      <a:r>
                        <a:rPr lang="ru-RU" sz="20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(бесплатно)</a:t>
                      </a:r>
                      <a:endParaRPr lang="ru-RU" sz="16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GitHub</a:t>
                      </a:r>
                      <a:r>
                        <a:rPr lang="ru-RU" sz="16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6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GitLab </a:t>
                      </a:r>
                      <a:r>
                        <a:rPr lang="ru-RU" sz="16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(Нужно дорабатывать, нет бизнес логики под ключ, лицензии)</a:t>
                      </a:r>
                      <a:endParaRPr lang="ru-RU" sz="12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470894067"/>
                  </a:ext>
                </a:extLst>
              </a:tr>
              <a:tr h="766737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20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Покупка мертвого кода</a:t>
                      </a:r>
                      <a:endParaRPr lang="ru-RU" sz="16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Единичные сделки на форумах</a:t>
                      </a:r>
                      <a:endParaRPr lang="ru-RU" sz="12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4884380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BACE00D-78F4-C1ED-D4E3-F5DC2D09EF9E}"/>
              </a:ext>
            </a:extLst>
          </p:cNvPr>
          <p:cNvSpPr txBox="1"/>
          <p:nvPr/>
        </p:nvSpPr>
        <p:spPr>
          <a:xfrm>
            <a:off x="4472515" y="0"/>
            <a:ext cx="32469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/>
              <a:t>Карта рынка</a:t>
            </a:r>
          </a:p>
        </p:txBody>
      </p:sp>
    </p:spTree>
    <p:extLst>
      <p:ext uri="{BB962C8B-B14F-4D97-AF65-F5344CB8AC3E}">
        <p14:creationId xmlns:p14="http://schemas.microsoft.com/office/powerpoint/2010/main" val="3638707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7E527D-395F-8111-3C25-05BFA2A005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498"/>
            <a:ext cx="10515600" cy="896778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>
                <a:latin typeface="Montserrat bold"/>
              </a:rPr>
              <a:t>Market (TAM/SAM/SOM)</a:t>
            </a:r>
            <a:endParaRPr lang="ru-RU" sz="3200" b="1" dirty="0">
              <a:latin typeface="Montserrat bold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16BCF1-96E5-4765-153C-0D542978B269}"/>
              </a:ext>
            </a:extLst>
          </p:cNvPr>
          <p:cNvSpPr txBox="1"/>
          <p:nvPr/>
        </p:nvSpPr>
        <p:spPr>
          <a:xfrm>
            <a:off x="1637211" y="950276"/>
            <a:ext cx="89175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/>
              <a:t>Рынок: Потенциал в сегменте </a:t>
            </a:r>
            <a:r>
              <a:rPr lang="ru-RU" sz="2400" b="1" dirty="0" err="1"/>
              <a:t>Low-budget</a:t>
            </a:r>
            <a:r>
              <a:rPr lang="ru-RU" sz="2400" b="1" dirty="0"/>
              <a:t> разработки РФ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6CDC2F71-F723-C5EB-7F96-ED579863DFA1}"/>
              </a:ext>
            </a:extLst>
          </p:cNvPr>
          <p:cNvSpPr/>
          <p:nvPr/>
        </p:nvSpPr>
        <p:spPr>
          <a:xfrm>
            <a:off x="161107" y="1600562"/>
            <a:ext cx="5791200" cy="10555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B1B51B31-8A47-20E6-B379-22C229866060}"/>
              </a:ext>
            </a:extLst>
          </p:cNvPr>
          <p:cNvSpPr/>
          <p:nvPr/>
        </p:nvSpPr>
        <p:spPr>
          <a:xfrm>
            <a:off x="588368" y="2778624"/>
            <a:ext cx="4936671" cy="10555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AC7F565-F424-972A-C812-833B61B87577}"/>
              </a:ext>
            </a:extLst>
          </p:cNvPr>
          <p:cNvSpPr/>
          <p:nvPr/>
        </p:nvSpPr>
        <p:spPr>
          <a:xfrm>
            <a:off x="1193067" y="3955335"/>
            <a:ext cx="3727268" cy="10555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B9A56A-3D2A-EE99-BBF4-F7B8DE73AAAE}"/>
              </a:ext>
            </a:extLst>
          </p:cNvPr>
          <p:cNvSpPr txBox="1"/>
          <p:nvPr/>
        </p:nvSpPr>
        <p:spPr>
          <a:xfrm>
            <a:off x="1446821" y="1621767"/>
            <a:ext cx="37082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rgbClr val="F0F6FC"/>
                </a:solidFill>
                <a:effectLst/>
              </a:rPr>
              <a:t>TAM </a:t>
            </a:r>
            <a:r>
              <a:rPr lang="ru-RU" b="1" i="0" dirty="0">
                <a:solidFill>
                  <a:srgbClr val="F0F6FC"/>
                </a:solidFill>
                <a:effectLst/>
              </a:rPr>
              <a:t>(Общий рынок): </a:t>
            </a:r>
            <a:r>
              <a:rPr lang="ru-RU" b="1" dirty="0">
                <a:solidFill>
                  <a:srgbClr val="F0F6FC"/>
                </a:solidFill>
              </a:rPr>
              <a:t>99,2</a:t>
            </a:r>
            <a:r>
              <a:rPr lang="ru-RU" b="1" i="0" dirty="0">
                <a:solidFill>
                  <a:srgbClr val="F0F6FC"/>
                </a:solidFill>
                <a:effectLst/>
              </a:rPr>
              <a:t> </a:t>
            </a:r>
            <a:r>
              <a:rPr lang="ru-RU" b="1" dirty="0">
                <a:solidFill>
                  <a:srgbClr val="F0F6FC"/>
                </a:solidFill>
              </a:rPr>
              <a:t>М</a:t>
            </a:r>
            <a:r>
              <a:rPr lang="ru-RU" b="1" i="0" dirty="0">
                <a:solidFill>
                  <a:srgbClr val="F0F6FC"/>
                </a:solidFill>
                <a:effectLst/>
              </a:rPr>
              <a:t>лрд ₽</a:t>
            </a:r>
            <a:endParaRPr lang="ru-RU" b="1" dirty="0">
              <a:solidFill>
                <a:schemeClr val="bg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67ABA98-8050-923B-A739-BA86DA645F1B}"/>
              </a:ext>
            </a:extLst>
          </p:cNvPr>
          <p:cNvSpPr txBox="1"/>
          <p:nvPr/>
        </p:nvSpPr>
        <p:spPr>
          <a:xfrm>
            <a:off x="858074" y="1991099"/>
            <a:ext cx="479287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F0F6FC"/>
                </a:solidFill>
              </a:rPr>
              <a:t>Весь рынок заказной разработки SMB</a:t>
            </a:r>
            <a:endParaRPr lang="ru-RU" sz="2000" b="0" i="0" dirty="0">
              <a:solidFill>
                <a:srgbClr val="F0F6FC"/>
              </a:solidFill>
              <a:effectLst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1DFD1B7-7A9F-74EF-D13B-13E684F4393C}"/>
              </a:ext>
            </a:extLst>
          </p:cNvPr>
          <p:cNvSpPr txBox="1"/>
          <p:nvPr/>
        </p:nvSpPr>
        <p:spPr>
          <a:xfrm>
            <a:off x="1125773" y="2787588"/>
            <a:ext cx="386185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b="1" i="0" dirty="0">
                <a:solidFill>
                  <a:srgbClr val="F0F6FC"/>
                </a:solidFill>
                <a:effectLst/>
              </a:rPr>
              <a:t>SAM (Доступный рынок): </a:t>
            </a:r>
            <a:r>
              <a:rPr lang="ru-RU" sz="1600" b="1" dirty="0">
                <a:solidFill>
                  <a:srgbClr val="F0F6FC"/>
                </a:solidFill>
              </a:rPr>
              <a:t>39,68 Млрд ₽</a:t>
            </a:r>
            <a:endParaRPr lang="ru-RU" sz="16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BD82F10-7504-7623-3789-63135348BC00}"/>
              </a:ext>
            </a:extLst>
          </p:cNvPr>
          <p:cNvSpPr txBox="1"/>
          <p:nvPr/>
        </p:nvSpPr>
        <p:spPr>
          <a:xfrm>
            <a:off x="1561904" y="3198976"/>
            <a:ext cx="34780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rgbClr val="F0F6FC"/>
                </a:solidFill>
              </a:rPr>
              <a:t>Рынок фриланса и шаблонов</a:t>
            </a:r>
            <a:endParaRPr lang="ru-RU" b="1" i="0" dirty="0">
              <a:solidFill>
                <a:srgbClr val="F0F6FC"/>
              </a:solidFill>
              <a:effectLst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33EAE4-BA8E-326C-C6FC-E610966B8691}"/>
              </a:ext>
            </a:extLst>
          </p:cNvPr>
          <p:cNvSpPr txBox="1"/>
          <p:nvPr/>
        </p:nvSpPr>
        <p:spPr>
          <a:xfrm>
            <a:off x="1193067" y="3984117"/>
            <a:ext cx="372726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b="1" i="0" dirty="0">
                <a:solidFill>
                  <a:srgbClr val="F0F6FC"/>
                </a:solidFill>
                <a:effectLst/>
              </a:rPr>
              <a:t>SOM (Достижимая доля): </a:t>
            </a:r>
            <a:r>
              <a:rPr lang="ru-RU" sz="1400" b="1" dirty="0">
                <a:solidFill>
                  <a:srgbClr val="F0F6FC"/>
                </a:solidFill>
              </a:rPr>
              <a:t>198,4</a:t>
            </a:r>
            <a:r>
              <a:rPr lang="ru-RU" sz="1400" b="1" i="0" dirty="0">
                <a:solidFill>
                  <a:srgbClr val="F0F6FC"/>
                </a:solidFill>
                <a:effectLst/>
              </a:rPr>
              <a:t> Млн ₽</a:t>
            </a:r>
          </a:p>
          <a:p>
            <a:r>
              <a:rPr lang="ru-RU" sz="1400" b="1" i="0" dirty="0">
                <a:solidFill>
                  <a:srgbClr val="F0F6FC"/>
                </a:solidFill>
                <a:effectLst/>
              </a:rPr>
              <a:t>                                     (к 3-му году)</a:t>
            </a:r>
            <a:endParaRPr lang="ru-RU" sz="14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D6BFB38-0A28-ECA4-9C6E-66D173BC0652}"/>
              </a:ext>
            </a:extLst>
          </p:cNvPr>
          <p:cNvSpPr txBox="1"/>
          <p:nvPr/>
        </p:nvSpPr>
        <p:spPr>
          <a:xfrm>
            <a:off x="1446821" y="4483111"/>
            <a:ext cx="32430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F0F6FC"/>
                </a:solidFill>
              </a:rPr>
              <a:t> Целевая доля маркетплейса</a:t>
            </a:r>
            <a:endParaRPr lang="ru-RU" b="0" i="0" dirty="0">
              <a:solidFill>
                <a:srgbClr val="F0F6FC"/>
              </a:solidFill>
              <a:effectLst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F2E291F-F01A-8877-7751-F875DAF85481}"/>
              </a:ext>
            </a:extLst>
          </p:cNvPr>
          <p:cNvSpPr txBox="1"/>
          <p:nvPr/>
        </p:nvSpPr>
        <p:spPr>
          <a:xfrm>
            <a:off x="5650948" y="2844735"/>
            <a:ext cx="6454415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dirty="0"/>
              <a:t>(Методика и допущения):</a:t>
            </a:r>
          </a:p>
          <a:p>
            <a:endParaRPr lang="ru-RU" dirty="0"/>
          </a:p>
          <a:p>
            <a:r>
              <a:rPr lang="ru-RU" b="1" dirty="0"/>
              <a:t>Метод: Top-</a:t>
            </a:r>
            <a:r>
              <a:rPr lang="ru-RU" b="1" dirty="0" err="1"/>
              <a:t>down</a:t>
            </a:r>
            <a:r>
              <a:rPr lang="ru-RU" b="1" dirty="0"/>
              <a:t> </a:t>
            </a:r>
            <a:r>
              <a:rPr lang="ru-RU" dirty="0"/>
              <a:t>(от объема рынка) с проверкой </a:t>
            </a:r>
            <a:r>
              <a:rPr lang="ru-RU" dirty="0" err="1"/>
              <a:t>Bottom-up</a:t>
            </a:r>
            <a:r>
              <a:rPr lang="ru-RU" dirty="0"/>
              <a:t> (через средний чек).</a:t>
            </a:r>
          </a:p>
          <a:p>
            <a:r>
              <a:rPr lang="ru-RU" b="1" dirty="0"/>
              <a:t>Допущение 1: </a:t>
            </a:r>
            <a:r>
              <a:rPr lang="ru-RU" dirty="0"/>
              <a:t>Средний чек сделки (код MVP) = 30 000 ₽.</a:t>
            </a:r>
          </a:p>
          <a:p>
            <a:r>
              <a:rPr lang="ru-RU" b="1" dirty="0"/>
              <a:t>Допущение 2: </a:t>
            </a:r>
            <a:r>
              <a:rPr lang="ru-RU" dirty="0"/>
              <a:t>Комиссия платформы = 15%.</a:t>
            </a:r>
          </a:p>
          <a:p>
            <a:r>
              <a:rPr lang="ru-RU" b="1" dirty="0"/>
              <a:t>Допущение 3: </a:t>
            </a:r>
            <a:r>
              <a:rPr lang="ru-RU" dirty="0"/>
              <a:t>Активный рост рынка No-</a:t>
            </a:r>
            <a:r>
              <a:rPr lang="ru-RU" dirty="0" err="1"/>
              <a:t>code</a:t>
            </a:r>
            <a:r>
              <a:rPr lang="ru-RU" dirty="0"/>
              <a:t> и готовых решений (+15% </a:t>
            </a:r>
            <a:r>
              <a:rPr lang="ru-RU" dirty="0" err="1"/>
              <a:t>YoY</a:t>
            </a:r>
            <a:r>
              <a:rPr lang="ru-RU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2209880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6" grpId="0"/>
      <p:bldP spid="20" grpId="0"/>
      <p:bldP spid="22" grpId="0"/>
      <p:bldP spid="24" grpId="0"/>
      <p:bldP spid="26" grpId="0"/>
      <p:bldP spid="28" grpId="0"/>
      <p:bldP spid="3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AF28C68-9250-3B94-F5F9-0DCABBE48BC9}"/>
              </a:ext>
            </a:extLst>
          </p:cNvPr>
          <p:cNvSpPr txBox="1"/>
          <p:nvPr/>
        </p:nvSpPr>
        <p:spPr>
          <a:xfrm>
            <a:off x="2594065" y="246760"/>
            <a:ext cx="70038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b="1" i="0" dirty="0">
                <a:effectLst/>
              </a:rPr>
              <a:t>Таблица расчета TAM/SAM/SOM (Приложение)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C7EB6D4-FE60-6B75-F4EF-7214E1D4F7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491" y="1342734"/>
            <a:ext cx="11041016" cy="4172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6568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E60D61-76C5-C254-3079-76F122827F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4000" b="1" dirty="0">
                <a:latin typeface="Montserrat bold"/>
              </a:rPr>
              <a:t>Why Now</a:t>
            </a:r>
            <a:r>
              <a:rPr lang="ru-RU" sz="4000" b="1" dirty="0">
                <a:latin typeface="Montserrat bold"/>
              </a:rPr>
              <a:t>. Почему сейчас?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C00FE6-0A90-368F-07A2-1BE3FB21AF58}"/>
              </a:ext>
            </a:extLst>
          </p:cNvPr>
          <p:cNvSpPr txBox="1"/>
          <p:nvPr/>
        </p:nvSpPr>
        <p:spPr>
          <a:xfrm>
            <a:off x="2950632" y="1076677"/>
            <a:ext cx="62907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Драйверы роста: Технологии и экономика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B6C928-4572-DAA4-52E1-AA187C0091E6}"/>
              </a:ext>
            </a:extLst>
          </p:cNvPr>
          <p:cNvSpPr txBox="1"/>
          <p:nvPr/>
        </p:nvSpPr>
        <p:spPr>
          <a:xfrm>
            <a:off x="728133" y="1625540"/>
            <a:ext cx="1073573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/>
              <a:t>AI-революция (</a:t>
            </a:r>
            <a:r>
              <a:rPr lang="ru-RU" sz="2000" b="1" dirty="0" err="1"/>
              <a:t>Enabler</a:t>
            </a:r>
            <a:r>
              <a:rPr lang="ru-RU" sz="2000" b="1" dirty="0"/>
              <a:t>): </a:t>
            </a:r>
          </a:p>
          <a:p>
            <a:r>
              <a:rPr lang="ru-RU" sz="2000" dirty="0"/>
              <a:t>Как влияет: LLM (GPT-4, </a:t>
            </a:r>
            <a:r>
              <a:rPr lang="ru-RU" sz="2000" dirty="0" err="1"/>
              <a:t>Claude</a:t>
            </a:r>
            <a:r>
              <a:rPr lang="ru-RU" sz="2000" dirty="0"/>
              <a:t>) позволяют проводить глубокий аудит кода за секунды и копейки. Раньше качественный аудит стоил тысячи долларов и был недоступен для дешевых проектов.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EAD1E7-8FF1-C7C3-A531-D08018728545}"/>
              </a:ext>
            </a:extLst>
          </p:cNvPr>
          <p:cNvSpPr txBox="1"/>
          <p:nvPr/>
        </p:nvSpPr>
        <p:spPr>
          <a:xfrm>
            <a:off x="728133" y="3036177"/>
            <a:ext cx="1073573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/>
              <a:t>Импортозамещение и экономия (Economic):</a:t>
            </a:r>
          </a:p>
          <a:p>
            <a:r>
              <a:rPr lang="ru-RU" sz="2000" dirty="0"/>
              <a:t>Как влияет: Бизнес в РФ режет </a:t>
            </a:r>
            <a:r>
              <a:rPr lang="ru-RU" sz="2000" dirty="0" err="1"/>
              <a:t>косты</a:t>
            </a:r>
            <a:r>
              <a:rPr lang="ru-RU" sz="2000" dirty="0"/>
              <a:t>. Разработка с нуля подорожала на 20–30% из-за дефицита кадров. Покупка готовой базы («полуфабриката») становится необходимостью.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6E0CC5-9F4A-C025-36C0-6A57FC1A87A8}"/>
              </a:ext>
            </a:extLst>
          </p:cNvPr>
          <p:cNvSpPr txBox="1"/>
          <p:nvPr/>
        </p:nvSpPr>
        <p:spPr>
          <a:xfrm>
            <a:off x="728133" y="4139038"/>
            <a:ext cx="1073573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/>
              <a:t>Бум «Пет-проектов» (Supply):</a:t>
            </a:r>
          </a:p>
          <a:p>
            <a:r>
              <a:rPr lang="ru-RU" sz="2000" dirty="0"/>
              <a:t>Как влияет: Рост числа IT-курсов (</a:t>
            </a:r>
            <a:r>
              <a:rPr lang="ru-RU" sz="2000" dirty="0" err="1"/>
              <a:t>Skillbox</a:t>
            </a:r>
            <a:r>
              <a:rPr lang="ru-RU" sz="2000" dirty="0"/>
              <a:t>, </a:t>
            </a:r>
            <a:r>
              <a:rPr lang="ru-RU" sz="2000" dirty="0" err="1"/>
              <a:t>GeekBrains</a:t>
            </a:r>
            <a:r>
              <a:rPr lang="ru-RU" sz="2000" dirty="0"/>
              <a:t> и др.) создал армию </a:t>
            </a:r>
            <a:r>
              <a:rPr lang="ru-RU" sz="2000" dirty="0" err="1"/>
              <a:t>джуниоров</a:t>
            </a:r>
            <a:r>
              <a:rPr lang="ru-RU" sz="2000" dirty="0"/>
              <a:t>, генерирующих гигабайты учебного, но рабочего кода, который можно монетизировать.</a:t>
            </a:r>
          </a:p>
        </p:txBody>
      </p:sp>
      <p:pic>
        <p:nvPicPr>
          <p:cNvPr id="3074" name="Picture 2" descr="Искусственный интеллект – Бесплатные иконки: технологии">
            <a:extLst>
              <a:ext uri="{FF2B5EF4-FFF2-40B4-BE49-F238E27FC236}">
                <a16:creationId xmlns:a16="http://schemas.microsoft.com/office/drawing/2014/main" id="{29DDF592-3C42-EE31-9460-B3BCD1A6E2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8133" y="5232460"/>
            <a:ext cx="1430867" cy="1430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Экономика – Бесплатные иконки: бизнес и финансы">
            <a:extLst>
              <a:ext uri="{FF2B5EF4-FFF2-40B4-BE49-F238E27FC236}">
                <a16:creationId xmlns:a16="http://schemas.microsoft.com/office/drawing/2014/main" id="{42F19810-4842-B976-5976-5220818AE3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4399" y="5232459"/>
            <a:ext cx="1430867" cy="1430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Проект – Бесплатные иконки: бизнес и финансы">
            <a:extLst>
              <a:ext uri="{FF2B5EF4-FFF2-40B4-BE49-F238E27FC236}">
                <a16:creationId xmlns:a16="http://schemas.microsoft.com/office/drawing/2014/main" id="{CCADB3E1-A56F-811C-4EF1-833E5ADF4F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0665" y="5232458"/>
            <a:ext cx="1430868" cy="1430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165088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0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0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0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4" grpId="0"/>
      <p:bldP spid="1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07F2B5A-3F11-E058-25A2-B6F44B7C4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4000" b="1" dirty="0">
                <a:latin typeface="Montserrat bold"/>
              </a:rPr>
              <a:t>Источники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38103B-7C69-CD6A-DC95-67ECF9477ED4}"/>
              </a:ext>
            </a:extLst>
          </p:cNvPr>
          <p:cNvSpPr txBox="1"/>
          <p:nvPr/>
        </p:nvSpPr>
        <p:spPr>
          <a:xfrm>
            <a:off x="321732" y="1343818"/>
            <a:ext cx="1154853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ru-RU" sz="2400" dirty="0"/>
              <a:t>РАЭК (Российская Ассоциация Электронных Коммуникаций): Отчет «Экономика Рунета 2023-2024». Использован для оценки общего объема рынка разработки.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400" dirty="0" err="1"/>
              <a:t>Russoft</a:t>
            </a:r>
            <a:r>
              <a:rPr lang="ru-RU" sz="2400" dirty="0"/>
              <a:t> (Руссофт): Ежегодный обзор индустрии разработки ПО в России (экспорт и внутренний рынок).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400" dirty="0"/>
              <a:t>Исследование «Стартап-барометр»: Статистика выживаемости стартапов в РФ (цифра про 92% неудач).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400" dirty="0"/>
              <a:t>Данные платформ (</a:t>
            </a:r>
            <a:r>
              <a:rPr lang="ru-RU" sz="2400" dirty="0" err="1"/>
              <a:t>Habr</a:t>
            </a:r>
            <a:r>
              <a:rPr lang="ru-RU" sz="2400" dirty="0"/>
              <a:t> </a:t>
            </a:r>
            <a:r>
              <a:rPr lang="ru-RU" sz="2400" dirty="0" err="1"/>
              <a:t>Freelance</a:t>
            </a:r>
            <a:r>
              <a:rPr lang="ru-RU" sz="2400" dirty="0"/>
              <a:t>, FL.ru): Для оценки среднего чека и объема рынка фриланс-услуг (как косвенного конкурента).</a:t>
            </a:r>
          </a:p>
        </p:txBody>
      </p:sp>
    </p:spTree>
    <p:extLst>
      <p:ext uri="{BB962C8B-B14F-4D97-AF65-F5344CB8AC3E}">
        <p14:creationId xmlns:p14="http://schemas.microsoft.com/office/powerpoint/2010/main" val="20526365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260</TotalTime>
  <Words>1165</Words>
  <Application>Microsoft Office PowerPoint</Application>
  <PresentationFormat>Широкоэкранный</PresentationFormat>
  <Paragraphs>120</Paragraphs>
  <Slides>10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Montserrat bold</vt:lpstr>
      <vt:lpstr>Тема Office</vt:lpstr>
      <vt:lpstr>Практическое занятие №7: Формирование слайдов инвестиционного дека</vt:lpstr>
      <vt:lpstr>Problem (Потребность)</vt:lpstr>
      <vt:lpstr>Customer (Целевой клиент)</vt:lpstr>
      <vt:lpstr>Углубление конкурентного анализа</vt:lpstr>
      <vt:lpstr>Презентация PowerPoint</vt:lpstr>
      <vt:lpstr>Презентация PowerPoint</vt:lpstr>
      <vt:lpstr>Market (TAM/SAM/SOM)</vt:lpstr>
      <vt:lpstr>Презентация PowerPoint</vt:lpstr>
      <vt:lpstr>Why Now. Почему сейчас?</vt:lpstr>
      <vt:lpstr>Источники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Артём Кан</dc:creator>
  <cp:lastModifiedBy>Артём Кан</cp:lastModifiedBy>
  <cp:revision>5</cp:revision>
  <dcterms:created xsi:type="dcterms:W3CDTF">2026-03-05T11:37:04Z</dcterms:created>
  <dcterms:modified xsi:type="dcterms:W3CDTF">2026-03-12T11:37:26Z</dcterms:modified>
</cp:coreProperties>
</file>