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62" r:id="rId6"/>
    <p:sldId id="263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772E6-CA95-F2FE-193C-F12EDE8DF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308567-6E9B-E870-4E6A-1FC4D19A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81438-284A-51BC-A612-A8CBC06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D24CA9-8E16-96C8-5402-ADE655B2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0E219-42DB-29C3-5B88-86E7BD18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4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A1696-8252-30B2-CB3B-40462043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F85D3F-1F04-9C0A-E0DC-4BBD1884D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D3C7C-2D31-5DBF-8A9F-02B7ED7D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3FB42D-14E8-08E2-76F9-BE457406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DAA579-A044-A2B1-5335-06325C14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79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994EB-1A3F-AE83-6A47-7AE20046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033A76-B879-9B5E-EE35-98EC52091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E414EB-086A-D652-5768-253BA9F2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D17EED-A84D-253C-24FF-352C7D15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857CDF-AEA9-AD7F-BD50-885CA764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3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F6B42-6001-94A7-FFFA-6DBDE269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9A48B6-7D7E-7AEA-342B-797146E44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91FDB7-F6C9-C4D0-FE84-C4292A88F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AC208F-276D-C08C-C419-1908EECD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4AC37F-A12A-3F57-1B83-B8DF7819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C810A8-AF2C-F4C9-62AB-BD8E8CA3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08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F218E-B4ED-001D-66C8-BED4BD5B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AFC1C9-117A-1119-C99D-D8CD3C8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CE70F2-25F6-BB29-C15F-768A9C87F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DD96E5-CD39-48B6-ACA3-3D4A66A9F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A2BA8A-1082-C66D-B7F2-FC9F38449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BE0B14-964F-44E8-047C-BEBA55C7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D236C9-FFF7-2F3E-E10E-85B2E3D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328C6D-3DE7-ECF3-FFAF-29F3EFD9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02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656F4-75B2-7ACA-A323-3259AC00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5A51E4-54E4-31E9-9719-C44FC29B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101BF6-8B3E-7E3E-930E-340D3D8F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E1D7D4-7B32-9280-B1AC-3B04D5FC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5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B01B0A-F734-2379-0EB6-57257BD3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019ADD-5200-F8BD-D7A1-CC9B072D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16711A-1458-B56B-5F84-478F2F9F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65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09400-07EE-D689-0F8B-A6DB14D6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E279D-C2F6-FA91-66B1-44D489ABA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D33760-973E-E15B-9133-EBB9FF10B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97B676-69E4-1B2D-9203-86CA8C13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5D6093-CBDE-3C1A-14F7-11954DF6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47AFE9-A3EE-41CC-EF4F-4B0560BB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00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392CE-389A-43A7-881D-5B7A4F18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DEC174-7C6A-CC3D-5CAF-3BFBE011E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9ACFBC-C5F1-772D-9837-E1AC27572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F52C0-1AB0-B6BA-7EB0-FFB92FA2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5CB7A8-8B21-8BB8-2BA0-61F1842E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1510BF-BE38-ABFE-1C3E-03753DFF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72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06F30-5E42-E482-4BFD-B3DD185B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52C7AD-4D11-6D24-665F-9544000D5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4FF57-22D7-FE2C-C0F8-266BA7C6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DEEBBE-3EC4-F968-3E8C-80975F32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53224F-33CD-A3BD-9913-FA280FCF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30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5221AE-A211-0310-6056-F9E79B9E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6BD25A-8B2E-8F26-C865-239270D9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23C929-80BC-2B71-D8B8-88C63C72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18BFA7-F1D0-3624-DE23-3245DDFB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DB24AD-3570-701F-FF0C-C12BB6DD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6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6DAD8-D346-1CFB-057E-04F44CA1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6A2899-37AE-2CF7-5D75-3DD9A7B51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319294-6387-A835-94C7-A6A26BC1E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145BB-60F1-413A-8F37-93FDA6986DB9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17A63-E722-3BB4-1C17-5A86D1898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78198B-289A-497F-4590-C003B409D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72A78-413F-4DDE-967E-EEA7EB759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41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4BBB6-3914-0FAF-E081-201A19D7B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0242"/>
            <a:ext cx="9144000" cy="155875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Музыкальный плеер в </a:t>
            </a:r>
            <a:r>
              <a:rPr lang="ru-RU" sz="4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Telegram</a:t>
            </a:r>
            <a:r>
              <a:rPr lang="ru-RU" sz="4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(Mini </a:t>
            </a:r>
            <a:r>
              <a:rPr lang="ru-RU" sz="4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</a:t>
            </a:r>
            <a:r>
              <a:rPr lang="ru-RU" sz="4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ru-RU" sz="4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EA27A-8072-5D17-91C5-B72AEC748F4D}"/>
              </a:ext>
            </a:extLst>
          </p:cNvPr>
          <p:cNvSpPr txBox="1"/>
          <p:nvPr/>
        </p:nvSpPr>
        <p:spPr>
          <a:xfrm>
            <a:off x="3332205" y="3429000"/>
            <a:ext cx="55275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Практическое занятие №3. Анализ рынка и гипотезы бизнес-модели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1F0249-4A7E-8A2D-A8A4-5582F05F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767" y="4942331"/>
            <a:ext cx="1150465" cy="115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830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9F92E-7953-1C6A-4FA3-A24B36C2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259" y="438278"/>
            <a:ext cx="4971482" cy="315912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Идея и проблема</a:t>
            </a:r>
            <a:endParaRPr lang="ru-RU" sz="40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052" name="Picture 4" descr="Бесплатные иконки Лампочка, созданные Freepik">
            <a:extLst>
              <a:ext uri="{FF2B5EF4-FFF2-40B4-BE49-F238E27FC236}">
                <a16:creationId xmlns:a16="http://schemas.microsoft.com/office/drawing/2014/main" id="{7E680268-F2C4-EFB8-F87F-0822B88B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12" y="1075032"/>
            <a:ext cx="677232" cy="67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97311-D282-6FE2-C86D-CD98D610DB0D}"/>
              </a:ext>
            </a:extLst>
          </p:cNvPr>
          <p:cNvSpPr txBox="1"/>
          <p:nvPr/>
        </p:nvSpPr>
        <p:spPr>
          <a:xfrm>
            <a:off x="791146" y="1225527"/>
            <a:ext cx="2720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Идея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E539E-BCB6-247E-E9C0-65E23C767477}"/>
              </a:ext>
            </a:extLst>
          </p:cNvPr>
          <p:cNvSpPr txBox="1"/>
          <p:nvPr/>
        </p:nvSpPr>
        <p:spPr>
          <a:xfrm>
            <a:off x="791146" y="1899242"/>
            <a:ext cx="47572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Лёгкий музыкальный плеер в формате Mini </a:t>
            </a:r>
            <a:r>
              <a:rPr lang="ru-RU" sz="2400" dirty="0" err="1"/>
              <a:t>App</a:t>
            </a:r>
            <a:r>
              <a:rPr lang="ru-RU" sz="2400" dirty="0"/>
              <a:t> внутри </a:t>
            </a:r>
            <a:r>
              <a:rPr lang="ru-RU" sz="2400" dirty="0" err="1"/>
              <a:t>Telegram</a:t>
            </a:r>
            <a:r>
              <a:rPr lang="ru-RU" sz="2400" dirty="0"/>
              <a:t> для прослушивания, сортировки и организации личной музыки.</a:t>
            </a:r>
          </a:p>
        </p:txBody>
      </p:sp>
      <p:pic>
        <p:nvPicPr>
          <p:cNvPr id="2054" name="Picture 6" descr="Пнг Знак вопроса 3д 26 фото">
            <a:extLst>
              <a:ext uri="{FF2B5EF4-FFF2-40B4-BE49-F238E27FC236}">
                <a16:creationId xmlns:a16="http://schemas.microsoft.com/office/drawing/2014/main" id="{C9036C01-C699-D188-D88B-C679563E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841" y="1170582"/>
            <a:ext cx="658689" cy="65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40AEBF-8AE7-77FB-612B-4A1529F7C1FA}"/>
              </a:ext>
            </a:extLst>
          </p:cNvPr>
          <p:cNvSpPr txBox="1"/>
          <p:nvPr/>
        </p:nvSpPr>
        <p:spPr>
          <a:xfrm>
            <a:off x="6096000" y="1225527"/>
            <a:ext cx="1919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Проблема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452A87-95AB-B8D9-A58A-39CC198E4B25}"/>
              </a:ext>
            </a:extLst>
          </p:cNvPr>
          <p:cNvSpPr txBox="1"/>
          <p:nvPr/>
        </p:nvSpPr>
        <p:spPr>
          <a:xfrm>
            <a:off x="6096000" y="1748747"/>
            <a:ext cx="50743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Лёгкий музыкальный плеер в формате Mini </a:t>
            </a:r>
            <a:r>
              <a:rPr lang="ru-RU" sz="2400" dirty="0" err="1"/>
              <a:t>App</a:t>
            </a:r>
            <a:r>
              <a:rPr lang="ru-RU" sz="2400" dirty="0"/>
              <a:t> внутри </a:t>
            </a:r>
            <a:r>
              <a:rPr lang="ru-RU" sz="2400" dirty="0" err="1"/>
              <a:t>Telegram</a:t>
            </a:r>
            <a:r>
              <a:rPr lang="ru-RU" sz="2400" dirty="0"/>
              <a:t> для прослушивания, сортировки и организации личной музыки.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50F141-442D-156E-E0B6-674A833993D2}"/>
              </a:ext>
            </a:extLst>
          </p:cNvPr>
          <p:cNvSpPr txBox="1"/>
          <p:nvPr/>
        </p:nvSpPr>
        <p:spPr>
          <a:xfrm>
            <a:off x="791146" y="3985212"/>
            <a:ext cx="1915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Сценарий</a:t>
            </a:r>
          </a:p>
        </p:txBody>
      </p:sp>
      <p:pic>
        <p:nvPicPr>
          <p:cNvPr id="2056" name="Picture 8" descr="Сценарий – Бесплатные иконки: бизнес">
            <a:extLst>
              <a:ext uri="{FF2B5EF4-FFF2-40B4-BE49-F238E27FC236}">
                <a16:creationId xmlns:a16="http://schemas.microsoft.com/office/drawing/2014/main" id="{680D3E4A-1494-09AE-7CB5-428D4E7B7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12" y="3908205"/>
            <a:ext cx="677233" cy="67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2C444F-6EE0-0932-76CD-EA0E9B3D4E50}"/>
              </a:ext>
            </a:extLst>
          </p:cNvPr>
          <p:cNvSpPr txBox="1"/>
          <p:nvPr/>
        </p:nvSpPr>
        <p:spPr>
          <a:xfrm>
            <a:off x="819443" y="4585438"/>
            <a:ext cx="111399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i="0" dirty="0">
                <a:effectLst/>
                <a:latin typeface="quote-cjk-patch"/>
              </a:rPr>
              <a:t>– </a:t>
            </a:r>
            <a:r>
              <a:rPr lang="ru-RU" sz="2000" b="1" i="0" dirty="0">
                <a:effectLst/>
                <a:latin typeface="quote-cjk-patch"/>
              </a:rPr>
              <a:t>Пользователь/роль:</a:t>
            </a:r>
            <a:r>
              <a:rPr lang="ru-RU" sz="2000" b="0" i="0" dirty="0">
                <a:effectLst/>
                <a:latin typeface="quote-cjk-patch"/>
              </a:rPr>
              <a:t> молодой человек 18–30 лет, активный пользователь </a:t>
            </a:r>
            <a:r>
              <a:rPr lang="ru-RU" sz="2000" b="0" i="0" dirty="0" err="1">
                <a:effectLst/>
                <a:latin typeface="quote-cjk-patch"/>
              </a:rPr>
              <a:t>Telegram</a:t>
            </a:r>
            <a:r>
              <a:rPr lang="ru-RU" sz="2000" dirty="0">
                <a:latin typeface="quote-cjk-patch"/>
              </a:rPr>
              <a:t>.</a:t>
            </a:r>
            <a:br>
              <a:rPr lang="ru-RU" sz="2000" dirty="0"/>
            </a:br>
            <a:r>
              <a:rPr lang="ru-RU" sz="2000" b="0" i="0" dirty="0">
                <a:effectLst/>
                <a:latin typeface="quote-cjk-patch"/>
              </a:rPr>
              <a:t>– </a:t>
            </a:r>
            <a:r>
              <a:rPr lang="ru-RU" sz="2000" b="1" i="0" dirty="0">
                <a:effectLst/>
                <a:latin typeface="quote-cjk-patch"/>
              </a:rPr>
              <a:t>Ситуация:</a:t>
            </a:r>
            <a:r>
              <a:rPr lang="ru-RU" sz="2000" b="0" i="0" dirty="0">
                <a:effectLst/>
                <a:latin typeface="quote-cjk-patch"/>
              </a:rPr>
              <a:t> находит трек через бота (@vkm_bot), скачивает или пересылает себе. </a:t>
            </a:r>
          </a:p>
          <a:p>
            <a:r>
              <a:rPr lang="ru-RU" sz="2000" dirty="0">
                <a:latin typeface="quote-cjk-patch"/>
              </a:rPr>
              <a:t>   </a:t>
            </a:r>
            <a:r>
              <a:rPr lang="ru-RU" sz="2000" b="0" i="0" dirty="0">
                <a:effectLst/>
                <a:latin typeface="quote-cjk-patch"/>
              </a:rPr>
              <a:t>Файлы теряются в истории. Чтобы послушать конкретный плейлист, приходится заново искать треки.</a:t>
            </a:r>
            <a:br>
              <a:rPr lang="ru-RU" sz="2000" dirty="0"/>
            </a:br>
            <a:r>
              <a:rPr lang="ru-RU" sz="2000" b="0" i="0" dirty="0">
                <a:effectLst/>
                <a:latin typeface="quote-cjk-patch"/>
              </a:rPr>
              <a:t>– </a:t>
            </a:r>
            <a:r>
              <a:rPr lang="ru-RU" sz="2000" b="1" i="0" dirty="0">
                <a:effectLst/>
                <a:latin typeface="quote-cjk-patch"/>
              </a:rPr>
              <a:t>Последствия:</a:t>
            </a:r>
            <a:r>
              <a:rPr lang="ru-RU" sz="2000" b="0" i="0" dirty="0">
                <a:effectLst/>
                <a:latin typeface="quote-cjk-patch"/>
              </a:rPr>
              <a:t> трата времени, неудобство, отказ от использования </a:t>
            </a:r>
            <a:r>
              <a:rPr lang="ru-RU" sz="2000" b="0" i="0" dirty="0" err="1">
                <a:effectLst/>
                <a:latin typeface="quote-cjk-patch"/>
              </a:rPr>
              <a:t>Telegram</a:t>
            </a:r>
            <a:r>
              <a:rPr lang="ru-RU" sz="2000" b="0" i="0" dirty="0">
                <a:effectLst/>
                <a:latin typeface="quote-cjk-patch"/>
              </a:rPr>
              <a:t> для музыки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59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Сегмент – Бесплатные иконки: люди">
            <a:extLst>
              <a:ext uri="{FF2B5EF4-FFF2-40B4-BE49-F238E27FC236}">
                <a16:creationId xmlns:a16="http://schemas.microsoft.com/office/drawing/2014/main" id="{360F1E2B-220C-25F0-11C3-0DF3F9724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325" y="121800"/>
            <a:ext cx="1081962" cy="108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888087F3-4676-E812-A5D0-4D3F8A3C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Сегментация рынка</a:t>
            </a: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C10CA4B2-803B-D8EF-8C7F-B7F7C8721C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886957"/>
              </p:ext>
            </p:extLst>
          </p:nvPr>
        </p:nvGraphicFramePr>
        <p:xfrm>
          <a:off x="2468712" y="1325563"/>
          <a:ext cx="7254575" cy="4403166"/>
        </p:xfrm>
        <a:graphic>
          <a:graphicData uri="http://schemas.openxmlformats.org/drawingml/2006/table">
            <a:tbl>
              <a:tblPr/>
              <a:tblGrid>
                <a:gridCol w="3004312">
                  <a:extLst>
                    <a:ext uri="{9D8B030D-6E8A-4147-A177-3AD203B41FA5}">
                      <a16:colId xmlns:a16="http://schemas.microsoft.com/office/drawing/2014/main" val="1195425361"/>
                    </a:ext>
                  </a:extLst>
                </a:gridCol>
                <a:gridCol w="4250263">
                  <a:extLst>
                    <a:ext uri="{9D8B030D-6E8A-4147-A177-3AD203B41FA5}">
                      <a16:colId xmlns:a16="http://schemas.microsoft.com/office/drawing/2014/main" val="1784722621"/>
                    </a:ext>
                  </a:extLst>
                </a:gridCol>
              </a:tblGrid>
              <a:tr h="434115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Сегмент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Краткое описание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260834"/>
                  </a:ext>
                </a:extLst>
              </a:tr>
              <a:tr h="713189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  <a:latin typeface="quote-cjk-patch"/>
                        </a:rPr>
                        <a:t>«Слушатели ВК/</a:t>
                      </a:r>
                      <a:r>
                        <a:rPr lang="en-US" b="1" dirty="0">
                          <a:effectLst/>
                          <a:latin typeface="quote-cjk-patch"/>
                        </a:rPr>
                        <a:t>Spotify»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Пользователи стримингов, иногда ищут треки в ботах.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770228"/>
                  </a:ext>
                </a:extLst>
              </a:tr>
              <a:tr h="992263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effectLst/>
                          <a:latin typeface="quote-cjk-patch"/>
                        </a:rPr>
                        <a:t>«Коллекционеры файлов»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Хранят музыку на устройстве, используют офлайн-плееры.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707027"/>
                  </a:ext>
                </a:extLst>
              </a:tr>
              <a:tr h="1271336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ru-RU" b="1" dirty="0">
                          <a:effectLst/>
                          <a:latin typeface="quote-cjk-patch"/>
                        </a:rPr>
                        <a:t>«</a:t>
                      </a:r>
                      <a:r>
                        <a:rPr lang="ru-RU" b="1" dirty="0" err="1">
                          <a:effectLst/>
                          <a:latin typeface="quote-cjk-patch"/>
                        </a:rPr>
                        <a:t>Ботоводы</a:t>
                      </a:r>
                      <a:r>
                        <a:rPr lang="ru-RU" b="1" dirty="0">
                          <a:effectLst/>
                          <a:latin typeface="quote-cjk-patch"/>
                        </a:rPr>
                        <a:t>»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Активно качают музыку через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Telegram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‑ботов, страдают от хаоса в истории.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4933"/>
                  </a:ext>
                </a:extLst>
              </a:tr>
              <a:tr h="992263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  <a:latin typeface="quote-cjk-patch"/>
                        </a:rPr>
                        <a:t>«Меломаны»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Ищут редкие записи, используют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Soundcloud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Bandcamp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02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4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4B03E-5163-94EC-BFE7-DB34634A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 Выбор стартового сегмента</a:t>
            </a:r>
            <a:br>
              <a:rPr lang="ru-RU" sz="4000" b="1" dirty="0"/>
            </a:br>
            <a:r>
              <a:rPr lang="ru-RU" sz="2800" dirty="0"/>
              <a:t>по критериям для сегмента «</a:t>
            </a:r>
            <a:r>
              <a:rPr lang="ru-RU" sz="2800" dirty="0" err="1"/>
              <a:t>Ботоводы</a:t>
            </a:r>
            <a:r>
              <a:rPr lang="ru-RU" sz="2800" dirty="0"/>
              <a:t>»</a:t>
            </a:r>
            <a:endParaRPr lang="ru-RU" sz="40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78E77EE-59C9-6624-27DD-9B0362F20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91746"/>
              </p:ext>
            </p:extLst>
          </p:nvPr>
        </p:nvGraphicFramePr>
        <p:xfrm>
          <a:off x="838200" y="1343818"/>
          <a:ext cx="5081340" cy="4256064"/>
        </p:xfrm>
        <a:graphic>
          <a:graphicData uri="http://schemas.openxmlformats.org/drawingml/2006/table">
            <a:tbl>
              <a:tblPr/>
              <a:tblGrid>
                <a:gridCol w="2540670">
                  <a:extLst>
                    <a:ext uri="{9D8B030D-6E8A-4147-A177-3AD203B41FA5}">
                      <a16:colId xmlns:a16="http://schemas.microsoft.com/office/drawing/2014/main" val="1997244136"/>
                    </a:ext>
                  </a:extLst>
                </a:gridCol>
                <a:gridCol w="2540670">
                  <a:extLst>
                    <a:ext uri="{9D8B030D-6E8A-4147-A177-3AD203B41FA5}">
                      <a16:colId xmlns:a16="http://schemas.microsoft.com/office/drawing/2014/main" val="3097126624"/>
                    </a:ext>
                  </a:extLst>
                </a:gridCol>
              </a:tblGrid>
              <a:tr h="332515">
                <a:tc>
                  <a:txBody>
                    <a:bodyPr/>
                    <a:lstStyle/>
                    <a:p>
                      <a:pPr algn="l"/>
                      <a:r>
                        <a:rPr lang="ru-RU" sz="17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0" dirty="0">
                          <a:effectLst/>
                          <a:latin typeface="quote-cjk-patch"/>
                        </a:rPr>
                        <a:t>Оценка</a:t>
                      </a:r>
                    </a:p>
                  </a:txBody>
                  <a:tcPr marL="118404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369264"/>
                  </a:ext>
                </a:extLst>
              </a:tr>
              <a:tr h="546276"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Выраженность и частота проблемы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0">
                          <a:effectLst/>
                          <a:latin typeface="quote-cjk-patch"/>
                        </a:rPr>
                        <a:t>Высокая (теряются треки ежедневно)</a:t>
                      </a:r>
                    </a:p>
                  </a:txBody>
                  <a:tcPr marL="118404" marR="88803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651061"/>
                  </a:ext>
                </a:extLst>
              </a:tr>
              <a:tr h="546276"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Доступность сегмента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0">
                          <a:effectLst/>
                          <a:latin typeface="quote-cjk-patch"/>
                        </a:rPr>
                        <a:t>Высокая (сидят в ботах-конкурентах)</a:t>
                      </a:r>
                    </a:p>
                  </a:txBody>
                  <a:tcPr marL="118404" marR="88803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44226"/>
                  </a:ext>
                </a:extLst>
              </a:tr>
              <a:tr h="546276"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Скорость принятия решения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Высокая (увидел – попробовал)</a:t>
                      </a:r>
                    </a:p>
                  </a:txBody>
                  <a:tcPr marL="118404" marR="88803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778362"/>
                  </a:ext>
                </a:extLst>
              </a:tr>
              <a:tr h="760036"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Барьеры внедрения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Низкие (не нужно скачивать, открывается в TG)</a:t>
                      </a:r>
                    </a:p>
                  </a:txBody>
                  <a:tcPr marL="118404" marR="88803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959759"/>
                  </a:ext>
                </a:extLst>
              </a:tr>
              <a:tr h="760036">
                <a:tc>
                  <a:txBody>
                    <a:bodyPr/>
                    <a:lstStyle/>
                    <a:p>
                      <a:pPr algn="ctr"/>
                      <a:r>
                        <a:rPr lang="ru-RU" sz="1700" b="0">
                          <a:effectLst/>
                          <a:latin typeface="quote-cjk-patch"/>
                        </a:rPr>
                        <a:t>Вероятность оплаты</a:t>
                      </a:r>
                    </a:p>
                  </a:txBody>
                  <a:tcPr marL="88803" marR="118404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0" dirty="0">
                          <a:effectLst/>
                          <a:latin typeface="quote-cjk-patch"/>
                        </a:rPr>
                        <a:t>Средняя (платёжеспособны, нужна ценность)</a:t>
                      </a:r>
                    </a:p>
                  </a:txBody>
                  <a:tcPr marL="118404" marR="88803" marT="74002" marB="7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353954"/>
                  </a:ext>
                </a:extLst>
              </a:tr>
            </a:tbl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7B21B77-E86C-A501-33D8-7C57DE400B57}"/>
              </a:ext>
            </a:extLst>
          </p:cNvPr>
          <p:cNvCxnSpPr>
            <a:cxnSpLocks/>
          </p:cNvCxnSpPr>
          <p:nvPr/>
        </p:nvCxnSpPr>
        <p:spPr>
          <a:xfrm>
            <a:off x="5919540" y="3689684"/>
            <a:ext cx="17485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A46A2E-08B3-6F77-2AE3-308144765082}"/>
              </a:ext>
            </a:extLst>
          </p:cNvPr>
          <p:cNvSpPr txBox="1"/>
          <p:nvPr/>
        </p:nvSpPr>
        <p:spPr>
          <a:xfrm>
            <a:off x="6354449" y="332035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вывод</a:t>
            </a:r>
          </a:p>
        </p:txBody>
      </p:sp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918259D8-85D6-03CA-80BF-D3680C9EA27D}"/>
              </a:ext>
            </a:extLst>
          </p:cNvPr>
          <p:cNvSpPr/>
          <p:nvPr/>
        </p:nvSpPr>
        <p:spPr>
          <a:xfrm>
            <a:off x="7780421" y="2819400"/>
            <a:ext cx="3689685" cy="174056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0" i="0" dirty="0">
                <a:solidFill>
                  <a:schemeClr val="tx1"/>
                </a:solidFill>
                <a:effectLst/>
                <a:latin typeface="quote-cjk-patch"/>
              </a:rPr>
              <a:t>выбираем сегмент 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quote-cjk-patch"/>
              </a:rPr>
              <a:t>«</a:t>
            </a:r>
            <a:r>
              <a:rPr lang="ru-RU" sz="2000" b="1" i="0" dirty="0" err="1">
                <a:solidFill>
                  <a:schemeClr val="tx1"/>
                </a:solidFill>
                <a:effectLst/>
                <a:latin typeface="quote-cjk-patch"/>
              </a:rPr>
              <a:t>Ботоводы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quote-cjk-patch"/>
              </a:rPr>
              <a:t>»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quote-cjk-patch"/>
              </a:rPr>
              <a:t> как наиболее перспективный для старта.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34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3F916-4E70-0BCF-B911-E7949B51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37" y="322178"/>
            <a:ext cx="6220326" cy="71771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Карта рынка (</a:t>
            </a:r>
            <a:r>
              <a:rPr lang="en-US" sz="4000" b="1" dirty="0"/>
              <a:t>Market Map)</a:t>
            </a:r>
            <a:endParaRPr lang="ru-RU" sz="4000" b="1" dirty="0"/>
          </a:p>
        </p:txBody>
      </p:sp>
      <p:pic>
        <p:nvPicPr>
          <p:cNvPr id="5122" name="Picture 2" descr="Карта – Бесплатные иконки: Карты и флаги">
            <a:extLst>
              <a:ext uri="{FF2B5EF4-FFF2-40B4-BE49-F238E27FC236}">
                <a16:creationId xmlns:a16="http://schemas.microsoft.com/office/drawing/2014/main" id="{D0F31475-DBC3-5BB8-CFFB-E1BC88524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163" y="81462"/>
            <a:ext cx="958433" cy="95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58D1F3E-BA86-3796-632F-EE3E53A58D95}"/>
              </a:ext>
            </a:extLst>
          </p:cNvPr>
          <p:cNvSpPr/>
          <p:nvPr/>
        </p:nvSpPr>
        <p:spPr>
          <a:xfrm>
            <a:off x="521368" y="1459832"/>
            <a:ext cx="2839453" cy="8181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Ботоводы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2E2E2FA3-8B39-FA68-1FD6-AB277D964B8A}"/>
              </a:ext>
            </a:extLst>
          </p:cNvPr>
          <p:cNvSpPr/>
          <p:nvPr/>
        </p:nvSpPr>
        <p:spPr>
          <a:xfrm>
            <a:off x="521367" y="2697916"/>
            <a:ext cx="2839453" cy="8181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Коллекционеры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58DA38B4-1233-8C90-8430-02E2B7BE56C7}"/>
              </a:ext>
            </a:extLst>
          </p:cNvPr>
          <p:cNvSpPr/>
          <p:nvPr/>
        </p:nvSpPr>
        <p:spPr>
          <a:xfrm>
            <a:off x="521367" y="3936000"/>
            <a:ext cx="2839453" cy="8181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Слушатели ВК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2A1394A-D996-C8B7-FB57-CC95CFE5B810}"/>
              </a:ext>
            </a:extLst>
          </p:cNvPr>
          <p:cNvSpPr/>
          <p:nvPr/>
        </p:nvSpPr>
        <p:spPr>
          <a:xfrm>
            <a:off x="521367" y="5174084"/>
            <a:ext cx="2839453" cy="8181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Меломаны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05A3C9C-289D-C22A-C3FF-06547E3DBDE0}"/>
              </a:ext>
            </a:extLst>
          </p:cNvPr>
          <p:cNvSpPr/>
          <p:nvPr/>
        </p:nvSpPr>
        <p:spPr>
          <a:xfrm>
            <a:off x="7786436" y="1459832"/>
            <a:ext cx="2839453" cy="8181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Telegram bots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6E30946D-7BBB-351B-4C99-C4AD98ADCA0A}"/>
              </a:ext>
            </a:extLst>
          </p:cNvPr>
          <p:cNvSpPr/>
          <p:nvPr/>
        </p:nvSpPr>
        <p:spPr>
          <a:xfrm>
            <a:off x="7786436" y="5174084"/>
            <a:ext cx="2839453" cy="8181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Спец. платформы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55FD25F2-4632-7BE6-5638-0C54AF9A537A}"/>
              </a:ext>
            </a:extLst>
          </p:cNvPr>
          <p:cNvSpPr/>
          <p:nvPr/>
        </p:nvSpPr>
        <p:spPr>
          <a:xfrm>
            <a:off x="7786436" y="3936000"/>
            <a:ext cx="2839453" cy="8181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Стриминги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B2AD1575-A5E6-245D-55A2-D9AC7A8290A4}"/>
              </a:ext>
            </a:extLst>
          </p:cNvPr>
          <p:cNvSpPr/>
          <p:nvPr/>
        </p:nvSpPr>
        <p:spPr>
          <a:xfrm>
            <a:off x="7786436" y="2697915"/>
            <a:ext cx="2839453" cy="8181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Оффлайн плееры</a:t>
            </a:r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711C7D63-2041-A508-137F-D60CB1150001}"/>
              </a:ext>
            </a:extLst>
          </p:cNvPr>
          <p:cNvSpPr/>
          <p:nvPr/>
        </p:nvSpPr>
        <p:spPr>
          <a:xfrm>
            <a:off x="4153902" y="1231231"/>
            <a:ext cx="2839453" cy="1275347"/>
          </a:xfrm>
          <a:custGeom>
            <a:avLst/>
            <a:gdLst>
              <a:gd name="connsiteX0" fmla="*/ 0 w 2839453"/>
              <a:gd name="connsiteY0" fmla="*/ 637674 h 1275347"/>
              <a:gd name="connsiteX1" fmla="*/ 1419727 w 2839453"/>
              <a:gd name="connsiteY1" fmla="*/ 0 h 1275347"/>
              <a:gd name="connsiteX2" fmla="*/ 2839454 w 2839453"/>
              <a:gd name="connsiteY2" fmla="*/ 637674 h 1275347"/>
              <a:gd name="connsiteX3" fmla="*/ 1419727 w 2839453"/>
              <a:gd name="connsiteY3" fmla="*/ 1275348 h 1275347"/>
              <a:gd name="connsiteX4" fmla="*/ 0 w 2839453"/>
              <a:gd name="connsiteY4" fmla="*/ 637674 h 127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9453" h="1275347" fill="none" extrusionOk="0">
                <a:moveTo>
                  <a:pt x="0" y="637674"/>
                </a:moveTo>
                <a:cubicBezTo>
                  <a:pt x="-91886" y="199066"/>
                  <a:pt x="599266" y="-72104"/>
                  <a:pt x="1419727" y="0"/>
                </a:cubicBezTo>
                <a:cubicBezTo>
                  <a:pt x="2235109" y="38382"/>
                  <a:pt x="2880960" y="314167"/>
                  <a:pt x="2839454" y="637674"/>
                </a:cubicBezTo>
                <a:cubicBezTo>
                  <a:pt x="2846316" y="937654"/>
                  <a:pt x="2128896" y="1213058"/>
                  <a:pt x="1419727" y="1275348"/>
                </a:cubicBezTo>
                <a:cubicBezTo>
                  <a:pt x="616913" y="1285964"/>
                  <a:pt x="21680" y="1049612"/>
                  <a:pt x="0" y="637674"/>
                </a:cubicBezTo>
                <a:close/>
              </a:path>
              <a:path w="2839453" h="1275347" stroke="0" extrusionOk="0">
                <a:moveTo>
                  <a:pt x="0" y="637674"/>
                </a:moveTo>
                <a:cubicBezTo>
                  <a:pt x="-16825" y="312210"/>
                  <a:pt x="726857" y="-79663"/>
                  <a:pt x="1419727" y="0"/>
                </a:cubicBezTo>
                <a:cubicBezTo>
                  <a:pt x="2226025" y="31620"/>
                  <a:pt x="2847370" y="279641"/>
                  <a:pt x="2839454" y="637674"/>
                </a:cubicBezTo>
                <a:cubicBezTo>
                  <a:pt x="2844104" y="966578"/>
                  <a:pt x="2242264" y="1308351"/>
                  <a:pt x="1419727" y="1275348"/>
                </a:cubicBezTo>
                <a:cubicBezTo>
                  <a:pt x="629638" y="1314887"/>
                  <a:pt x="-18432" y="971735"/>
                  <a:pt x="0" y="637674"/>
                </a:cubicBezTo>
                <a:close/>
              </a:path>
            </a:pathLst>
          </a:custGeom>
          <a:solidFill>
            <a:schemeClr val="accent2"/>
          </a:solidFill>
          <a:ln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Наш </a:t>
            </a:r>
            <a:r>
              <a:rPr lang="en-US" sz="1600" dirty="0" err="1">
                <a:solidFill>
                  <a:schemeClr val="tx1"/>
                </a:solidFill>
              </a:rPr>
              <a:t>MiniApp</a:t>
            </a:r>
            <a:endParaRPr lang="ru-RU" sz="1600" dirty="0">
              <a:solidFill>
                <a:schemeClr val="tx1"/>
              </a:solidFill>
            </a:endParaRP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(</a:t>
            </a:r>
            <a:r>
              <a:rPr lang="ru-RU" sz="1600" dirty="0" err="1">
                <a:solidFill>
                  <a:schemeClr val="tx1"/>
                </a:solidFill>
              </a:rPr>
              <a:t>Плеер+плейлисты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2B7A046F-7F33-9692-3A2D-DF6C2A449FBE}"/>
              </a:ext>
            </a:extLst>
          </p:cNvPr>
          <p:cNvCxnSpPr>
            <a:cxnSpLocks/>
            <a:stCxn id="53" idx="3"/>
            <a:endCxn id="61" idx="2"/>
          </p:cNvCxnSpPr>
          <p:nvPr/>
        </p:nvCxnSpPr>
        <p:spPr>
          <a:xfrm flipV="1">
            <a:off x="3360821" y="1868905"/>
            <a:ext cx="793081" cy="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7" name="Прямая со стрелкой 5126">
            <a:extLst>
              <a:ext uri="{FF2B5EF4-FFF2-40B4-BE49-F238E27FC236}">
                <a16:creationId xmlns:a16="http://schemas.microsoft.com/office/drawing/2014/main" id="{964ABC86-F9AD-40EE-A9A3-2A4AA169C5AC}"/>
              </a:ext>
            </a:extLst>
          </p:cNvPr>
          <p:cNvCxnSpPr>
            <a:cxnSpLocks/>
            <a:stCxn id="57" idx="1"/>
            <a:endCxn id="61" idx="6"/>
          </p:cNvCxnSpPr>
          <p:nvPr/>
        </p:nvCxnSpPr>
        <p:spPr>
          <a:xfrm flipH="1" flipV="1">
            <a:off x="6993355" y="1868905"/>
            <a:ext cx="793081" cy="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3" name="Соединитель: уступ 5132">
            <a:extLst>
              <a:ext uri="{FF2B5EF4-FFF2-40B4-BE49-F238E27FC236}">
                <a16:creationId xmlns:a16="http://schemas.microsoft.com/office/drawing/2014/main" id="{993DF404-9BB4-582E-E80D-E142D6425E19}"/>
              </a:ext>
            </a:extLst>
          </p:cNvPr>
          <p:cNvCxnSpPr>
            <a:cxnSpLocks/>
            <a:stCxn id="53" idx="2"/>
            <a:endCxn id="57" idx="2"/>
          </p:cNvCxnSpPr>
          <p:nvPr/>
        </p:nvCxnSpPr>
        <p:spPr>
          <a:xfrm rot="16200000" flipH="1">
            <a:off x="5573629" y="-1354555"/>
            <a:ext cx="12700" cy="7265068"/>
          </a:xfrm>
          <a:prstGeom prst="bentConnector3">
            <a:avLst>
              <a:gd name="adj1" fmla="val 236842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7" name="Прямая со стрелкой 5136">
            <a:extLst>
              <a:ext uri="{FF2B5EF4-FFF2-40B4-BE49-F238E27FC236}">
                <a16:creationId xmlns:a16="http://schemas.microsoft.com/office/drawing/2014/main" id="{69959DE4-6B28-B75F-3A31-44F9390E501A}"/>
              </a:ext>
            </a:extLst>
          </p:cNvPr>
          <p:cNvCxnSpPr>
            <a:stCxn id="54" idx="3"/>
            <a:endCxn id="60" idx="1"/>
          </p:cNvCxnSpPr>
          <p:nvPr/>
        </p:nvCxnSpPr>
        <p:spPr>
          <a:xfrm flipV="1">
            <a:off x="3360820" y="3106989"/>
            <a:ext cx="44256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8" name="Прямая со стрелкой 5137">
            <a:extLst>
              <a:ext uri="{FF2B5EF4-FFF2-40B4-BE49-F238E27FC236}">
                <a16:creationId xmlns:a16="http://schemas.microsoft.com/office/drawing/2014/main" id="{8BF17C86-658D-BE7D-4F03-EFFF8C257E43}"/>
              </a:ext>
            </a:extLst>
          </p:cNvPr>
          <p:cNvCxnSpPr/>
          <p:nvPr/>
        </p:nvCxnSpPr>
        <p:spPr>
          <a:xfrm flipV="1">
            <a:off x="3360820" y="5598029"/>
            <a:ext cx="44256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9" name="Прямая со стрелкой 5138">
            <a:extLst>
              <a:ext uri="{FF2B5EF4-FFF2-40B4-BE49-F238E27FC236}">
                <a16:creationId xmlns:a16="http://schemas.microsoft.com/office/drawing/2014/main" id="{84A1EAFE-D3E8-EC1C-ADCE-3D9DE4CEA85F}"/>
              </a:ext>
            </a:extLst>
          </p:cNvPr>
          <p:cNvCxnSpPr/>
          <p:nvPr/>
        </p:nvCxnSpPr>
        <p:spPr>
          <a:xfrm flipV="1">
            <a:off x="3367171" y="4349084"/>
            <a:ext cx="44256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6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7ACBD-D6CD-EEB3-0221-D2FA1D9D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Анализ конкурентов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AC7E58E-2259-F8D7-A504-7E41A5B01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482935"/>
              </p:ext>
            </p:extLst>
          </p:nvPr>
        </p:nvGraphicFramePr>
        <p:xfrm>
          <a:off x="1473200" y="1690688"/>
          <a:ext cx="9245600" cy="467000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798985322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222182299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3309334434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448626613"/>
                    </a:ext>
                  </a:extLst>
                </a:gridCol>
              </a:tblGrid>
              <a:tr h="46238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Сильные стороны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Слабые стороны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646881"/>
                  </a:ext>
                </a:extLst>
              </a:tr>
              <a:tr h="84152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@vkm_bot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Косвенный / Замена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Быстрый поиск, огромная база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плейлистов, нет плеера, файлы в истории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4157"/>
                  </a:ext>
                </a:extLst>
              </a:tr>
              <a:tr h="84152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@SpottyBot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Косвенный / Замена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Удобный вывод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поиск, нет сортировки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555471"/>
                  </a:ext>
                </a:extLst>
              </a:tr>
              <a:tr h="8415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AIMP (Android)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Прямая замена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Кучи настроек, эквалайзер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effectLst/>
                          <a:latin typeface="+mj-lt"/>
                        </a:rPr>
                        <a:t>Не в </a:t>
                      </a:r>
                      <a:r>
                        <a:rPr lang="ru-RU" sz="1400" b="0" dirty="0" err="1">
                          <a:effectLst/>
                          <a:latin typeface="+mj-lt"/>
                        </a:rPr>
                        <a:t>Telegram</a:t>
                      </a:r>
                      <a:r>
                        <a:rPr lang="ru-RU" sz="1400" b="0" dirty="0">
                          <a:effectLst/>
                          <a:latin typeface="+mj-lt"/>
                        </a:rPr>
                        <a:t>, нет облака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41160114"/>
                  </a:ext>
                </a:extLst>
              </a:tr>
              <a:tr h="84152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 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Прямой конкурент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Огромная библиотека, соц. фичи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Тяжелое приложение, региональные ограничения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027645"/>
                  </a:ext>
                </a:extLst>
              </a:tr>
              <a:tr h="841525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Избранное в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Замена (</a:t>
                      </a: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Manual)</a:t>
                      </a:r>
                      <a:endParaRPr lang="ru-RU" sz="1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Всегда под рукой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Это просто список ссылок, не плеер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491315"/>
                  </a:ext>
                </a:extLst>
              </a:tr>
            </a:tbl>
          </a:graphicData>
        </a:graphic>
      </p:graphicFrame>
      <p:pic>
        <p:nvPicPr>
          <p:cNvPr id="4098" name="Picture 2" descr="Конкуренты – Бесплатные иконки: бизнес и финансы">
            <a:extLst>
              <a:ext uri="{FF2B5EF4-FFF2-40B4-BE49-F238E27FC236}">
                <a16:creationId xmlns:a16="http://schemas.microsoft.com/office/drawing/2014/main" id="{17E2D7CB-000C-8A78-6D56-241E5E350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368" y="497303"/>
            <a:ext cx="834189" cy="83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29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647CD-96DA-3668-417E-B51610C0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Драйверы и барьеры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F6290-0D8F-E73C-7505-C8BCEF912139}"/>
              </a:ext>
            </a:extLst>
          </p:cNvPr>
          <p:cNvSpPr txBox="1"/>
          <p:nvPr/>
        </p:nvSpPr>
        <p:spPr>
          <a:xfrm>
            <a:off x="1267327" y="1343818"/>
            <a:ext cx="1933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Драйверы</a:t>
            </a:r>
          </a:p>
        </p:txBody>
      </p:sp>
      <p:pic>
        <p:nvPicPr>
          <p:cNvPr id="7170" name="Picture 2" descr="Рынок – Бесплатные иконки: бизнес">
            <a:extLst>
              <a:ext uri="{FF2B5EF4-FFF2-40B4-BE49-F238E27FC236}">
                <a16:creationId xmlns:a16="http://schemas.microsoft.com/office/drawing/2014/main" id="{C28AE540-4941-98E2-AAFD-69CDDB9E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3" y="1319601"/>
            <a:ext cx="1094874" cy="109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C34AC4-18A2-B540-DF86-6E78155DD64B}"/>
              </a:ext>
            </a:extLst>
          </p:cNvPr>
          <p:cNvSpPr txBox="1"/>
          <p:nvPr/>
        </p:nvSpPr>
        <p:spPr>
          <a:xfrm>
            <a:off x="1612232" y="1965158"/>
            <a:ext cx="4483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Рост аудитории </a:t>
            </a:r>
            <a:r>
              <a:rPr lang="ru-RU" sz="2400" i="0" dirty="0" err="1">
                <a:effectLst/>
                <a:latin typeface="+mj-lt"/>
              </a:rPr>
              <a:t>Telegram</a:t>
            </a:r>
            <a:endParaRPr lang="ru-RU" sz="240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Тренд на Mini </a:t>
            </a:r>
            <a:r>
              <a:rPr lang="ru-RU" sz="2400" i="0" dirty="0" err="1">
                <a:effectLst/>
                <a:latin typeface="+mj-lt"/>
              </a:rPr>
              <a:t>Apps</a:t>
            </a:r>
            <a:r>
              <a:rPr lang="ru-RU" sz="2400" i="0" dirty="0">
                <a:effectLst/>
                <a:latin typeface="+mj-lt"/>
              </a:rPr>
              <a:t> (упрощают вход)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Усталость от подписок (ищут бесплатные альтернативы)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Увеличение объёма медиафайлов (нужда в систематизации)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6D9DD-FF76-45A6-133C-FBC06FE43B67}"/>
              </a:ext>
            </a:extLst>
          </p:cNvPr>
          <p:cNvSpPr txBox="1"/>
          <p:nvPr/>
        </p:nvSpPr>
        <p:spPr>
          <a:xfrm>
            <a:off x="6866022" y="1441938"/>
            <a:ext cx="1933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Драйверы</a:t>
            </a:r>
          </a:p>
        </p:txBody>
      </p:sp>
      <p:pic>
        <p:nvPicPr>
          <p:cNvPr id="7172" name="Picture 4" descr="Барьер – Бесплатные иконки: безопасность">
            <a:extLst>
              <a:ext uri="{FF2B5EF4-FFF2-40B4-BE49-F238E27FC236}">
                <a16:creationId xmlns:a16="http://schemas.microsoft.com/office/drawing/2014/main" id="{97F9D6AE-5048-D6F6-33EB-74ED10BAA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40" y="1319601"/>
            <a:ext cx="974557" cy="97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1C08AF-7801-BDFA-732A-A6239EB857B4}"/>
              </a:ext>
            </a:extLst>
          </p:cNvPr>
          <p:cNvSpPr txBox="1"/>
          <p:nvPr/>
        </p:nvSpPr>
        <p:spPr>
          <a:xfrm>
            <a:off x="7082590" y="1965158"/>
            <a:ext cx="4483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Привычка к текущему хаосу или стримингам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Политика </a:t>
            </a:r>
            <a:r>
              <a:rPr lang="ru-RU" sz="2400" i="0" dirty="0" err="1">
                <a:effectLst/>
                <a:latin typeface="+mj-lt"/>
              </a:rPr>
              <a:t>Telegram</a:t>
            </a:r>
            <a:r>
              <a:rPr lang="ru-RU" sz="2400" i="0" dirty="0">
                <a:effectLst/>
                <a:latin typeface="+mj-lt"/>
              </a:rPr>
              <a:t> и авторские права (риски блокировок)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+mj-lt"/>
              </a:rPr>
              <a:t>Технические ограничения </a:t>
            </a:r>
            <a:r>
              <a:rPr lang="ru-RU" sz="2400" i="0" dirty="0" err="1">
                <a:effectLst/>
                <a:latin typeface="+mj-lt"/>
              </a:rPr>
              <a:t>Telegram</a:t>
            </a:r>
            <a:r>
              <a:rPr lang="ru-RU" sz="2400" i="0" dirty="0">
                <a:effectLst/>
                <a:latin typeface="+mj-lt"/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317896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1BA09-BF7D-2832-B525-5B31D80A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Ценностное предложение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A72BFF-BF44-8A6B-FE54-439A1365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b="1" dirty="0"/>
              <a:t>Для «</a:t>
            </a:r>
            <a:r>
              <a:rPr lang="ru-RU" sz="3200" b="1" dirty="0" err="1"/>
              <a:t>Ботоводов</a:t>
            </a:r>
            <a:r>
              <a:rPr lang="ru-RU" sz="3200" b="1" dirty="0"/>
              <a:t>»</a:t>
            </a:r>
          </a:p>
          <a:p>
            <a:pPr marL="0" indent="0">
              <a:buNone/>
            </a:pPr>
            <a:r>
              <a:rPr lang="ru-RU" dirty="0"/>
              <a:t>которые теряют треки в избранном,</a:t>
            </a:r>
          </a:p>
          <a:p>
            <a:pPr marL="0" indent="0">
              <a:buNone/>
            </a:pPr>
            <a:r>
              <a:rPr lang="ru-RU" dirty="0"/>
              <a:t>мы предлагаем единое хранилище и умные плейлисты прямо в </a:t>
            </a:r>
            <a:r>
              <a:rPr lang="ru-RU" dirty="0" err="1"/>
              <a:t>Telegram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что позволяет экономить время на поиск музыки и наводить порядок в медиафайлах.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Основания: </a:t>
            </a:r>
          </a:p>
          <a:p>
            <a:r>
              <a:rPr lang="ru-RU" sz="2000" dirty="0"/>
              <a:t>Интеграция с TG — не требует выхода из приложения.</a:t>
            </a:r>
          </a:p>
          <a:p>
            <a:r>
              <a:rPr lang="ru-RU" sz="2000" dirty="0"/>
              <a:t>Автоматическая сортировка по исполнителям.</a:t>
            </a:r>
          </a:p>
          <a:p>
            <a:r>
              <a:rPr lang="ru-RU" sz="2000" dirty="0"/>
              <a:t>Возможность импорта истории из ботов.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8194" name="Picture 2" descr="Ценности – Бесплатные иконки: мода">
            <a:extLst>
              <a:ext uri="{FF2B5EF4-FFF2-40B4-BE49-F238E27FC236}">
                <a16:creationId xmlns:a16="http://schemas.microsoft.com/office/drawing/2014/main" id="{668FEC43-D392-5DD5-C802-BF4F24CC7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147" y="216107"/>
            <a:ext cx="874295" cy="87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13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CC703-BAA5-AAEB-BA01-1222F588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Business Model Canvas (BMC)</a:t>
            </a:r>
            <a:endParaRPr lang="ru-RU" sz="40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BD1FE11-83C4-A159-716B-6BDA6EBEA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46523"/>
              </p:ext>
            </p:extLst>
          </p:nvPr>
        </p:nvGraphicFramePr>
        <p:xfrm>
          <a:off x="2291739" y="1324057"/>
          <a:ext cx="7608522" cy="4924447"/>
        </p:xfrm>
        <a:graphic>
          <a:graphicData uri="http://schemas.openxmlformats.org/drawingml/2006/table">
            <a:tbl>
              <a:tblPr/>
              <a:tblGrid>
                <a:gridCol w="2536174">
                  <a:extLst>
                    <a:ext uri="{9D8B030D-6E8A-4147-A177-3AD203B41FA5}">
                      <a16:colId xmlns:a16="http://schemas.microsoft.com/office/drawing/2014/main" val="1814318947"/>
                    </a:ext>
                  </a:extLst>
                </a:gridCol>
                <a:gridCol w="2536174">
                  <a:extLst>
                    <a:ext uri="{9D8B030D-6E8A-4147-A177-3AD203B41FA5}">
                      <a16:colId xmlns:a16="http://schemas.microsoft.com/office/drawing/2014/main" val="855287184"/>
                    </a:ext>
                  </a:extLst>
                </a:gridCol>
                <a:gridCol w="2536174">
                  <a:extLst>
                    <a:ext uri="{9D8B030D-6E8A-4147-A177-3AD203B41FA5}">
                      <a16:colId xmlns:a16="http://schemas.microsoft.com/office/drawing/2014/main" val="358902497"/>
                    </a:ext>
                  </a:extLst>
                </a:gridCol>
              </a:tblGrid>
              <a:tr h="64215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  <a:latin typeface="quote-cjk-patch"/>
                        </a:rPr>
                        <a:t>Ключевые партнёры</a:t>
                      </a: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  <a:latin typeface="quote-cjk-patch"/>
                        </a:rPr>
                        <a:t>Ключевые активности</a:t>
                      </a: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  <a:latin typeface="quote-cjk-patch"/>
                        </a:rPr>
                        <a:t>Ценностное предложение</a:t>
                      </a: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116350"/>
                  </a:ext>
                </a:extLst>
              </a:tr>
              <a:tr h="894273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Разработчики ботов, облачные хостинги</a:t>
                      </a: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Разработка Mini 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App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, бэкенд, модерация</a:t>
                      </a: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Плейлисты, сортировка, импорт</a:t>
                      </a:r>
                    </a:p>
                  </a:txBody>
                  <a:tcPr marL="100031" marR="75023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568456"/>
                  </a:ext>
                </a:extLst>
              </a:tr>
              <a:tr h="642150"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Ключевые ресурсы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Отношения с клиентами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Каналы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00031" marR="75023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793794"/>
                  </a:ext>
                </a:extLst>
              </a:tr>
              <a:tr h="114639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Программисты, сервера, дизайн</a:t>
                      </a: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Поддержка через чат, новостной канал</a:t>
                      </a: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Поиск в TG, реклама в ботах, сарафанное радио</a:t>
                      </a:r>
                    </a:p>
                  </a:txBody>
                  <a:tcPr marL="100031" marR="75023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842996"/>
                  </a:ext>
                </a:extLst>
              </a:tr>
              <a:tr h="642150"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Структура издержек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Потоки выручки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Клиентские сегменты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00031" marR="75023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673697"/>
                  </a:ext>
                </a:extLst>
              </a:tr>
              <a:tr h="894273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Сервера, оплата труда, маркетинг</a:t>
                      </a:r>
                    </a:p>
                  </a:txBody>
                  <a:tcPr marL="75023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Подписка (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Premium), 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реклама</a:t>
                      </a:r>
                    </a:p>
                  </a:txBody>
                  <a:tcPr marL="100031" marR="100031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err="1">
                          <a:effectLst/>
                          <a:latin typeface="quote-cjk-patch"/>
                        </a:rPr>
                        <a:t>Ботоводы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 (приоритет), коллекционеры</a:t>
                      </a:r>
                    </a:p>
                  </a:txBody>
                  <a:tcPr marL="100031" marR="75023" marT="62519" marB="62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576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6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5B40D-8393-AE55-CB08-D584F031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Гипотезы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A11AC70-D099-2867-7E10-B4A8E02A59A8}"/>
              </a:ext>
            </a:extLst>
          </p:cNvPr>
          <p:cNvCxnSpPr>
            <a:stCxn id="2" idx="2"/>
          </p:cNvCxnSpPr>
          <p:nvPr/>
        </p:nvCxnSpPr>
        <p:spPr>
          <a:xfrm>
            <a:off x="6096000" y="1343818"/>
            <a:ext cx="0" cy="5706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576C1DA-B5AA-DA48-BB29-DC2C5A41C900}"/>
              </a:ext>
            </a:extLst>
          </p:cNvPr>
          <p:cNvSpPr txBox="1"/>
          <p:nvPr/>
        </p:nvSpPr>
        <p:spPr>
          <a:xfrm>
            <a:off x="838200" y="1443841"/>
            <a:ext cx="4961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В сегменте «</a:t>
            </a:r>
            <a:r>
              <a:rPr lang="ru-RU" b="0" i="0" dirty="0" err="1">
                <a:effectLst/>
                <a:latin typeface="+mj-lt"/>
              </a:rPr>
              <a:t>Ботоводы</a:t>
            </a:r>
            <a:r>
              <a:rPr lang="ru-RU" b="0" i="0" dirty="0">
                <a:effectLst/>
                <a:latin typeface="+mj-lt"/>
              </a:rPr>
              <a:t>» проблема возникает не реже 3 раз в неделю.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70% </a:t>
            </a:r>
            <a:r>
              <a:rPr lang="ru-RU" b="0" i="0" dirty="0" err="1">
                <a:effectLst/>
                <a:latin typeface="+mj-lt"/>
              </a:rPr>
              <a:t>ботоводов</a:t>
            </a:r>
            <a:r>
              <a:rPr lang="ru-RU" b="0" i="0" dirty="0">
                <a:effectLst/>
                <a:latin typeface="+mj-lt"/>
              </a:rPr>
              <a:t> готовы перейти в Mini </a:t>
            </a:r>
            <a:r>
              <a:rPr lang="ru-RU" b="0" i="0" dirty="0" err="1">
                <a:effectLst/>
                <a:latin typeface="+mj-lt"/>
              </a:rPr>
              <a:t>App</a:t>
            </a:r>
            <a:r>
              <a:rPr lang="ru-RU" b="0" i="0" dirty="0">
                <a:effectLst/>
                <a:latin typeface="+mj-lt"/>
              </a:rPr>
              <a:t> ради функции «плейлисты».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Автоматическая сортировка по исполнителям важнее создания плейлистов.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Переход возможен при условии импорта истории из бота.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Основной канал привлечения — реклама в музыкальных ботах.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2310B-19BD-56BC-C163-8513AE3B14C5}"/>
              </a:ext>
            </a:extLst>
          </p:cNvPr>
          <p:cNvSpPr txBox="1"/>
          <p:nvPr/>
        </p:nvSpPr>
        <p:spPr>
          <a:xfrm>
            <a:off x="6392779" y="1443841"/>
            <a:ext cx="49610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При цене подписки 150 </a:t>
            </a:r>
            <a:r>
              <a:rPr lang="ru-RU" b="0" i="0" dirty="0" err="1">
                <a:effectLst/>
                <a:latin typeface="+mj-lt"/>
              </a:rPr>
              <a:t>руб</a:t>
            </a:r>
            <a:r>
              <a:rPr lang="ru-RU" b="0" i="0" dirty="0">
                <a:effectLst/>
                <a:latin typeface="+mj-lt"/>
              </a:rPr>
              <a:t>/</a:t>
            </a:r>
            <a:r>
              <a:rPr lang="ru-RU" b="0" i="0" dirty="0" err="1">
                <a:effectLst/>
                <a:latin typeface="+mj-lt"/>
              </a:rPr>
              <a:t>мес</a:t>
            </a:r>
            <a:r>
              <a:rPr lang="ru-RU" b="0" i="0" dirty="0">
                <a:effectLst/>
                <a:latin typeface="+mj-lt"/>
              </a:rPr>
              <a:t> 5% бесплатных пользователей купят Premium.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Пользователи не готовы платить за эквалайзер.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Главное возражение: «Зачем, если есть </a:t>
            </a:r>
            <a:r>
              <a:rPr lang="ru-RU" b="0" i="0" dirty="0" err="1">
                <a:effectLst/>
                <a:latin typeface="+mj-lt"/>
              </a:rPr>
              <a:t>Spotify</a:t>
            </a:r>
            <a:r>
              <a:rPr lang="ru-RU" b="0" i="0" dirty="0">
                <a:effectLst/>
                <a:latin typeface="+mj-lt"/>
              </a:rPr>
              <a:t>?»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Критическая функция — </a:t>
            </a:r>
            <a:r>
              <a:rPr lang="ru-RU" b="0" i="0" dirty="0" err="1">
                <a:effectLst/>
                <a:latin typeface="+mj-lt"/>
              </a:rPr>
              <a:t>Drag-and-drop</a:t>
            </a:r>
            <a:r>
              <a:rPr lang="ru-RU" b="0" i="0" dirty="0">
                <a:effectLst/>
                <a:latin typeface="+mj-lt"/>
              </a:rPr>
              <a:t> для сортировки треков.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Без облачной интеграции продукт бесполезен.</a:t>
            </a:r>
          </a:p>
        </p:txBody>
      </p:sp>
      <p:pic>
        <p:nvPicPr>
          <p:cNvPr id="10242" name="Picture 2" descr="Гипотеза – Бесплатные иконки: люди">
            <a:extLst>
              <a:ext uri="{FF2B5EF4-FFF2-40B4-BE49-F238E27FC236}">
                <a16:creationId xmlns:a16="http://schemas.microsoft.com/office/drawing/2014/main" id="{84106F88-8143-9F3D-A950-9E5417BE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036" y="-177217"/>
            <a:ext cx="1716505" cy="171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66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A6964-7C1B-ACBC-A4AC-8F1DDAEF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ТОП-3 рисковые гипотезы + план проверки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1D991-A62D-98A4-A7A1-CBB49D674CA2}"/>
              </a:ext>
            </a:extLst>
          </p:cNvPr>
          <p:cNvSpPr txBox="1"/>
          <p:nvPr/>
        </p:nvSpPr>
        <p:spPr>
          <a:xfrm>
            <a:off x="838200" y="1343818"/>
            <a:ext cx="78927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ТОП-3 рисковые гипотезы 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Импорт истории - Переход на наше решение возможен при условии импорта истории из бота.</a:t>
            </a:r>
          </a:p>
          <a:p>
            <a:pPr marL="457200" indent="-457200">
              <a:buFont typeface="+mj-lt"/>
              <a:buAutoNum type="arabicParenR"/>
            </a:pPr>
            <a:endParaRPr lang="ru-RU" dirty="0"/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Частота проблемы - проблема возникает не менее 3 раз в неделю.</a:t>
            </a:r>
          </a:p>
          <a:p>
            <a:pPr marL="457200" indent="-457200">
              <a:buFont typeface="+mj-lt"/>
              <a:buAutoNum type="arabicParenR"/>
            </a:pPr>
            <a:endParaRPr lang="ru-RU" dirty="0"/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Готовность платить - 5% конверсии в Premium при цене 150 </a:t>
            </a:r>
            <a:r>
              <a:rPr lang="ru-RU" dirty="0" err="1"/>
              <a:t>руб</a:t>
            </a:r>
            <a:r>
              <a:rPr lang="ru-RU" dirty="0"/>
              <a:t>/мес.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FF9D3-7A46-9655-84C7-0D821A951B28}"/>
              </a:ext>
            </a:extLst>
          </p:cNvPr>
          <p:cNvSpPr txBox="1"/>
          <p:nvPr/>
        </p:nvSpPr>
        <p:spPr>
          <a:xfrm>
            <a:off x="838200" y="384268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План первичной валидации 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Метод: 10 глубинных интервью с </a:t>
            </a:r>
            <a:r>
              <a:rPr lang="ru-RU" dirty="0" err="1"/>
              <a:t>ботоводами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arenR"/>
            </a:pPr>
            <a:endParaRPr lang="ru-RU" dirty="0"/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Где ищем: в чатах @vkm_bot, @SpottyBot.</a:t>
            </a:r>
          </a:p>
          <a:p>
            <a:pPr marL="342900" indent="-342900">
              <a:buFont typeface="+mj-lt"/>
              <a:buAutoNum type="arabicParenR"/>
            </a:pPr>
            <a:endParaRPr lang="ru-RU" dirty="0"/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Что покажем: прототип в </a:t>
            </a:r>
            <a:r>
              <a:rPr lang="ru-RU" dirty="0" err="1"/>
              <a:t>Figma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arenR"/>
            </a:pPr>
            <a:endParaRPr lang="ru-RU" dirty="0"/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Что узнаем: реальная частота проблемы, реакция на импорт, готовность платить.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9014A-DEF8-8B16-F480-B1D0A5110817}"/>
              </a:ext>
            </a:extLst>
          </p:cNvPr>
          <p:cNvSpPr txBox="1"/>
          <p:nvPr/>
        </p:nvSpPr>
        <p:spPr>
          <a:xfrm>
            <a:off x="8730916" y="1343818"/>
            <a:ext cx="62564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b="0" i="0" dirty="0">
                <a:solidFill>
                  <a:srgbClr val="F9FAFB"/>
                </a:solidFill>
                <a:effectLst/>
                <a:latin typeface="quote-cjk-patch"/>
              </a:rPr>
              <a:t>⚠️</a:t>
            </a:r>
            <a:endParaRPr lang="ru-RU" sz="1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9AB09-CEC9-6E6C-4D5B-692AF5745C60}"/>
              </a:ext>
            </a:extLst>
          </p:cNvPr>
          <p:cNvSpPr txBox="1"/>
          <p:nvPr/>
        </p:nvSpPr>
        <p:spPr>
          <a:xfrm>
            <a:off x="6540085" y="3842681"/>
            <a:ext cx="78823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b="0" i="0" dirty="0">
                <a:solidFill>
                  <a:srgbClr val="F9FAFB"/>
                </a:solidFill>
                <a:effectLst/>
                <a:latin typeface="quote-cjk-patch"/>
              </a:rPr>
              <a:t>✅</a:t>
            </a:r>
            <a:endParaRPr lang="ru-RU" sz="11500" dirty="0"/>
          </a:p>
        </p:txBody>
      </p:sp>
    </p:spTree>
    <p:extLst>
      <p:ext uri="{BB962C8B-B14F-4D97-AF65-F5344CB8AC3E}">
        <p14:creationId xmlns:p14="http://schemas.microsoft.com/office/powerpoint/2010/main" val="12116222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760</Words>
  <Application>Microsoft Office PowerPoint</Application>
  <PresentationFormat>Широкоэкранный</PresentationFormat>
  <Paragraphs>147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Lato</vt:lpstr>
      <vt:lpstr>quote-cjk-patch</vt:lpstr>
      <vt:lpstr>Roboto</vt:lpstr>
      <vt:lpstr>Wingdings</vt:lpstr>
      <vt:lpstr>Тема Office</vt:lpstr>
      <vt:lpstr>Музыкальный плеер в Telegram (Mini App)</vt:lpstr>
      <vt:lpstr>Идея и проблема</vt:lpstr>
      <vt:lpstr>Сегментация рынка</vt:lpstr>
      <vt:lpstr> Выбор стартового сегмента по критериям для сегмента «Ботоводы»</vt:lpstr>
      <vt:lpstr>Карта рынка (Market Map)</vt:lpstr>
      <vt:lpstr>Анализ конкурентов</vt:lpstr>
      <vt:lpstr>Драйверы и барьеры</vt:lpstr>
      <vt:lpstr>Ценностное предложение</vt:lpstr>
      <vt:lpstr>Business Model Canvas (BMC)</vt:lpstr>
      <vt:lpstr>Гипотезы</vt:lpstr>
      <vt:lpstr>ТОП-3 рисковые гипотезы + план проверки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Кан</dc:creator>
  <cp:lastModifiedBy>Артём Кан</cp:lastModifiedBy>
  <cp:revision>1</cp:revision>
  <dcterms:created xsi:type="dcterms:W3CDTF">2026-02-25T17:20:21Z</dcterms:created>
  <dcterms:modified xsi:type="dcterms:W3CDTF">2026-02-25T20:14:00Z</dcterms:modified>
</cp:coreProperties>
</file>