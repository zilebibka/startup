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B114C-03F3-7D2B-318D-B2591FAEA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0EDDE6-17D8-8783-8960-9BEB801C9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136BE9-65A8-7013-AC01-463663A4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04C0DE-5647-AE1F-F373-DCD40711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B9F3B3-8BAA-FD1D-BBAF-A2666214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07DE7-841E-09E0-476B-8D01A876D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7E4AC-D25C-B272-C97C-C1F2F708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D76E5-FAD1-43AC-058C-5824AC16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4DE68-EE3A-70CF-7B64-787D0144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23FE32-3653-D9BF-4811-12F2D5B4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11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0508F-32D7-555C-D672-A471140FA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EDFD82-EA8A-6C91-B9D6-FA2B33976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19650D-24E2-C842-CD2C-72F4E4A7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CD8E9D-601A-F5CD-0102-25CFBCDB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9B7722-2F21-21D8-E767-7E225044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3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70624-6DA5-B983-4090-D8DF3D1C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8F531-9B50-6D1C-F034-68A347D50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427AF3-69EA-7F38-1FF9-619444EB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61170C-8BE1-8A82-CE64-DAB516D2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FACD90-0652-9249-3923-718049C4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E4EA73-9DD2-E8C1-FCEB-5ECE08B2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74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C3B5B-697F-9B10-7227-E5EAC2B8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C45E56-3FF8-D7E9-6DD9-BE1C07B3D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83BDF7-8594-3F31-AA18-D9909EE0F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64448F-F5D4-B68F-2508-6EEFB9E99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3AA262-1D90-F710-401C-9FE0E7CE4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FCDF93-8788-838B-28AE-E6475A5C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9A9DA00-34B9-88FB-D828-DFEECE2B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67DD461-3105-F3EF-65AC-199E25AA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94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C1B48-E13B-FCA0-CF16-B57E1603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2E31FB-EBF1-00BB-6295-75A454B4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41C4D1-AB5D-E4B4-B7C8-DBBE7A93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822CCA-4DE4-53BA-3D13-7964343A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E167DC-4E45-766C-7B4E-C66C6E46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480C45-D29B-A417-63AE-04011333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FAC6C1-A182-1057-F518-0D66A3E3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60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E8AAC-B107-331D-4C63-404FC165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6F576-7405-6427-8C93-CB7EFD4E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E34F92-7499-E2DD-77B3-5D2D76C3D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6F04C5-1B83-7EFB-41E5-56EC3CF3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9C5605-D14C-7F9A-1AA1-72A1A2ED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F68CE0-70C2-06C7-4C2D-F75380E7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18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3D411-D3A7-ED3F-19B6-70D742C9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C486C0-1427-2862-75BE-51983C33B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158A26-F7E0-2C09-009F-D4932CDDC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5C93E1-C727-671A-8694-AC29EEB2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9B3C16-E955-049E-136D-8197B4B6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4B01D5-FD7F-C383-E558-B25BF497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39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FCF97-C17F-42DF-3D4A-6836265E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1E7271-422F-73AB-0F4B-FE99FD9A8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DEDC93-DFD8-AC5C-4FD5-D833A0CF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FFB65-3CB7-599F-7EA3-B4F5F814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0BE97E-DA3F-6336-0B1F-1C1EB860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01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9E03F4-F5F3-8B6B-F271-922B15771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848B86-DB69-198E-838D-13B478B0E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621DCD-3B12-A047-5B1B-479F8755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3F848-36E1-CE67-D920-EF9F3FA4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61F774-D2A0-20B9-DDC7-B9ACF8C1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06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78066-6891-AC34-C48A-427AFF2A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0B21EE-4211-3054-1F3C-778ECFC06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CC50EA-B8A7-DB8D-FC20-4EB6F6BB4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4918A-F2D9-449E-873B-9F9C9289F972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D2ECF-1628-D84B-2F78-5DEE9ABCA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BD625E-7B7C-425E-457E-192D42FF1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67EA-A69B-4B44-844E-945A01B4F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5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76422-5239-3E3D-6614-9BB063498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386732" cy="238760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Monsterrrat  bold"/>
              </a:rPr>
              <a:t>Музыкальный плеер в </a:t>
            </a:r>
            <a:r>
              <a:rPr lang="ru-RU" sz="4000" dirty="0" err="1">
                <a:latin typeface="Monsterrrat  bold"/>
              </a:rPr>
              <a:t>Telegram</a:t>
            </a:r>
            <a:r>
              <a:rPr lang="ru-RU" sz="4000" dirty="0">
                <a:latin typeface="Monsterrrat  bold"/>
              </a:rPr>
              <a:t> (Mini </a:t>
            </a:r>
            <a:r>
              <a:rPr lang="ru-RU" sz="4000" dirty="0" err="1">
                <a:latin typeface="Monsterrrat  bold"/>
              </a:rPr>
              <a:t>App</a:t>
            </a:r>
            <a:r>
              <a:rPr lang="ru-RU" sz="4000" dirty="0">
                <a:latin typeface="Monsterrrat  bold"/>
              </a:rPr>
              <a:t>)</a:t>
            </a:r>
            <a:br>
              <a:rPr lang="en-US" sz="4000" dirty="0">
                <a:latin typeface="Monsterrrat  bold"/>
              </a:rPr>
            </a:br>
            <a:r>
              <a:rPr lang="ru-RU" sz="3200" dirty="0"/>
              <a:t>Практическое занятие №5: Формирование портрета потребительского сегмента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FD99C6-4419-90FC-4D77-8C492F9A4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ru-RU" dirty="0"/>
              <a:t> Команда</a:t>
            </a:r>
            <a:r>
              <a:rPr lang="en-US" dirty="0"/>
              <a:t> 4</a:t>
            </a:r>
            <a:r>
              <a:rPr lang="ru-RU" dirty="0"/>
              <a:t>: Артём Кан, Денис </a:t>
            </a:r>
            <a:r>
              <a:rPr lang="ru-RU" dirty="0" err="1"/>
              <a:t>Ярошинский</a:t>
            </a:r>
            <a:r>
              <a:rPr lang="ru-RU" dirty="0"/>
              <a:t>, Максим Боголепов, Егор Афонин.</a:t>
            </a:r>
          </a:p>
        </p:txBody>
      </p:sp>
      <p:pic>
        <p:nvPicPr>
          <p:cNvPr id="1030" name="Picture 6" descr="Форма человека – Бесплатные иконки: люди">
            <a:extLst>
              <a:ext uri="{FF2B5EF4-FFF2-40B4-BE49-F238E27FC236}">
                <a16:creationId xmlns:a16="http://schemas.microsoft.com/office/drawing/2014/main" id="{DA35449A-D8D9-1320-2F05-C37AA24D4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033" y="2577571"/>
            <a:ext cx="2624667" cy="2624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Наушники – Бесплатные иконки: Музыка">
            <a:extLst>
              <a:ext uri="{FF2B5EF4-FFF2-40B4-BE49-F238E27FC236}">
                <a16:creationId xmlns:a16="http://schemas.microsoft.com/office/drawing/2014/main" id="{D5D2E4FB-EB57-CB3A-C305-C363A2A0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778" y="2480733"/>
            <a:ext cx="2035176" cy="140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C29EF63-EFF9-C996-D6CB-E63F5978B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674" y="3012546"/>
            <a:ext cx="1067859" cy="106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6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E1E3F-7667-53D5-1A8E-90327C38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Monsterrrat  bold"/>
              </a:rPr>
              <a:t>Выбранный сегмент</a:t>
            </a:r>
            <a:br>
              <a:rPr lang="ru-RU" sz="4000" b="1" dirty="0">
                <a:latin typeface="Monsterrrat  bold"/>
              </a:rPr>
            </a:br>
            <a:endParaRPr lang="ru-RU" sz="4000" b="1" dirty="0">
              <a:latin typeface="Monsterrrat 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932D2-1BCC-9384-12B1-5F60D7E0F973}"/>
              </a:ext>
            </a:extLst>
          </p:cNvPr>
          <p:cNvSpPr txBox="1"/>
          <p:nvPr/>
        </p:nvSpPr>
        <p:spPr>
          <a:xfrm>
            <a:off x="3902931" y="681036"/>
            <a:ext cx="4386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 Целевой сегмент: «</a:t>
            </a:r>
            <a:r>
              <a:rPr lang="ru-RU" sz="2400" dirty="0" err="1"/>
              <a:t>Ботоводы</a:t>
            </a:r>
            <a:r>
              <a:rPr lang="ru-RU" sz="2400" dirty="0"/>
              <a:t>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8519-8871-8102-900F-1E909A61C702}"/>
              </a:ext>
            </a:extLst>
          </p:cNvPr>
          <p:cNvSpPr txBox="1"/>
          <p:nvPr/>
        </p:nvSpPr>
        <p:spPr>
          <a:xfrm>
            <a:off x="0" y="1805482"/>
            <a:ext cx="6417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Мы рассматриваем сегмент активных пользователей </a:t>
            </a:r>
            <a:r>
              <a:rPr lang="ru-RU" sz="2400" b="0" i="0" dirty="0" err="1">
                <a:effectLst/>
              </a:rPr>
              <a:t>Telegram</a:t>
            </a:r>
            <a:r>
              <a:rPr lang="ru-RU" sz="2400" b="0" i="0" dirty="0">
                <a:effectLst/>
              </a:rPr>
              <a:t> 18-30 лет, которые регулярно скачивают музыку через ботов (@vkm_bot и др.) и сталкиваются с хаосом в истории чатов.</a:t>
            </a:r>
            <a:endParaRPr lang="ru-R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C9C22-C6FC-A0E4-1A70-BB5B94AA7D0D}"/>
              </a:ext>
            </a:extLst>
          </p:cNvPr>
          <p:cNvSpPr txBox="1"/>
          <p:nvPr/>
        </p:nvSpPr>
        <p:spPr>
          <a:xfrm>
            <a:off x="6256866" y="1805482"/>
            <a:ext cx="64177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</a:rPr>
              <a:t>        Почему они?</a:t>
            </a:r>
            <a:endParaRPr lang="ru-RU" sz="2400" b="0" i="0" dirty="0">
              <a:effectLst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000" b="0" i="0" dirty="0">
                <a:effectLst/>
              </a:rPr>
              <a:t> </a:t>
            </a:r>
            <a:r>
              <a:rPr lang="ru-RU" sz="2400" b="0" i="0" dirty="0">
                <a:effectLst/>
              </a:rPr>
              <a:t>Осознанная и частая боль.</a:t>
            </a:r>
          </a:p>
          <a:p>
            <a:endParaRPr lang="ru-RU" sz="2400" b="0" i="0" dirty="0">
              <a:effectLst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400" b="0" i="0" dirty="0">
                <a:effectLst/>
              </a:rPr>
              <a:t> Низкий порог входа (уже в </a:t>
            </a:r>
            <a:r>
              <a:rPr lang="ru-RU" sz="2400" b="0" i="0" dirty="0" err="1">
                <a:effectLst/>
              </a:rPr>
              <a:t>Telegram</a:t>
            </a:r>
            <a:r>
              <a:rPr lang="ru-RU" sz="2400" b="0" i="0" dirty="0">
                <a:effectLst/>
              </a:rPr>
              <a:t>).</a:t>
            </a:r>
            <a:endParaRPr lang="ru-RU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ru-RU" sz="2400" b="0" i="0" dirty="0">
              <a:effectLst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400" b="0" i="0" dirty="0">
                <a:effectLst/>
              </a:rPr>
              <a:t> Привычный интерфейс (знакомы с ботами).</a:t>
            </a:r>
            <a:endParaRPr lang="ru-RU" sz="2400" dirty="0"/>
          </a:p>
        </p:txBody>
      </p:sp>
      <p:pic>
        <p:nvPicPr>
          <p:cNvPr id="2054" name="Picture 6" descr="Кнопка интерфейса опции каскадной визуализации – Бесплатные иконки:  интерфейс">
            <a:extLst>
              <a:ext uri="{FF2B5EF4-FFF2-40B4-BE49-F238E27FC236}">
                <a16:creationId xmlns:a16="http://schemas.microsoft.com/office/drawing/2014/main" id="{1E76ACC0-43F1-55F5-99B7-F30496568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935" y="4902200"/>
            <a:ext cx="1741594" cy="174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Слушать музыку – Бесплатные иконки: люди">
            <a:extLst>
              <a:ext uri="{FF2B5EF4-FFF2-40B4-BE49-F238E27FC236}">
                <a16:creationId xmlns:a16="http://schemas.microsoft.com/office/drawing/2014/main" id="{B22015AD-34D3-9EE6-B283-716E75D1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471" y="4000350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67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4A1C6-FC4E-ABED-6A03-CB03C199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Monsterrrat  bold"/>
              </a:rPr>
              <a:t>Паспорт сегмента (Ключевые характеристики)</a:t>
            </a:r>
            <a:br>
              <a:rPr lang="ru-RU" b="1" dirty="0">
                <a:latin typeface="Monsterrrat  bold"/>
              </a:rPr>
            </a:br>
            <a:endParaRPr lang="ru-RU" b="1" dirty="0">
              <a:latin typeface="Monsterrrat  bold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11CCCBA-92D6-D980-E9A4-94ADD8CEB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825571"/>
              </p:ext>
            </p:extLst>
          </p:nvPr>
        </p:nvGraphicFramePr>
        <p:xfrm>
          <a:off x="838200" y="1150378"/>
          <a:ext cx="6978034" cy="4557244"/>
        </p:xfrm>
        <a:graphic>
          <a:graphicData uri="http://schemas.openxmlformats.org/drawingml/2006/table">
            <a:tbl>
              <a:tblPr/>
              <a:tblGrid>
                <a:gridCol w="3489017">
                  <a:extLst>
                    <a:ext uri="{9D8B030D-6E8A-4147-A177-3AD203B41FA5}">
                      <a16:colId xmlns:a16="http://schemas.microsoft.com/office/drawing/2014/main" val="2233363306"/>
                    </a:ext>
                  </a:extLst>
                </a:gridCol>
                <a:gridCol w="3489017">
                  <a:extLst>
                    <a:ext uri="{9D8B030D-6E8A-4147-A177-3AD203B41FA5}">
                      <a16:colId xmlns:a16="http://schemas.microsoft.com/office/drawing/2014/main" val="1505961994"/>
                    </a:ext>
                  </a:extLst>
                </a:gridCol>
              </a:tblGrid>
              <a:tr h="67190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+mn-lt"/>
                        </a:rPr>
                        <a:t>Цель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Быстро найти трек, не листая историю.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2915"/>
                  </a:ext>
                </a:extLst>
              </a:tr>
              <a:tr h="67190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+mn-lt"/>
                        </a:rPr>
                        <a:t> Триггер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Желание послушать конкретную песню.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100133"/>
                  </a:ext>
                </a:extLst>
              </a:tr>
              <a:tr h="67190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+mn-lt"/>
                        </a:rPr>
                        <a:t> Текущая замена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Закрепленные сообщения, поиск в истории.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183885"/>
                  </a:ext>
                </a:extLst>
              </a:tr>
              <a:tr h="67190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</a:rPr>
                        <a:t>Потери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Время (до 10 мин/день), нервы, отказ от </a:t>
                      </a:r>
                      <a:r>
                        <a:rPr lang="ru-RU" sz="15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Telegram</a:t>
                      </a: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25616"/>
                  </a:ext>
                </a:extLst>
              </a:tr>
              <a:tr h="93482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+mn-lt"/>
                        </a:rPr>
                        <a:t> Ограничения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Не готовы платить &gt;150-200 </a:t>
                      </a:r>
                      <a:r>
                        <a:rPr lang="ru-RU" sz="15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руб</a:t>
                      </a: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ru-RU" sz="15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мес</a:t>
                      </a: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не хотят выходить из </a:t>
                      </a:r>
                      <a:r>
                        <a:rPr lang="ru-RU" sz="15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Telegram</a:t>
                      </a: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923367"/>
                  </a:ext>
                </a:extLst>
              </a:tr>
              <a:tr h="93482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+mn-lt"/>
                        </a:rPr>
                        <a:t> Критерии выбора (Топ-3)</a:t>
                      </a:r>
                      <a:endParaRPr lang="ru-RU" sz="1800" b="0" dirty="0">
                        <a:effectLst/>
                        <a:latin typeface="+mn-lt"/>
                      </a:endParaRPr>
                    </a:p>
                  </a:txBody>
                  <a:tcPr marL="76788" marR="102384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 Скорость</a:t>
                      </a:r>
                      <a:b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 Плейлисты</a:t>
                      </a:r>
                      <a:b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5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 Удобный плеер</a:t>
                      </a:r>
                    </a:p>
                  </a:txBody>
                  <a:tcPr marL="102384" marR="76788" marT="63990" marB="639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37079"/>
                  </a:ext>
                </a:extLst>
              </a:tr>
            </a:tbl>
          </a:graphicData>
        </a:graphic>
      </p:graphicFrame>
      <p:pic>
        <p:nvPicPr>
          <p:cNvPr id="3074" name="Picture 2" descr="Время вышло – Бесплатные иконки: интерфейс">
            <a:extLst>
              <a:ext uri="{FF2B5EF4-FFF2-40B4-BE49-F238E27FC236}">
                <a16:creationId xmlns:a16="http://schemas.microsoft.com/office/drawing/2014/main" id="{685F7AA7-A611-C344-716C-EAD1E1D4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274" y="1150378"/>
            <a:ext cx="627282" cy="62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конка Режим триггера в стиле iOS">
            <a:extLst>
              <a:ext uri="{FF2B5EF4-FFF2-40B4-BE49-F238E27FC236}">
                <a16:creationId xmlns:a16="http://schemas.microsoft.com/office/drawing/2014/main" id="{61B2AC40-8F39-5C8B-04A9-EE1CF385C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830" y="1848657"/>
            <a:ext cx="627282" cy="62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Сократить время – Бесплатные иконки: Время и дата">
            <a:extLst>
              <a:ext uri="{FF2B5EF4-FFF2-40B4-BE49-F238E27FC236}">
                <a16:creationId xmlns:a16="http://schemas.microsoft.com/office/drawing/2014/main" id="{6895CC04-B73C-A5CF-E2AE-DC1FDA34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829" y="3174220"/>
            <a:ext cx="627282" cy="62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Российский рубль иконка валюты вектор иллюстрации дизайн | Премиум вектор">
            <a:extLst>
              <a:ext uri="{FF2B5EF4-FFF2-40B4-BE49-F238E27FC236}">
                <a16:creationId xmlns:a16="http://schemas.microsoft.com/office/drawing/2014/main" id="{805E08F8-FAE2-CC28-25E2-9FD71B001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082" y="3943496"/>
            <a:ext cx="627283" cy="62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Критерии – Бесплатные иконки: бизнес и финансы">
            <a:extLst>
              <a:ext uri="{FF2B5EF4-FFF2-40B4-BE49-F238E27FC236}">
                <a16:creationId xmlns:a16="http://schemas.microsoft.com/office/drawing/2014/main" id="{F92FDE25-DC00-DA2A-8169-4AC60473C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55" y="4955415"/>
            <a:ext cx="627284" cy="6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Музыкальные ноты – Бесплатные иконки: Музыка">
            <a:extLst>
              <a:ext uri="{FF2B5EF4-FFF2-40B4-BE49-F238E27FC236}">
                <a16:creationId xmlns:a16="http://schemas.microsoft.com/office/drawing/2014/main" id="{1A11AB9A-486A-0D85-E008-FE8869F57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828" y="1150376"/>
            <a:ext cx="627284" cy="6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Музыкальные ноты – Бесплатные иконки: Музыка">
            <a:extLst>
              <a:ext uri="{FF2B5EF4-FFF2-40B4-BE49-F238E27FC236}">
                <a16:creationId xmlns:a16="http://schemas.microsoft.com/office/drawing/2014/main" id="{5884B30B-8894-0651-DD6D-94953DED9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272" y="1847102"/>
            <a:ext cx="627284" cy="6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Консультационное сообщение – Бесплатные иконки: сеть">
            <a:extLst>
              <a:ext uri="{FF2B5EF4-FFF2-40B4-BE49-F238E27FC236}">
                <a16:creationId xmlns:a16="http://schemas.microsoft.com/office/drawing/2014/main" id="{8454197D-0D67-EC00-B720-7CADE36FD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258827" y="2546936"/>
            <a:ext cx="627284" cy="6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Лупа – Бесплатные иконки: инструменты редактирования">
            <a:extLst>
              <a:ext uri="{FF2B5EF4-FFF2-40B4-BE49-F238E27FC236}">
                <a16:creationId xmlns:a16="http://schemas.microsoft.com/office/drawing/2014/main" id="{76D9FD0B-39D0-92AF-C1A8-D634F9F44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83272" y="2546936"/>
            <a:ext cx="627284" cy="62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Иконка Отказ в стиле Windows 11">
            <a:extLst>
              <a:ext uri="{FF2B5EF4-FFF2-40B4-BE49-F238E27FC236}">
                <a16:creationId xmlns:a16="http://schemas.microsoft.com/office/drawing/2014/main" id="{6DE8D6DE-E0AE-7647-6F96-F26CEAE8B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272" y="3174220"/>
            <a:ext cx="627285" cy="62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Иконка Телеграм - Бесплатные иконки SVG и PNG - Бесплатно для коммерческого  использования">
            <a:extLst>
              <a:ext uri="{FF2B5EF4-FFF2-40B4-BE49-F238E27FC236}">
                <a16:creationId xmlns:a16="http://schemas.microsoft.com/office/drawing/2014/main" id="{CB34D846-3277-C6A7-89BE-B263BCDD6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272" y="3980671"/>
            <a:ext cx="627285" cy="62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Стрелка вправо – Бесплатные иконки: стрелы">
            <a:extLst>
              <a:ext uri="{FF2B5EF4-FFF2-40B4-BE49-F238E27FC236}">
                <a16:creationId xmlns:a16="http://schemas.microsoft.com/office/drawing/2014/main" id="{0E7116EA-3C5E-272E-76DD-74A6A6C0E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706" y="1044558"/>
            <a:ext cx="1106905" cy="83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2" descr="Стрелка вправо – Бесплатные иконки: стрелы">
            <a:extLst>
              <a:ext uri="{FF2B5EF4-FFF2-40B4-BE49-F238E27FC236}">
                <a16:creationId xmlns:a16="http://schemas.microsoft.com/office/drawing/2014/main" id="{92ED9B9C-3CC7-8A7A-6DEA-01DD7870B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704" y="1741284"/>
            <a:ext cx="1106905" cy="83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2" descr="Стрелка вправо – Бесплатные иконки: стрелы">
            <a:extLst>
              <a:ext uri="{FF2B5EF4-FFF2-40B4-BE49-F238E27FC236}">
                <a16:creationId xmlns:a16="http://schemas.microsoft.com/office/drawing/2014/main" id="{D0B49A65-3BB3-F9A3-D1A6-6E907640D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703" y="2441118"/>
            <a:ext cx="1106905" cy="83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2" descr="Стрелка вправо – Бесплатные иконки: стрелы">
            <a:extLst>
              <a:ext uri="{FF2B5EF4-FFF2-40B4-BE49-F238E27FC236}">
                <a16:creationId xmlns:a16="http://schemas.microsoft.com/office/drawing/2014/main" id="{016E0F18-4474-6FD8-CBD7-3BA48348B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703" y="3068401"/>
            <a:ext cx="1106905" cy="83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2" descr="Стрелка вправо – Бесплатные иконки: стрелы">
            <a:extLst>
              <a:ext uri="{FF2B5EF4-FFF2-40B4-BE49-F238E27FC236}">
                <a16:creationId xmlns:a16="http://schemas.microsoft.com/office/drawing/2014/main" id="{13481BD4-4189-AFCF-C386-FB4620B5D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703" y="3874853"/>
            <a:ext cx="1106905" cy="838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74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840B8-F13F-DDA2-AA5D-D7DCC6FC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83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Monsterrrat  bold"/>
              </a:rPr>
              <a:t>Персона</a:t>
            </a:r>
            <a:br>
              <a:rPr lang="ru-RU" sz="4000" b="1" dirty="0">
                <a:latin typeface="Monsterrrat  bold"/>
              </a:rPr>
            </a:br>
            <a:br>
              <a:rPr lang="ru-RU" sz="4000" b="1" dirty="0">
                <a:latin typeface="Monsterrrat  bold"/>
              </a:rPr>
            </a:br>
            <a:endParaRPr lang="ru-RU" sz="4000" b="1" dirty="0">
              <a:latin typeface="Monsterrrat  bold"/>
            </a:endParaRPr>
          </a:p>
        </p:txBody>
      </p:sp>
      <p:pic>
        <p:nvPicPr>
          <p:cNvPr id="4098" name="Picture 2" descr="Работа с компьютером – Бесплатные иконки: компьютер">
            <a:extLst>
              <a:ext uri="{FF2B5EF4-FFF2-40B4-BE49-F238E27FC236}">
                <a16:creationId xmlns:a16="http://schemas.microsoft.com/office/drawing/2014/main" id="{84BBDF20-08FB-ABB9-D982-833B418E7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91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A92815-251B-43D5-5D9C-F4DC9DA461AE}"/>
              </a:ext>
            </a:extLst>
          </p:cNvPr>
          <p:cNvSpPr txBox="1"/>
          <p:nvPr/>
        </p:nvSpPr>
        <p:spPr>
          <a:xfrm>
            <a:off x="177800" y="5106110"/>
            <a:ext cx="294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effectLst/>
              </a:rPr>
              <a:t>«</a:t>
            </a:r>
            <a:r>
              <a:rPr lang="en-US" b="1" i="0" dirty="0">
                <a:effectLst/>
              </a:rPr>
              <a:t>Frontend-</a:t>
            </a:r>
            <a:r>
              <a:rPr lang="ru-RU" b="1" i="0" dirty="0">
                <a:effectLst/>
              </a:rPr>
              <a:t>разработчик»</a:t>
            </a:r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7D01B-F430-8770-BE19-BDE797E2E85B}"/>
              </a:ext>
            </a:extLst>
          </p:cNvPr>
          <p:cNvSpPr txBox="1"/>
          <p:nvPr/>
        </p:nvSpPr>
        <p:spPr>
          <a:xfrm>
            <a:off x="5260362" y="927909"/>
            <a:ext cx="5410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 Цели и Боли:</a:t>
            </a:r>
          </a:p>
          <a:p>
            <a:endParaRPr lang="ru-RU" sz="2000" dirty="0"/>
          </a:p>
          <a:p>
            <a:r>
              <a:rPr lang="ru-RU" sz="2000" dirty="0"/>
              <a:t> Цели: Всегда иметь музыку под рукой; Быстрый поиск; Создавать плейлисты.</a:t>
            </a:r>
          </a:p>
          <a:p>
            <a:endParaRPr lang="ru-RU" sz="2000" dirty="0"/>
          </a:p>
          <a:p>
            <a:r>
              <a:rPr lang="ru-RU" sz="2000" dirty="0"/>
              <a:t> Боли: "Где же этот трек?", "Не могу сгруппировать похожее", «Надоедает листать историю".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09D89-1692-9DCC-C41A-0C8AF5A19760}"/>
              </a:ext>
            </a:extLst>
          </p:cNvPr>
          <p:cNvSpPr txBox="1"/>
          <p:nvPr/>
        </p:nvSpPr>
        <p:spPr>
          <a:xfrm>
            <a:off x="5202210" y="3892177"/>
            <a:ext cx="591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Критерии и Возражения:</a:t>
            </a:r>
          </a:p>
          <a:p>
            <a:endParaRPr lang="ru-RU" sz="2000" dirty="0"/>
          </a:p>
          <a:p>
            <a:r>
              <a:rPr lang="ru-RU" sz="2000" dirty="0"/>
              <a:t> Критерии: Мгновенный поиск, </a:t>
            </a:r>
            <a:r>
              <a:rPr lang="ru-RU" sz="2000" dirty="0" err="1"/>
              <a:t>Drag-and-drop</a:t>
            </a:r>
            <a:r>
              <a:rPr lang="ru-RU" sz="2000" dirty="0"/>
              <a:t>, Импорт из ботов.</a:t>
            </a:r>
          </a:p>
          <a:p>
            <a:endParaRPr lang="ru-RU" sz="2000" dirty="0"/>
          </a:p>
          <a:p>
            <a:r>
              <a:rPr lang="ru-RU" sz="2000" dirty="0"/>
              <a:t> Возражения: "Зачем, если есть </a:t>
            </a:r>
            <a:r>
              <a:rPr lang="ru-RU" sz="2000" dirty="0" err="1"/>
              <a:t>Spotify</a:t>
            </a:r>
            <a:r>
              <a:rPr lang="ru-RU" sz="2000" dirty="0"/>
              <a:t>?", "Сложно переносить?", "Вдруг заблокируют?".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4DBBD-74B8-36E1-03FE-70BF2D33C824}"/>
              </a:ext>
            </a:extLst>
          </p:cNvPr>
          <p:cNvSpPr txBox="1"/>
          <p:nvPr/>
        </p:nvSpPr>
        <p:spPr>
          <a:xfrm>
            <a:off x="177800" y="1109469"/>
            <a:ext cx="4199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sterrrat  bold"/>
              </a:rPr>
              <a:t>Типичный представитель — Алексей, 24 года</a:t>
            </a:r>
            <a:endParaRPr lang="ru-RU" sz="2400" b="1" dirty="0"/>
          </a:p>
        </p:txBody>
      </p:sp>
      <p:pic>
        <p:nvPicPr>
          <p:cNvPr id="4100" name="Picture 4" descr="Право на возражение – Бесплатные иконки: компьютер">
            <a:extLst>
              <a:ext uri="{FF2B5EF4-FFF2-40B4-BE49-F238E27FC236}">
                <a16:creationId xmlns:a16="http://schemas.microsoft.com/office/drawing/2014/main" id="{0DEA2F09-441A-FDD5-531B-FD4C55F0F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657" y="3745631"/>
            <a:ext cx="649705" cy="64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Цель – Бесплатные иконки: стрелы">
            <a:extLst>
              <a:ext uri="{FF2B5EF4-FFF2-40B4-BE49-F238E27FC236}">
                <a16:creationId xmlns:a16="http://schemas.microsoft.com/office/drawing/2014/main" id="{1BD1A195-F862-0724-383C-507DDC7AE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656" y="791611"/>
            <a:ext cx="649705" cy="64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34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A6F73-740A-E067-A781-6FDF3AFE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Montserrat bold"/>
              </a:rPr>
              <a:t>JTBD </a:t>
            </a:r>
            <a:r>
              <a:rPr lang="ru-RU" sz="4000" b="1" dirty="0">
                <a:latin typeface="Montserrat bold"/>
              </a:rPr>
              <a:t>и инсайты</a:t>
            </a:r>
            <a:br>
              <a:rPr lang="ru-RU" sz="4000" b="1" dirty="0">
                <a:latin typeface="Montserrat bold"/>
              </a:rPr>
            </a:br>
            <a:endParaRPr lang="ru-RU" sz="4000" b="1" dirty="0">
              <a:latin typeface="Montserrat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8B1F0-0E8B-D045-68D5-40D463136C60}"/>
              </a:ext>
            </a:extLst>
          </p:cNvPr>
          <p:cNvSpPr txBox="1"/>
          <p:nvPr/>
        </p:nvSpPr>
        <p:spPr>
          <a:xfrm>
            <a:off x="3581400" y="882153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  <a:latin typeface="Montserrat bold"/>
              </a:rPr>
              <a:t>Сценарии и неочевидные выводы</a:t>
            </a:r>
            <a:endParaRPr lang="ru-RU" sz="2400" b="1" dirty="0">
              <a:latin typeface="Montserra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477E2-35BA-B73F-958C-093D0A1E9034}"/>
              </a:ext>
            </a:extLst>
          </p:cNvPr>
          <p:cNvSpPr txBox="1"/>
          <p:nvPr/>
        </p:nvSpPr>
        <p:spPr>
          <a:xfrm>
            <a:off x="838200" y="1343818"/>
            <a:ext cx="10515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</a:rPr>
              <a:t>Jobs To Be Done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i="0" dirty="0">
                <a:effectLst/>
              </a:rPr>
              <a:t>«Когда я нахожу трек в боте, я хочу добавить его в плейлист одним касанием, чтобы потом не искать...»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i="0" dirty="0">
                <a:effectLst/>
              </a:rPr>
              <a:t>«Когда я вспоминаю песню, которую слушал месяц назад, я хочу найти её по названию, даже если не помню, откуда она...»</a:t>
            </a:r>
            <a:endParaRPr lang="en-US" sz="2000" i="0" dirty="0">
              <a:effectLst/>
            </a:endParaRPr>
          </a:p>
          <a:p>
            <a:endParaRPr lang="ru-RU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35E4E-2752-8569-1B62-98D6850D8988}"/>
              </a:ext>
            </a:extLst>
          </p:cNvPr>
          <p:cNvSpPr txBox="1"/>
          <p:nvPr/>
        </p:nvSpPr>
        <p:spPr>
          <a:xfrm>
            <a:off x="838200" y="3806031"/>
            <a:ext cx="10515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</a:rPr>
              <a:t>Инсайты (Ключевые выводы)</a:t>
            </a:r>
            <a:endParaRPr lang="en-US" sz="2400" b="1" i="0" dirty="0"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Пользователи хотят порядок, но текущие инструменты требуют слишком много действий.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«Избранное» в </a:t>
            </a:r>
            <a:r>
              <a:rPr lang="ru-RU" sz="2000" dirty="0" err="1"/>
              <a:t>Telegram</a:t>
            </a:r>
            <a:r>
              <a:rPr lang="ru-RU" sz="2000" dirty="0"/>
              <a:t> не решает проблему плеера.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Автоматическая сортировка по исполнителям воспринимается как нечто новое.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E5D54A0-848B-29BC-9D07-C0AB0D9BBAB0}"/>
              </a:ext>
            </a:extLst>
          </p:cNvPr>
          <p:cNvCxnSpPr>
            <a:cxnSpLocks/>
          </p:cNvCxnSpPr>
          <p:nvPr/>
        </p:nvCxnSpPr>
        <p:spPr>
          <a:xfrm flipH="1">
            <a:off x="-834189" y="3344366"/>
            <a:ext cx="13314513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6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B9B59-703D-1DBE-62B7-F93EBD54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Montserrat bold"/>
              </a:rPr>
              <a:t>Ключевые гипотезы и их валидация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05EEF52-ABB8-6F9C-70BD-0FECDA31C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811300"/>
              </p:ext>
            </p:extLst>
          </p:nvPr>
        </p:nvGraphicFramePr>
        <p:xfrm>
          <a:off x="661737" y="1672987"/>
          <a:ext cx="9380621" cy="3512026"/>
        </p:xfrm>
        <a:graphic>
          <a:graphicData uri="http://schemas.openxmlformats.org/drawingml/2006/table">
            <a:tbl>
              <a:tblPr/>
              <a:tblGrid>
                <a:gridCol w="497294">
                  <a:extLst>
                    <a:ext uri="{9D8B030D-6E8A-4147-A177-3AD203B41FA5}">
                      <a16:colId xmlns:a16="http://schemas.microsoft.com/office/drawing/2014/main" val="1900096805"/>
                    </a:ext>
                  </a:extLst>
                </a:gridCol>
                <a:gridCol w="3706454">
                  <a:extLst>
                    <a:ext uri="{9D8B030D-6E8A-4147-A177-3AD203B41FA5}">
                      <a16:colId xmlns:a16="http://schemas.microsoft.com/office/drawing/2014/main" val="2795323063"/>
                    </a:ext>
                  </a:extLst>
                </a:gridCol>
                <a:gridCol w="2763412">
                  <a:extLst>
                    <a:ext uri="{9D8B030D-6E8A-4147-A177-3AD203B41FA5}">
                      <a16:colId xmlns:a16="http://schemas.microsoft.com/office/drawing/2014/main" val="1474494741"/>
                    </a:ext>
                  </a:extLst>
                </a:gridCol>
                <a:gridCol w="2413461">
                  <a:extLst>
                    <a:ext uri="{9D8B030D-6E8A-4147-A177-3AD203B41FA5}">
                      <a16:colId xmlns:a16="http://schemas.microsoft.com/office/drawing/2014/main" val="2683109450"/>
                    </a:ext>
                  </a:extLst>
                </a:gridCol>
              </a:tblGrid>
              <a:tr h="59239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Гипотеза (суть)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Как проверим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Критерий успеха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12200"/>
                  </a:ext>
                </a:extLst>
              </a:tr>
              <a:tr h="973212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H1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Проблема возникает ≥3 раз/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нед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10 интервью с показом истории.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7 из 10 подтвердят.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954004"/>
                  </a:ext>
                </a:extLst>
              </a:tr>
              <a:tr h="973212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H3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60% перейдут при наличии импорта.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err="1">
                          <a:effectLst/>
                          <a:latin typeface="quote-cjk-patch"/>
                        </a:rPr>
                        <a:t>Лендинг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с A/B тестом (импорт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vs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чистый лист).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&gt;60% кликов на вариант с импортом.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67978"/>
                  </a:ext>
                </a:extLst>
              </a:tr>
              <a:tr h="973212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H5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Главный барьер — перенос треков.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effectLst/>
                          <a:latin typeface="quote-cjk-patch"/>
                        </a:rPr>
                        <a:t>Интервью с прототипом.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5 из 10 назовут это главной проблемой.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52234"/>
                  </a:ext>
                </a:extLst>
              </a:tr>
            </a:tbl>
          </a:graphicData>
        </a:graphic>
      </p:graphicFrame>
      <p:pic>
        <p:nvPicPr>
          <p:cNvPr id="2050" name="Picture 2" descr="Интервью – Бесплатные иконки: коммуникации">
            <a:extLst>
              <a:ext uri="{FF2B5EF4-FFF2-40B4-BE49-F238E27FC236}">
                <a16:creationId xmlns:a16="http://schemas.microsoft.com/office/drawing/2014/main" id="{5C7F28D5-F227-7BF0-185A-E7A9933A6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179" y="2285999"/>
            <a:ext cx="998621" cy="99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конки, логотипы, символы Landing page — Скачать в PNG и SVG бесплатно">
            <a:extLst>
              <a:ext uri="{FF2B5EF4-FFF2-40B4-BE49-F238E27FC236}">
                <a16:creationId xmlns:a16="http://schemas.microsoft.com/office/drawing/2014/main" id="{5477740C-5E75-839E-8D1B-ECF60C104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179" y="3284620"/>
            <a:ext cx="998621" cy="99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Прототип – Бесплатные иконки: промышленность">
            <a:extLst>
              <a:ext uri="{FF2B5EF4-FFF2-40B4-BE49-F238E27FC236}">
                <a16:creationId xmlns:a16="http://schemas.microsoft.com/office/drawing/2014/main" id="{1A74A591-1B74-947C-ADD4-38B0D089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179" y="4226801"/>
            <a:ext cx="998621" cy="99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0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451</Words>
  <Application>Microsoft Office PowerPoint</Application>
  <PresentationFormat>Широкоэкранный</PresentationFormat>
  <Paragraphs>64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Monsterrrat  bold</vt:lpstr>
      <vt:lpstr>Montserrat bold</vt:lpstr>
      <vt:lpstr>quote-cjk-patch</vt:lpstr>
      <vt:lpstr>Wingdings</vt:lpstr>
      <vt:lpstr>Тема Office</vt:lpstr>
      <vt:lpstr>Музыкальный плеер в Telegram (Mini App) Практическое занятие №5: Формирование портрета потребительского сегмента</vt:lpstr>
      <vt:lpstr>Выбранный сегмент </vt:lpstr>
      <vt:lpstr>Паспорт сегмента (Ключевые характеристики) </vt:lpstr>
      <vt:lpstr>Персона  </vt:lpstr>
      <vt:lpstr>JTBD и инсайты </vt:lpstr>
      <vt:lpstr>Ключевые гипотезы и их валидация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Кан</dc:creator>
  <cp:lastModifiedBy>Артём Кан</cp:lastModifiedBy>
  <cp:revision>3</cp:revision>
  <dcterms:created xsi:type="dcterms:W3CDTF">2026-03-01T12:42:11Z</dcterms:created>
  <dcterms:modified xsi:type="dcterms:W3CDTF">2026-03-01T17:37:24Z</dcterms:modified>
</cp:coreProperties>
</file>